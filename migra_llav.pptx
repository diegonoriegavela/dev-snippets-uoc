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217" d="100"/>
          <a:sy n="217" d="100"/>
        </p:scale>
        <p:origin x="17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0475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737360"/>
          </a:xfrm>
          <a:prstGeom prst="rect">
            <a:avLst/>
          </a:prstGeom>
          <a:solidFill>
            <a:srgbClr val="120000"/>
          </a:solidFill>
          <a:ln w="12700">
            <a:solidFill>
              <a:srgbClr val="12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" name="Shape 2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12801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300" b="1" kern="0" spc="700" noProof="0" dirty="0">
                <a:solidFill>
                  <a:srgbClr val="CC0000"/>
                </a:solidFill>
              </a:rPr>
              <a:t>SCOTIABANK</a:t>
            </a:r>
            <a:endParaRPr lang="es-419" sz="13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100" noProof="0" dirty="0">
                <a:solidFill>
                  <a:srgbClr val="8B9AB0"/>
                </a:solidFill>
              </a:rPr>
              <a:t>Infraestructura · Seguridad · Sistemas de Pago</a:t>
            </a:r>
            <a:endParaRPr lang="es-419" sz="1100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200" noProof="0" dirty="0">
                <a:solidFill>
                  <a:srgbClr val="C8D0DC"/>
                </a:solidFill>
              </a:rPr>
              <a:t>Thales </a:t>
            </a:r>
            <a:r>
              <a:rPr lang="es-419" sz="1200" noProof="0" dirty="0" err="1">
                <a:solidFill>
                  <a:srgbClr val="C8D0DC"/>
                </a:solidFill>
              </a:rPr>
              <a:t>payShield</a:t>
            </a:r>
            <a:r>
              <a:rPr lang="es-419" sz="1200" noProof="0" dirty="0">
                <a:solidFill>
                  <a:srgbClr val="C8D0DC"/>
                </a:solidFill>
              </a:rPr>
              <a:t> 10K  ·  IBM AS400  ·  AIX</a:t>
            </a:r>
            <a:endParaRPr lang="es-419" sz="1200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685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3400" b="1" noProof="0" dirty="0">
                <a:solidFill>
                  <a:srgbClr val="FFFFFF"/>
                </a:solidFill>
              </a:rPr>
              <a:t>Plan de Migración de</a:t>
            </a:r>
            <a:endParaRPr lang="es-419" sz="3400" noProof="0" dirty="0"/>
          </a:p>
          <a:p>
            <a:pPr marL="0" indent="0">
              <a:buNone/>
            </a:pPr>
            <a:r>
              <a:rPr lang="es-419" sz="3400" b="1" noProof="0" dirty="0">
                <a:solidFill>
                  <a:srgbClr val="FFFFFF"/>
                </a:solidFill>
              </a:rPr>
              <a:t>Claves Criptográficas</a:t>
            </a:r>
            <a:endParaRPr lang="es-419" sz="3400" noProof="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250" noProof="0" dirty="0">
                <a:solidFill>
                  <a:srgbClr val="C8D0DC"/>
                </a:solidFill>
              </a:rPr>
              <a:t>Dos frentes coordinados: HSM Thales (AIX / Oracle) y Tarjeta Criptográfica (AS400)</a:t>
            </a:r>
            <a:endParaRPr lang="es-419" sz="1250" noProof="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2514600" cy="384048"/>
          </a:xfrm>
          <a:prstGeom prst="rect">
            <a:avLst/>
          </a:prstGeom>
          <a:solidFill>
            <a:srgbClr val="000000">
              <a:alpha val="80000"/>
            </a:srgbClr>
          </a:solidFill>
          <a:ln w="190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050" b="1" noProof="0" dirty="0">
                <a:solidFill>
                  <a:srgbClr val="FFFFFF"/>
                </a:solidFill>
              </a:rPr>
              <a:t>LMK · HSM Thales · AIX</a:t>
            </a:r>
            <a:endParaRPr lang="es-419" sz="1050" noProof="0" dirty="0"/>
          </a:p>
        </p:txBody>
      </p:sp>
      <p:sp>
        <p:nvSpPr>
          <p:cNvPr id="12" name="Shape 10"/>
          <p:cNvSpPr/>
          <p:nvPr/>
        </p:nvSpPr>
        <p:spPr>
          <a:xfrm>
            <a:off x="3246120" y="4023360"/>
            <a:ext cx="2514600" cy="384048"/>
          </a:xfrm>
          <a:prstGeom prst="rect">
            <a:avLst/>
          </a:prstGeom>
          <a:solidFill>
            <a:srgbClr val="000000">
              <a:alpha val="80000"/>
            </a:srgbClr>
          </a:solidFill>
          <a:ln w="190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3" name="Text 11"/>
          <p:cNvSpPr/>
          <p:nvPr/>
        </p:nvSpPr>
        <p:spPr>
          <a:xfrm>
            <a:off x="3246120" y="40233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050" b="1" noProof="0" dirty="0" err="1">
                <a:solidFill>
                  <a:srgbClr val="FFFFFF"/>
                </a:solidFill>
              </a:rPr>
              <a:t>Variant</a:t>
            </a:r>
            <a:r>
              <a:rPr lang="es-419" sz="1050" b="1" noProof="0" dirty="0">
                <a:solidFill>
                  <a:srgbClr val="FFFFFF"/>
                </a:solidFill>
              </a:rPr>
              <a:t> → Key Block TR-31</a:t>
            </a:r>
            <a:endParaRPr lang="es-419" sz="1050" noProof="0" dirty="0"/>
          </a:p>
        </p:txBody>
      </p:sp>
      <p:sp>
        <p:nvSpPr>
          <p:cNvPr id="14" name="Shape 12"/>
          <p:cNvSpPr/>
          <p:nvPr/>
        </p:nvSpPr>
        <p:spPr>
          <a:xfrm>
            <a:off x="6035040" y="4023360"/>
            <a:ext cx="2514600" cy="384048"/>
          </a:xfrm>
          <a:prstGeom prst="rect">
            <a:avLst/>
          </a:prstGeom>
          <a:solidFill>
            <a:srgbClr val="000000">
              <a:alpha val="80000"/>
            </a:srgbClr>
          </a:solidFill>
          <a:ln w="19050">
            <a:solidFill>
              <a:srgbClr val="C9940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5" name="Text 13"/>
          <p:cNvSpPr/>
          <p:nvPr/>
        </p:nvSpPr>
        <p:spPr>
          <a:xfrm>
            <a:off x="6035040" y="40233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050" b="1" noProof="0" dirty="0">
                <a:solidFill>
                  <a:srgbClr val="FFFFFF"/>
                </a:solidFill>
              </a:rPr>
              <a:t>MK · Tarjeta Cripto · AS400</a:t>
            </a:r>
            <a:endParaRPr lang="es-419" sz="1050" noProof="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100" noProof="0" dirty="0">
                <a:solidFill>
                  <a:srgbClr val="FFFFFF"/>
                </a:solidFill>
              </a:rPr>
              <a:t>Seguridad Bancaria  ·  Infraestructura HSM  ·  Scotiabank</a:t>
            </a:r>
            <a:endParaRPr lang="es-419" sz="11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Shape 1"/>
          <p:cNvSpPr/>
          <p:nvPr/>
        </p:nvSpPr>
        <p:spPr>
          <a:xfrm>
            <a:off x="411480" y="146304"/>
            <a:ext cx="2743200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" name="Text 2"/>
          <p:cNvSpPr/>
          <p:nvPr/>
        </p:nvSpPr>
        <p:spPr>
          <a:xfrm>
            <a:off x="411480" y="1463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50" b="1" noProof="0" dirty="0">
                <a:solidFill>
                  <a:srgbClr val="FFFFFF"/>
                </a:solidFill>
              </a:rPr>
              <a:t>ÍNDICE</a:t>
            </a:r>
            <a:endParaRPr lang="es-419" sz="950" noProof="0" dirty="0"/>
          </a:p>
        </p:txBody>
      </p:sp>
      <p:sp>
        <p:nvSpPr>
          <p:cNvPr id="5" name="Text 3"/>
          <p:cNvSpPr/>
          <p:nvPr/>
        </p:nvSpPr>
        <p:spPr>
          <a:xfrm>
            <a:off x="411480" y="52120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s-419" sz="2600" b="1" noProof="0" dirty="0">
                <a:solidFill>
                  <a:srgbClr val="FFFFFF"/>
                </a:solidFill>
              </a:rPr>
              <a:t>Contenido de la Presentación</a:t>
            </a:r>
            <a:endParaRPr lang="es-419" sz="2600" noProof="0" dirty="0"/>
          </a:p>
        </p:txBody>
      </p:sp>
      <p:sp>
        <p:nvSpPr>
          <p:cNvPr id="6" name="Shape 4"/>
          <p:cNvSpPr/>
          <p:nvPr/>
        </p:nvSpPr>
        <p:spPr>
          <a:xfrm>
            <a:off x="411480" y="1527048"/>
            <a:ext cx="832104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1" name="Shape 9"/>
          <p:cNvSpPr/>
          <p:nvPr/>
        </p:nvSpPr>
        <p:spPr>
          <a:xfrm>
            <a:off x="411480" y="1753362"/>
            <a:ext cx="347472" cy="2468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2" name="Text 10"/>
          <p:cNvSpPr/>
          <p:nvPr/>
        </p:nvSpPr>
        <p:spPr>
          <a:xfrm>
            <a:off x="411480" y="1753362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rgbClr val="FFFFFF"/>
                </a:solidFill>
              </a:rPr>
              <a:t>02</a:t>
            </a:r>
            <a:endParaRPr lang="es-419" sz="900" noProof="0" dirty="0"/>
          </a:p>
        </p:txBody>
      </p:sp>
      <p:sp>
        <p:nvSpPr>
          <p:cNvPr id="13" name="Text 11"/>
          <p:cNvSpPr/>
          <p:nvPr/>
        </p:nvSpPr>
        <p:spPr>
          <a:xfrm>
            <a:off x="850392" y="175336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050" b="1" noProof="0" dirty="0">
                <a:solidFill>
                  <a:srgbClr val="FFFFFF"/>
                </a:solidFill>
              </a:rPr>
              <a:t>Ecosistema criptográfico del banco</a:t>
            </a:r>
            <a:endParaRPr lang="es-419" sz="1050" noProof="0" dirty="0"/>
          </a:p>
        </p:txBody>
      </p:sp>
      <p:sp>
        <p:nvSpPr>
          <p:cNvPr id="14" name="Text 12"/>
          <p:cNvSpPr/>
          <p:nvPr/>
        </p:nvSpPr>
        <p:spPr>
          <a:xfrm>
            <a:off x="4663440" y="1753362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8B9AB0"/>
                </a:solidFill>
              </a:rPr>
              <a:t>Los dos frentes y sus características</a:t>
            </a:r>
            <a:endParaRPr lang="es-419" sz="950" noProof="0" dirty="0"/>
          </a:p>
        </p:txBody>
      </p:sp>
      <p:sp>
        <p:nvSpPr>
          <p:cNvPr id="15" name="Shape 13"/>
          <p:cNvSpPr/>
          <p:nvPr/>
        </p:nvSpPr>
        <p:spPr>
          <a:xfrm>
            <a:off x="411480" y="2050542"/>
            <a:ext cx="347472" cy="2468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6" name="Text 14"/>
          <p:cNvSpPr/>
          <p:nvPr/>
        </p:nvSpPr>
        <p:spPr>
          <a:xfrm>
            <a:off x="411480" y="2050542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rgbClr val="FFFFFF"/>
                </a:solidFill>
              </a:rPr>
              <a:t>03</a:t>
            </a:r>
            <a:endParaRPr lang="es-419" sz="900" noProof="0" dirty="0"/>
          </a:p>
        </p:txBody>
      </p:sp>
      <p:sp>
        <p:nvSpPr>
          <p:cNvPr id="17" name="Text 15"/>
          <p:cNvSpPr/>
          <p:nvPr/>
        </p:nvSpPr>
        <p:spPr>
          <a:xfrm>
            <a:off x="850392" y="205054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050" b="1" noProof="0" dirty="0">
                <a:solidFill>
                  <a:srgbClr val="FFFFFF"/>
                </a:solidFill>
              </a:rPr>
              <a:t>HSM Thales: Key Change Storage y </a:t>
            </a:r>
            <a:r>
              <a:rPr lang="es-419" sz="1050" b="1" noProof="0" dirty="0" err="1">
                <a:solidFill>
                  <a:srgbClr val="FFFFFF"/>
                </a:solidFill>
              </a:rPr>
              <a:t>LMKs</a:t>
            </a:r>
            <a:endParaRPr lang="es-419" sz="1050" noProof="0" dirty="0"/>
          </a:p>
        </p:txBody>
      </p:sp>
      <p:sp>
        <p:nvSpPr>
          <p:cNvPr id="18" name="Text 16"/>
          <p:cNvSpPr/>
          <p:nvPr/>
        </p:nvSpPr>
        <p:spPr>
          <a:xfrm>
            <a:off x="4663440" y="2050542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8B9AB0"/>
                </a:solidFill>
              </a:rPr>
              <a:t>Capacidad, tipos y almacenamiento en el HSM</a:t>
            </a:r>
            <a:endParaRPr lang="es-419" sz="950" noProof="0" dirty="0"/>
          </a:p>
        </p:txBody>
      </p:sp>
      <p:sp>
        <p:nvSpPr>
          <p:cNvPr id="19" name="Shape 17"/>
          <p:cNvSpPr/>
          <p:nvPr/>
        </p:nvSpPr>
        <p:spPr>
          <a:xfrm>
            <a:off x="411480" y="2347722"/>
            <a:ext cx="347472" cy="2468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0" name="Text 18"/>
          <p:cNvSpPr/>
          <p:nvPr/>
        </p:nvSpPr>
        <p:spPr>
          <a:xfrm>
            <a:off x="411480" y="2347722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rgbClr val="FFFFFF"/>
                </a:solidFill>
              </a:rPr>
              <a:t>04</a:t>
            </a:r>
            <a:endParaRPr lang="es-419" sz="900" noProof="0" dirty="0"/>
          </a:p>
        </p:txBody>
      </p:sp>
      <p:sp>
        <p:nvSpPr>
          <p:cNvPr id="21" name="Text 19"/>
          <p:cNvSpPr/>
          <p:nvPr/>
        </p:nvSpPr>
        <p:spPr>
          <a:xfrm>
            <a:off x="850392" y="234772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050" b="1" noProof="0" dirty="0">
                <a:solidFill>
                  <a:srgbClr val="FFFFFF"/>
                </a:solidFill>
              </a:rPr>
              <a:t>Flujo de migración LMK – HSM Thales</a:t>
            </a:r>
            <a:endParaRPr lang="es-419" sz="1050" noProof="0" dirty="0"/>
          </a:p>
        </p:txBody>
      </p:sp>
      <p:sp>
        <p:nvSpPr>
          <p:cNvPr id="22" name="Text 20"/>
          <p:cNvSpPr/>
          <p:nvPr/>
        </p:nvSpPr>
        <p:spPr>
          <a:xfrm>
            <a:off x="4663440" y="2347722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8B9AB0"/>
                </a:solidFill>
              </a:rPr>
              <a:t>Paso a paso general (AIX + Oracle)</a:t>
            </a:r>
            <a:endParaRPr lang="es-419" sz="950" noProof="0" dirty="0"/>
          </a:p>
        </p:txBody>
      </p:sp>
      <p:sp>
        <p:nvSpPr>
          <p:cNvPr id="23" name="Shape 21"/>
          <p:cNvSpPr/>
          <p:nvPr/>
        </p:nvSpPr>
        <p:spPr>
          <a:xfrm>
            <a:off x="411480" y="2644902"/>
            <a:ext cx="347472" cy="2468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4" name="Text 22"/>
          <p:cNvSpPr/>
          <p:nvPr/>
        </p:nvSpPr>
        <p:spPr>
          <a:xfrm>
            <a:off x="411480" y="2644902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rgbClr val="FFFFFF"/>
                </a:solidFill>
              </a:rPr>
              <a:t>05</a:t>
            </a:r>
            <a:endParaRPr lang="es-419" sz="900" noProof="0" dirty="0"/>
          </a:p>
        </p:txBody>
      </p:sp>
      <p:sp>
        <p:nvSpPr>
          <p:cNvPr id="25" name="Text 23"/>
          <p:cNvSpPr/>
          <p:nvPr/>
        </p:nvSpPr>
        <p:spPr>
          <a:xfrm>
            <a:off x="850392" y="264490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050" b="1" noProof="0" dirty="0">
                <a:solidFill>
                  <a:srgbClr val="FFFFFF"/>
                </a:solidFill>
              </a:rPr>
              <a:t>Escenario A: </a:t>
            </a:r>
            <a:r>
              <a:rPr lang="es-419" sz="1050" b="1" noProof="0" dirty="0" err="1">
                <a:solidFill>
                  <a:srgbClr val="FFFFFF"/>
                </a:solidFill>
              </a:rPr>
              <a:t>Variant</a:t>
            </a:r>
            <a:r>
              <a:rPr lang="es-419" sz="1050" b="1" noProof="0" dirty="0">
                <a:solidFill>
                  <a:srgbClr val="FFFFFF"/>
                </a:solidFill>
              </a:rPr>
              <a:t> → </a:t>
            </a:r>
            <a:r>
              <a:rPr lang="es-419" sz="1050" b="1" noProof="0" dirty="0" err="1">
                <a:solidFill>
                  <a:srgbClr val="FFFFFF"/>
                </a:solidFill>
              </a:rPr>
              <a:t>Variant</a:t>
            </a:r>
            <a:endParaRPr lang="es-419" sz="1050" noProof="0" dirty="0"/>
          </a:p>
        </p:txBody>
      </p:sp>
      <p:sp>
        <p:nvSpPr>
          <p:cNvPr id="26" name="Text 24"/>
          <p:cNvSpPr/>
          <p:nvPr/>
        </p:nvSpPr>
        <p:spPr>
          <a:xfrm>
            <a:off x="4663440" y="2644902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8B9AB0"/>
                </a:solidFill>
              </a:rPr>
              <a:t>LMK Thales – renovación sin cambio de formato</a:t>
            </a:r>
            <a:endParaRPr lang="es-419" sz="950" noProof="0" dirty="0"/>
          </a:p>
        </p:txBody>
      </p:sp>
      <p:sp>
        <p:nvSpPr>
          <p:cNvPr id="27" name="Shape 25"/>
          <p:cNvSpPr/>
          <p:nvPr/>
        </p:nvSpPr>
        <p:spPr>
          <a:xfrm>
            <a:off x="411480" y="2942082"/>
            <a:ext cx="347472" cy="2468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8" name="Text 26"/>
          <p:cNvSpPr/>
          <p:nvPr/>
        </p:nvSpPr>
        <p:spPr>
          <a:xfrm>
            <a:off x="411480" y="2942082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rgbClr val="FFFFFF"/>
                </a:solidFill>
              </a:rPr>
              <a:t>06</a:t>
            </a:r>
            <a:endParaRPr lang="es-419" sz="900" noProof="0" dirty="0"/>
          </a:p>
        </p:txBody>
      </p:sp>
      <p:sp>
        <p:nvSpPr>
          <p:cNvPr id="29" name="Text 27"/>
          <p:cNvSpPr/>
          <p:nvPr/>
        </p:nvSpPr>
        <p:spPr>
          <a:xfrm>
            <a:off x="850392" y="294208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050" b="1" noProof="0" dirty="0">
                <a:solidFill>
                  <a:srgbClr val="FFFFFF"/>
                </a:solidFill>
              </a:rPr>
              <a:t>Escenario B: </a:t>
            </a:r>
            <a:r>
              <a:rPr lang="es-419" sz="1050" b="1" noProof="0" dirty="0" err="1">
                <a:solidFill>
                  <a:srgbClr val="FFFFFF"/>
                </a:solidFill>
              </a:rPr>
              <a:t>Variant</a:t>
            </a:r>
            <a:r>
              <a:rPr lang="es-419" sz="1050" b="1" noProof="0" dirty="0">
                <a:solidFill>
                  <a:srgbClr val="FFFFFF"/>
                </a:solidFill>
              </a:rPr>
              <a:t> → Key Block</a:t>
            </a:r>
            <a:endParaRPr lang="es-419" sz="1050" noProof="0" dirty="0"/>
          </a:p>
        </p:txBody>
      </p:sp>
      <p:sp>
        <p:nvSpPr>
          <p:cNvPr id="30" name="Text 28"/>
          <p:cNvSpPr/>
          <p:nvPr/>
        </p:nvSpPr>
        <p:spPr>
          <a:xfrm>
            <a:off x="4663440" y="2942082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8B9AB0"/>
                </a:solidFill>
              </a:rPr>
              <a:t>LMK Thales – adopción del estándar TR-31</a:t>
            </a:r>
            <a:endParaRPr lang="es-419" sz="950" noProof="0" dirty="0"/>
          </a:p>
        </p:txBody>
      </p:sp>
      <p:sp>
        <p:nvSpPr>
          <p:cNvPr id="31" name="Shape 29"/>
          <p:cNvSpPr/>
          <p:nvPr/>
        </p:nvSpPr>
        <p:spPr>
          <a:xfrm>
            <a:off x="411480" y="3239262"/>
            <a:ext cx="347472" cy="2468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2" name="Text 30"/>
          <p:cNvSpPr/>
          <p:nvPr/>
        </p:nvSpPr>
        <p:spPr>
          <a:xfrm>
            <a:off x="411480" y="3239262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rgbClr val="FFFFFF"/>
                </a:solidFill>
              </a:rPr>
              <a:t>07</a:t>
            </a:r>
            <a:endParaRPr lang="es-419" sz="900" noProof="0" dirty="0"/>
          </a:p>
        </p:txBody>
      </p:sp>
      <p:sp>
        <p:nvSpPr>
          <p:cNvPr id="33" name="Text 31"/>
          <p:cNvSpPr/>
          <p:nvPr/>
        </p:nvSpPr>
        <p:spPr>
          <a:xfrm>
            <a:off x="850392" y="323926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050" b="1" noProof="0" dirty="0">
                <a:solidFill>
                  <a:srgbClr val="FFFFFF"/>
                </a:solidFill>
              </a:rPr>
              <a:t>Escenario C: Key Block → Key Block</a:t>
            </a:r>
            <a:endParaRPr lang="es-419" sz="1050" noProof="0" dirty="0"/>
          </a:p>
        </p:txBody>
      </p:sp>
      <p:sp>
        <p:nvSpPr>
          <p:cNvPr id="34" name="Text 32"/>
          <p:cNvSpPr/>
          <p:nvPr/>
        </p:nvSpPr>
        <p:spPr>
          <a:xfrm>
            <a:off x="4663440" y="3239262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8B9AB0"/>
                </a:solidFill>
              </a:rPr>
              <a:t>LMK Thales – renovación o </a:t>
            </a:r>
            <a:r>
              <a:rPr lang="es-419" sz="950" noProof="0" dirty="0" err="1">
                <a:solidFill>
                  <a:srgbClr val="8B9AB0"/>
                </a:solidFill>
              </a:rPr>
              <a:t>upgrade</a:t>
            </a:r>
            <a:r>
              <a:rPr lang="es-419" sz="950" noProof="0" dirty="0">
                <a:solidFill>
                  <a:srgbClr val="8B9AB0"/>
                </a:solidFill>
              </a:rPr>
              <a:t> a AES-256</a:t>
            </a:r>
            <a:endParaRPr lang="es-419" sz="950" noProof="0" dirty="0"/>
          </a:p>
        </p:txBody>
      </p:sp>
      <p:sp>
        <p:nvSpPr>
          <p:cNvPr id="35" name="Shape 33"/>
          <p:cNvSpPr/>
          <p:nvPr/>
        </p:nvSpPr>
        <p:spPr>
          <a:xfrm>
            <a:off x="411480" y="3536442"/>
            <a:ext cx="347472" cy="2468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6" name="Text 34"/>
          <p:cNvSpPr/>
          <p:nvPr/>
        </p:nvSpPr>
        <p:spPr>
          <a:xfrm>
            <a:off x="411480" y="3536442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rgbClr val="FFFFFF"/>
                </a:solidFill>
              </a:rPr>
              <a:t>08</a:t>
            </a:r>
            <a:endParaRPr lang="es-419" sz="900" noProof="0" dirty="0"/>
          </a:p>
        </p:txBody>
      </p:sp>
      <p:sp>
        <p:nvSpPr>
          <p:cNvPr id="37" name="Text 35"/>
          <p:cNvSpPr/>
          <p:nvPr/>
        </p:nvSpPr>
        <p:spPr>
          <a:xfrm>
            <a:off x="850392" y="353644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050" b="1" noProof="0" dirty="0">
                <a:solidFill>
                  <a:srgbClr val="FFFFFF"/>
                </a:solidFill>
              </a:rPr>
              <a:t>Implicancias técnicas – AIX</a:t>
            </a:r>
            <a:endParaRPr lang="es-419" sz="1050" noProof="0" dirty="0"/>
          </a:p>
        </p:txBody>
      </p:sp>
      <p:sp>
        <p:nvSpPr>
          <p:cNvPr id="38" name="Text 36"/>
          <p:cNvSpPr/>
          <p:nvPr/>
        </p:nvSpPr>
        <p:spPr>
          <a:xfrm>
            <a:off x="4663440" y="3536442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8B9AB0"/>
                </a:solidFill>
              </a:rPr>
              <a:t>Nuevo utilitario C · Oracle · HSM Thales</a:t>
            </a:r>
            <a:endParaRPr lang="es-419" sz="950" noProof="0" dirty="0"/>
          </a:p>
        </p:txBody>
      </p:sp>
      <p:sp>
        <p:nvSpPr>
          <p:cNvPr id="39" name="Shape 37"/>
          <p:cNvSpPr/>
          <p:nvPr/>
        </p:nvSpPr>
        <p:spPr>
          <a:xfrm>
            <a:off x="411480" y="3833622"/>
            <a:ext cx="347472" cy="2468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0" name="Text 38"/>
          <p:cNvSpPr/>
          <p:nvPr/>
        </p:nvSpPr>
        <p:spPr>
          <a:xfrm>
            <a:off x="411480" y="3833622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rgbClr val="FFFFFF"/>
                </a:solidFill>
              </a:rPr>
              <a:t>09</a:t>
            </a:r>
            <a:endParaRPr lang="es-419" sz="900" noProof="0" dirty="0"/>
          </a:p>
        </p:txBody>
      </p:sp>
      <p:sp>
        <p:nvSpPr>
          <p:cNvPr id="41" name="Text 39"/>
          <p:cNvSpPr/>
          <p:nvPr/>
        </p:nvSpPr>
        <p:spPr>
          <a:xfrm>
            <a:off x="850392" y="383362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050" b="1" noProof="0" dirty="0">
                <a:solidFill>
                  <a:srgbClr val="FFFFFF"/>
                </a:solidFill>
              </a:rPr>
              <a:t>Frente AS400: Migración de MK</a:t>
            </a:r>
            <a:endParaRPr lang="es-419" sz="1050" noProof="0" dirty="0"/>
          </a:p>
        </p:txBody>
      </p:sp>
      <p:sp>
        <p:nvSpPr>
          <p:cNvPr id="42" name="Text 40"/>
          <p:cNvSpPr/>
          <p:nvPr/>
        </p:nvSpPr>
        <p:spPr>
          <a:xfrm>
            <a:off x="4663440" y="3833622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 err="1">
                <a:solidFill>
                  <a:srgbClr val="8B9AB0"/>
                </a:solidFill>
              </a:rPr>
              <a:t>AZCrypto</a:t>
            </a:r>
            <a:r>
              <a:rPr lang="es-419" sz="950" noProof="0" dirty="0">
                <a:solidFill>
                  <a:srgbClr val="8B9AB0"/>
                </a:solidFill>
              </a:rPr>
              <a:t>: MK1 → MK2 (ya implementado)</a:t>
            </a:r>
            <a:endParaRPr lang="es-419" sz="950" noProof="0" dirty="0"/>
          </a:p>
        </p:txBody>
      </p:sp>
      <p:sp>
        <p:nvSpPr>
          <p:cNvPr id="43" name="Shape 41"/>
          <p:cNvSpPr/>
          <p:nvPr/>
        </p:nvSpPr>
        <p:spPr>
          <a:xfrm>
            <a:off x="411480" y="4130802"/>
            <a:ext cx="347472" cy="2468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4" name="Text 42"/>
          <p:cNvSpPr/>
          <p:nvPr/>
        </p:nvSpPr>
        <p:spPr>
          <a:xfrm>
            <a:off x="411480" y="4130802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rgbClr val="FFFFFF"/>
                </a:solidFill>
              </a:rPr>
              <a:t>10</a:t>
            </a:r>
            <a:endParaRPr lang="es-419" sz="900" noProof="0" dirty="0"/>
          </a:p>
        </p:txBody>
      </p:sp>
      <p:sp>
        <p:nvSpPr>
          <p:cNvPr id="45" name="Text 43"/>
          <p:cNvSpPr/>
          <p:nvPr/>
        </p:nvSpPr>
        <p:spPr>
          <a:xfrm>
            <a:off x="850392" y="413080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050" b="1" noProof="0" dirty="0">
                <a:solidFill>
                  <a:srgbClr val="FFFFFF"/>
                </a:solidFill>
              </a:rPr>
              <a:t>Seguridad, beneficios y restricciones</a:t>
            </a:r>
            <a:endParaRPr lang="es-419" sz="1050" noProof="0" dirty="0"/>
          </a:p>
        </p:txBody>
      </p:sp>
      <p:sp>
        <p:nvSpPr>
          <p:cNvPr id="46" name="Text 44"/>
          <p:cNvSpPr/>
          <p:nvPr/>
        </p:nvSpPr>
        <p:spPr>
          <a:xfrm>
            <a:off x="4663440" y="4130802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8B9AB0"/>
                </a:solidFill>
              </a:rPr>
              <a:t>KCV, PCI, Single-DES, auditoría</a:t>
            </a:r>
            <a:endParaRPr lang="es-419" sz="950" noProof="0" dirty="0"/>
          </a:p>
        </p:txBody>
      </p:sp>
      <p:sp>
        <p:nvSpPr>
          <p:cNvPr id="47" name="Shape 45"/>
          <p:cNvSpPr/>
          <p:nvPr/>
        </p:nvSpPr>
        <p:spPr>
          <a:xfrm>
            <a:off x="411480" y="4427982"/>
            <a:ext cx="347472" cy="2468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8" name="Text 46"/>
          <p:cNvSpPr/>
          <p:nvPr/>
        </p:nvSpPr>
        <p:spPr>
          <a:xfrm>
            <a:off x="411480" y="4427982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rgbClr val="FFFFFF"/>
                </a:solidFill>
              </a:rPr>
              <a:t>11</a:t>
            </a:r>
            <a:endParaRPr lang="es-419" sz="900" noProof="0" dirty="0"/>
          </a:p>
        </p:txBody>
      </p:sp>
      <p:sp>
        <p:nvSpPr>
          <p:cNvPr id="49" name="Text 47"/>
          <p:cNvSpPr/>
          <p:nvPr/>
        </p:nvSpPr>
        <p:spPr>
          <a:xfrm>
            <a:off x="850392" y="442798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050" b="1" noProof="0" dirty="0">
                <a:solidFill>
                  <a:srgbClr val="FFFFFF"/>
                </a:solidFill>
              </a:rPr>
              <a:t>Certificación </a:t>
            </a:r>
            <a:r>
              <a:rPr lang="es-419" sz="1050" b="1" noProof="0" dirty="0" err="1">
                <a:solidFill>
                  <a:srgbClr val="FFFFFF"/>
                </a:solidFill>
              </a:rPr>
              <a:t>post-migración</a:t>
            </a:r>
            <a:endParaRPr lang="es-419" sz="1050" noProof="0" dirty="0"/>
          </a:p>
        </p:txBody>
      </p:sp>
      <p:sp>
        <p:nvSpPr>
          <p:cNvPr id="50" name="Text 48"/>
          <p:cNvSpPr/>
          <p:nvPr/>
        </p:nvSpPr>
        <p:spPr>
          <a:xfrm>
            <a:off x="4663440" y="4427982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8B9AB0"/>
                </a:solidFill>
              </a:rPr>
              <a:t>Casos de uso para validar ambos frentes</a:t>
            </a:r>
            <a:endParaRPr lang="es-419" sz="950" noProof="0" dirty="0"/>
          </a:p>
        </p:txBody>
      </p:sp>
      <p:sp>
        <p:nvSpPr>
          <p:cNvPr id="51" name="Shape 4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Shape 1"/>
          <p:cNvSpPr/>
          <p:nvPr/>
        </p:nvSpPr>
        <p:spPr>
          <a:xfrm>
            <a:off x="411480" y="146304"/>
            <a:ext cx="2743200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" name="Text 2"/>
          <p:cNvSpPr/>
          <p:nvPr/>
        </p:nvSpPr>
        <p:spPr>
          <a:xfrm>
            <a:off x="411480" y="1463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50" b="1" noProof="0" dirty="0">
                <a:solidFill>
                  <a:srgbClr val="FFFFFF"/>
                </a:solidFill>
              </a:rPr>
              <a:t>01 · ECOSISTEMA</a:t>
            </a:r>
            <a:endParaRPr lang="es-419" sz="950" noProof="0" dirty="0"/>
          </a:p>
        </p:txBody>
      </p:sp>
      <p:sp>
        <p:nvSpPr>
          <p:cNvPr id="7" name="Shape 5"/>
          <p:cNvSpPr/>
          <p:nvPr/>
        </p:nvSpPr>
        <p:spPr>
          <a:xfrm>
            <a:off x="411480" y="1527048"/>
            <a:ext cx="832104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8" name="Shape 6"/>
          <p:cNvSpPr/>
          <p:nvPr/>
        </p:nvSpPr>
        <p:spPr>
          <a:xfrm>
            <a:off x="402336" y="1662625"/>
            <a:ext cx="4023360" cy="2653343"/>
          </a:xfrm>
          <a:prstGeom prst="rect">
            <a:avLst/>
          </a:prstGeom>
          <a:solidFill>
            <a:srgbClr val="1A1A1A"/>
          </a:solidFill>
          <a:ln w="19050">
            <a:solidFill>
              <a:srgbClr val="CC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9" name="Shape 7"/>
          <p:cNvSpPr/>
          <p:nvPr/>
        </p:nvSpPr>
        <p:spPr>
          <a:xfrm>
            <a:off x="411480" y="1664208"/>
            <a:ext cx="402336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0" name="Text 8"/>
          <p:cNvSpPr/>
          <p:nvPr/>
        </p:nvSpPr>
        <p:spPr>
          <a:xfrm>
            <a:off x="502920" y="16642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noProof="0" dirty="0">
                <a:solidFill>
                  <a:srgbClr val="FFFFFF"/>
                </a:solidFill>
              </a:rPr>
              <a:t>FRENTE 1: HSM THALES + AIX</a:t>
            </a:r>
            <a:endParaRPr lang="es-419" sz="1200" noProof="0" dirty="0"/>
          </a:p>
        </p:txBody>
      </p:sp>
      <p:sp>
        <p:nvSpPr>
          <p:cNvPr id="11" name="Text 9"/>
          <p:cNvSpPr/>
          <p:nvPr/>
        </p:nvSpPr>
        <p:spPr>
          <a:xfrm>
            <a:off x="548640" y="21396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8B9AB0"/>
                </a:solidFill>
              </a:rPr>
              <a:t>Llave maestra:</a:t>
            </a:r>
            <a:endParaRPr lang="es-419" sz="950" noProof="0" dirty="0"/>
          </a:p>
        </p:txBody>
      </p:sp>
      <p:sp>
        <p:nvSpPr>
          <p:cNvPr id="12" name="Text 10"/>
          <p:cNvSpPr/>
          <p:nvPr/>
        </p:nvSpPr>
        <p:spPr>
          <a:xfrm>
            <a:off x="1645920" y="21396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C8D0DC"/>
                </a:solidFill>
              </a:rPr>
              <a:t>Local Master Key (LMK) del HSM Thales</a:t>
            </a:r>
            <a:endParaRPr lang="es-419" sz="950" noProof="0" dirty="0"/>
          </a:p>
        </p:txBody>
      </p:sp>
      <p:sp>
        <p:nvSpPr>
          <p:cNvPr id="13" name="Text 11"/>
          <p:cNvSpPr/>
          <p:nvPr/>
        </p:nvSpPr>
        <p:spPr>
          <a:xfrm>
            <a:off x="548640" y="245059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8B9AB0"/>
                </a:solidFill>
              </a:rPr>
              <a:t>Entorno:</a:t>
            </a:r>
            <a:endParaRPr lang="es-419" sz="950" noProof="0" dirty="0"/>
          </a:p>
        </p:txBody>
      </p:sp>
      <p:sp>
        <p:nvSpPr>
          <p:cNvPr id="14" name="Text 12"/>
          <p:cNvSpPr/>
          <p:nvPr/>
        </p:nvSpPr>
        <p:spPr>
          <a:xfrm>
            <a:off x="1645920" y="24505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C8D0DC"/>
                </a:solidFill>
              </a:rPr>
              <a:t>HSM Thales </a:t>
            </a:r>
            <a:r>
              <a:rPr lang="es-419" sz="950" noProof="0" dirty="0" err="1">
                <a:solidFill>
                  <a:srgbClr val="C8D0DC"/>
                </a:solidFill>
              </a:rPr>
              <a:t>payShield</a:t>
            </a:r>
            <a:r>
              <a:rPr lang="es-419" sz="950" noProof="0" dirty="0">
                <a:solidFill>
                  <a:srgbClr val="C8D0DC"/>
                </a:solidFill>
              </a:rPr>
              <a:t> 10K</a:t>
            </a:r>
            <a:endParaRPr lang="es-419" sz="950" noProof="0" dirty="0"/>
          </a:p>
        </p:txBody>
      </p:sp>
      <p:sp>
        <p:nvSpPr>
          <p:cNvPr id="15" name="Text 13"/>
          <p:cNvSpPr/>
          <p:nvPr/>
        </p:nvSpPr>
        <p:spPr>
          <a:xfrm>
            <a:off x="548640" y="27614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8B9AB0"/>
                </a:solidFill>
              </a:rPr>
              <a:t>Servidor:</a:t>
            </a:r>
            <a:endParaRPr lang="es-419" sz="950" noProof="0" dirty="0"/>
          </a:p>
        </p:txBody>
      </p:sp>
      <p:sp>
        <p:nvSpPr>
          <p:cNvPr id="16" name="Text 14"/>
          <p:cNvSpPr/>
          <p:nvPr/>
        </p:nvSpPr>
        <p:spPr>
          <a:xfrm>
            <a:off x="1645920" y="27614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C8D0DC"/>
                </a:solidFill>
              </a:rPr>
              <a:t>IBM AIX (UNIX) - conectado vía TCP/IP</a:t>
            </a:r>
            <a:endParaRPr lang="es-419" sz="950" noProof="0" dirty="0"/>
          </a:p>
        </p:txBody>
      </p:sp>
      <p:sp>
        <p:nvSpPr>
          <p:cNvPr id="19" name="Text 17"/>
          <p:cNvSpPr/>
          <p:nvPr/>
        </p:nvSpPr>
        <p:spPr>
          <a:xfrm>
            <a:off x="539496" y="3030665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8B9AB0"/>
                </a:solidFill>
              </a:rPr>
              <a:t>Formatos:</a:t>
            </a:r>
            <a:endParaRPr lang="es-419" sz="950" noProof="0" dirty="0"/>
          </a:p>
        </p:txBody>
      </p:sp>
      <p:sp>
        <p:nvSpPr>
          <p:cNvPr id="20" name="Text 18"/>
          <p:cNvSpPr/>
          <p:nvPr/>
        </p:nvSpPr>
        <p:spPr>
          <a:xfrm>
            <a:off x="1636776" y="3030665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 err="1">
                <a:solidFill>
                  <a:srgbClr val="C8D0DC"/>
                </a:solidFill>
              </a:rPr>
              <a:t>Variant</a:t>
            </a:r>
            <a:r>
              <a:rPr lang="es-419" sz="950" noProof="0" dirty="0">
                <a:solidFill>
                  <a:srgbClr val="C8D0DC"/>
                </a:solidFill>
              </a:rPr>
              <a:t> (tradicional) · Key Block (TR-31)</a:t>
            </a:r>
            <a:endParaRPr lang="es-419" sz="950" noProof="0" dirty="0"/>
          </a:p>
        </p:txBody>
      </p:sp>
      <p:sp>
        <p:nvSpPr>
          <p:cNvPr id="21" name="Text 19"/>
          <p:cNvSpPr/>
          <p:nvPr/>
        </p:nvSpPr>
        <p:spPr>
          <a:xfrm>
            <a:off x="539496" y="3341561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8B9AB0"/>
                </a:solidFill>
              </a:rPr>
              <a:t>Operación:</a:t>
            </a:r>
            <a:endParaRPr lang="es-419" sz="950" noProof="0" dirty="0"/>
          </a:p>
        </p:txBody>
      </p:sp>
      <p:sp>
        <p:nvSpPr>
          <p:cNvPr id="22" name="Text 20"/>
          <p:cNvSpPr/>
          <p:nvPr/>
        </p:nvSpPr>
        <p:spPr>
          <a:xfrm>
            <a:off x="1636776" y="3341561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C8D0DC"/>
                </a:solidFill>
              </a:rPr>
              <a:t>Cifra/protege las claves operativas de entrono SWITCH</a:t>
            </a:r>
            <a:endParaRPr lang="es-419" sz="950" noProof="0" dirty="0"/>
          </a:p>
        </p:txBody>
      </p:sp>
      <p:sp>
        <p:nvSpPr>
          <p:cNvPr id="23" name="Text 21"/>
          <p:cNvSpPr/>
          <p:nvPr/>
        </p:nvSpPr>
        <p:spPr>
          <a:xfrm>
            <a:off x="539496" y="3652457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8B9AB0"/>
                </a:solidFill>
              </a:rPr>
              <a:t>Migración:</a:t>
            </a:r>
            <a:endParaRPr lang="es-419" sz="950" noProof="0" dirty="0"/>
          </a:p>
        </p:txBody>
      </p:sp>
      <p:sp>
        <p:nvSpPr>
          <p:cNvPr id="24" name="Text 22"/>
          <p:cNvSpPr/>
          <p:nvPr/>
        </p:nvSpPr>
        <p:spPr>
          <a:xfrm>
            <a:off x="1636776" y="3652457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C8D0DC"/>
                </a:solidFill>
              </a:rPr>
              <a:t>Comandos Thales (BW,L6,L8) </a:t>
            </a:r>
            <a:endParaRPr lang="es-419" sz="950" noProof="0" dirty="0"/>
          </a:p>
        </p:txBody>
      </p:sp>
      <p:sp>
        <p:nvSpPr>
          <p:cNvPr id="27" name="Shape 25"/>
          <p:cNvSpPr/>
          <p:nvPr/>
        </p:nvSpPr>
        <p:spPr>
          <a:xfrm>
            <a:off x="4709160" y="1664208"/>
            <a:ext cx="4023360" cy="2642616"/>
          </a:xfrm>
          <a:prstGeom prst="rect">
            <a:avLst/>
          </a:prstGeom>
          <a:solidFill>
            <a:srgbClr val="1A1A1A"/>
          </a:solidFill>
          <a:ln w="19050">
            <a:solidFill>
              <a:srgbClr val="C9940A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8" name="Shape 26"/>
          <p:cNvSpPr/>
          <p:nvPr/>
        </p:nvSpPr>
        <p:spPr>
          <a:xfrm>
            <a:off x="4709160" y="1664208"/>
            <a:ext cx="4023360" cy="384048"/>
          </a:xfrm>
          <a:prstGeom prst="rect">
            <a:avLst/>
          </a:prstGeom>
          <a:solidFill>
            <a:srgbClr val="C9940A"/>
          </a:solidFill>
          <a:ln w="12700">
            <a:solidFill>
              <a:srgbClr val="C9940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9" name="Text 27"/>
          <p:cNvSpPr/>
          <p:nvPr/>
        </p:nvSpPr>
        <p:spPr>
          <a:xfrm>
            <a:off x="4800600" y="16642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noProof="0" dirty="0">
                <a:solidFill>
                  <a:srgbClr val="FFFFFF"/>
                </a:solidFill>
              </a:rPr>
              <a:t>FRENTE 2: TARJETA CRIPTOGRÁFICA + AS400</a:t>
            </a:r>
            <a:endParaRPr lang="es-419" sz="1200" noProof="0" dirty="0"/>
          </a:p>
        </p:txBody>
      </p:sp>
      <p:sp>
        <p:nvSpPr>
          <p:cNvPr id="30" name="Text 28"/>
          <p:cNvSpPr/>
          <p:nvPr/>
        </p:nvSpPr>
        <p:spPr>
          <a:xfrm>
            <a:off x="4846320" y="21396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8B9AB0"/>
                </a:solidFill>
              </a:rPr>
              <a:t>Llave maestra:</a:t>
            </a:r>
            <a:endParaRPr lang="es-419" sz="950" noProof="0" dirty="0"/>
          </a:p>
        </p:txBody>
      </p:sp>
      <p:sp>
        <p:nvSpPr>
          <p:cNvPr id="31" name="Text 29"/>
          <p:cNvSpPr/>
          <p:nvPr/>
        </p:nvSpPr>
        <p:spPr>
          <a:xfrm>
            <a:off x="5943600" y="21396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C8D0DC"/>
                </a:solidFill>
              </a:rPr>
              <a:t>Master Key de la tarjeta criptográfica (MK)</a:t>
            </a:r>
            <a:endParaRPr lang="es-419" sz="950" noProof="0" dirty="0"/>
          </a:p>
        </p:txBody>
      </p:sp>
      <p:sp>
        <p:nvSpPr>
          <p:cNvPr id="32" name="Text 30"/>
          <p:cNvSpPr/>
          <p:nvPr/>
        </p:nvSpPr>
        <p:spPr>
          <a:xfrm>
            <a:off x="4846320" y="245059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8B9AB0"/>
                </a:solidFill>
              </a:rPr>
              <a:t>Entorno:</a:t>
            </a:r>
            <a:endParaRPr lang="es-419" sz="950" noProof="0" dirty="0"/>
          </a:p>
        </p:txBody>
      </p:sp>
      <p:sp>
        <p:nvSpPr>
          <p:cNvPr id="33" name="Text 31"/>
          <p:cNvSpPr/>
          <p:nvPr/>
        </p:nvSpPr>
        <p:spPr>
          <a:xfrm>
            <a:off x="5943600" y="24505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C8D0DC"/>
                </a:solidFill>
              </a:rPr>
              <a:t>Tarjeta criptográfica de host</a:t>
            </a:r>
            <a:endParaRPr lang="es-419" sz="950" noProof="0" dirty="0"/>
          </a:p>
        </p:txBody>
      </p:sp>
      <p:sp>
        <p:nvSpPr>
          <p:cNvPr id="34" name="Text 32"/>
          <p:cNvSpPr/>
          <p:nvPr/>
        </p:nvSpPr>
        <p:spPr>
          <a:xfrm>
            <a:off x="4846320" y="27614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8B9AB0"/>
                </a:solidFill>
              </a:rPr>
              <a:t>Servidor:</a:t>
            </a:r>
            <a:endParaRPr lang="es-419" sz="950" noProof="0" dirty="0"/>
          </a:p>
        </p:txBody>
      </p:sp>
      <p:sp>
        <p:nvSpPr>
          <p:cNvPr id="35" name="Text 33"/>
          <p:cNvSpPr/>
          <p:nvPr/>
        </p:nvSpPr>
        <p:spPr>
          <a:xfrm>
            <a:off x="5943600" y="27614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C8D0DC"/>
                </a:solidFill>
              </a:rPr>
              <a:t>IBM AS400 (</a:t>
            </a:r>
            <a:r>
              <a:rPr lang="es-419" sz="950" noProof="0" dirty="0" err="1">
                <a:solidFill>
                  <a:srgbClr val="C8D0DC"/>
                </a:solidFill>
              </a:rPr>
              <a:t>iSeries</a:t>
            </a:r>
            <a:r>
              <a:rPr lang="es-419" sz="950" noProof="0" dirty="0">
                <a:solidFill>
                  <a:srgbClr val="C8D0DC"/>
                </a:solidFill>
              </a:rPr>
              <a:t>) – integrado en HOST</a:t>
            </a:r>
            <a:endParaRPr lang="es-419" sz="950" noProof="0" dirty="0"/>
          </a:p>
        </p:txBody>
      </p:sp>
      <p:sp>
        <p:nvSpPr>
          <p:cNvPr id="38" name="Text 36"/>
          <p:cNvSpPr/>
          <p:nvPr/>
        </p:nvSpPr>
        <p:spPr>
          <a:xfrm>
            <a:off x="4846320" y="301031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8B9AB0"/>
                </a:solidFill>
              </a:rPr>
              <a:t>Formatos:</a:t>
            </a:r>
            <a:endParaRPr lang="es-419" sz="950" noProof="0" dirty="0"/>
          </a:p>
        </p:txBody>
      </p:sp>
      <p:sp>
        <p:nvSpPr>
          <p:cNvPr id="39" name="Text 37"/>
          <p:cNvSpPr/>
          <p:nvPr/>
        </p:nvSpPr>
        <p:spPr>
          <a:xfrm>
            <a:off x="5943600" y="301031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C8D0DC"/>
                </a:solidFill>
              </a:rPr>
              <a:t>CCA </a:t>
            </a:r>
            <a:r>
              <a:rPr lang="es-419" sz="950" noProof="0" dirty="0" err="1">
                <a:solidFill>
                  <a:srgbClr val="C8D0DC"/>
                </a:solidFill>
              </a:rPr>
              <a:t>key</a:t>
            </a:r>
            <a:r>
              <a:rPr lang="es-419" sz="950" noProof="0" dirty="0">
                <a:solidFill>
                  <a:srgbClr val="C8D0DC"/>
                </a:solidFill>
              </a:rPr>
              <a:t> tokens</a:t>
            </a:r>
            <a:endParaRPr lang="es-419" sz="950" noProof="0" dirty="0"/>
          </a:p>
        </p:txBody>
      </p:sp>
      <p:sp>
        <p:nvSpPr>
          <p:cNvPr id="40" name="Text 38"/>
          <p:cNvSpPr/>
          <p:nvPr/>
        </p:nvSpPr>
        <p:spPr>
          <a:xfrm>
            <a:off x="4846320" y="332120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8B9AB0"/>
                </a:solidFill>
              </a:rPr>
              <a:t>Operación:</a:t>
            </a:r>
            <a:endParaRPr lang="es-419" sz="950" noProof="0" dirty="0"/>
          </a:p>
        </p:txBody>
      </p:sp>
      <p:sp>
        <p:nvSpPr>
          <p:cNvPr id="41" name="Text 39"/>
          <p:cNvSpPr/>
          <p:nvPr/>
        </p:nvSpPr>
        <p:spPr>
          <a:xfrm>
            <a:off x="5943600" y="332120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C8D0DC"/>
                </a:solidFill>
              </a:rPr>
              <a:t>Protege claves en el entorno HOST AS400</a:t>
            </a:r>
            <a:endParaRPr lang="es-419" sz="950" noProof="0" dirty="0"/>
          </a:p>
        </p:txBody>
      </p:sp>
      <p:sp>
        <p:nvSpPr>
          <p:cNvPr id="42" name="Text 40"/>
          <p:cNvSpPr/>
          <p:nvPr/>
        </p:nvSpPr>
        <p:spPr>
          <a:xfrm>
            <a:off x="4846320" y="363210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8B9AB0"/>
                </a:solidFill>
              </a:rPr>
              <a:t>Migración:</a:t>
            </a:r>
            <a:endParaRPr lang="es-419" sz="950" noProof="0" dirty="0"/>
          </a:p>
        </p:txBody>
      </p:sp>
      <p:sp>
        <p:nvSpPr>
          <p:cNvPr id="43" name="Text 41"/>
          <p:cNvSpPr/>
          <p:nvPr/>
        </p:nvSpPr>
        <p:spPr>
          <a:xfrm>
            <a:off x="5943600" y="363210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C8D0DC"/>
                </a:solidFill>
              </a:rPr>
              <a:t>Utilitario </a:t>
            </a:r>
            <a:r>
              <a:rPr lang="es-419" sz="950" noProof="0" dirty="0" err="1">
                <a:solidFill>
                  <a:srgbClr val="C8D0DC"/>
                </a:solidFill>
              </a:rPr>
              <a:t>AZCrypto</a:t>
            </a:r>
            <a:r>
              <a:rPr lang="es-419" sz="950" noProof="0" dirty="0">
                <a:solidFill>
                  <a:srgbClr val="C8D0DC"/>
                </a:solidFill>
              </a:rPr>
              <a:t> (ya desarrollado)</a:t>
            </a:r>
            <a:endParaRPr lang="es-419" sz="950" noProof="0" dirty="0"/>
          </a:p>
        </p:txBody>
      </p:sp>
      <p:sp>
        <p:nvSpPr>
          <p:cNvPr id="46" name="Shape 44"/>
          <p:cNvSpPr/>
          <p:nvPr/>
        </p:nvSpPr>
        <p:spPr>
          <a:xfrm>
            <a:off x="402336" y="4416376"/>
            <a:ext cx="6051473" cy="292608"/>
          </a:xfrm>
          <a:prstGeom prst="rect">
            <a:avLst/>
          </a:prstGeom>
          <a:solidFill>
            <a:srgbClr val="120000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7" name="Text 45"/>
          <p:cNvSpPr/>
          <p:nvPr/>
        </p:nvSpPr>
        <p:spPr>
          <a:xfrm>
            <a:off x="502920" y="4418486"/>
            <a:ext cx="595088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000" noProof="0" dirty="0">
                <a:solidFill>
                  <a:srgbClr val="D97706"/>
                </a:solidFill>
              </a:rPr>
              <a:t>⚠  En esta presentación, LMK siempre refiere al HSM Thales. MK siempre refiere a la tarjeta criptográfica (AS400).</a:t>
            </a:r>
            <a:endParaRPr lang="es-419" sz="1000" noProof="0" dirty="0"/>
          </a:p>
        </p:txBody>
      </p:sp>
      <p:sp>
        <p:nvSpPr>
          <p:cNvPr id="48" name="Shape 4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9" name="Text 42"/>
          <p:cNvSpPr/>
          <p:nvPr/>
        </p:nvSpPr>
        <p:spPr>
          <a:xfrm>
            <a:off x="4846320" y="394299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8B9AB0"/>
                </a:solidFill>
              </a:rPr>
              <a:t>Estado:</a:t>
            </a:r>
            <a:endParaRPr lang="es-419" sz="950" noProof="0" dirty="0"/>
          </a:p>
        </p:txBody>
      </p:sp>
      <p:sp>
        <p:nvSpPr>
          <p:cNvPr id="50" name="Text 43"/>
          <p:cNvSpPr/>
          <p:nvPr/>
        </p:nvSpPr>
        <p:spPr>
          <a:xfrm>
            <a:off x="5943600" y="394299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00B050"/>
                </a:solidFill>
              </a:rPr>
              <a:t>Proceso ya ejecutado anteriormente</a:t>
            </a:r>
          </a:p>
        </p:txBody>
      </p:sp>
      <p:sp>
        <p:nvSpPr>
          <p:cNvPr id="51" name="Text 42">
            <a:extLst>
              <a:ext uri="{FF2B5EF4-FFF2-40B4-BE49-F238E27FC236}">
                <a16:creationId xmlns:a16="http://schemas.microsoft.com/office/drawing/2014/main" id="{2A489656-6588-06DB-537D-7887F5662FF7}"/>
              </a:ext>
            </a:extLst>
          </p:cNvPr>
          <p:cNvSpPr/>
          <p:nvPr/>
        </p:nvSpPr>
        <p:spPr>
          <a:xfrm>
            <a:off x="539496" y="3945065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8B9AB0"/>
                </a:solidFill>
              </a:rPr>
              <a:t>Estado:</a:t>
            </a:r>
            <a:endParaRPr lang="es-419" sz="950" noProof="0" dirty="0"/>
          </a:p>
        </p:txBody>
      </p:sp>
      <p:sp>
        <p:nvSpPr>
          <p:cNvPr id="52" name="Text 43">
            <a:extLst>
              <a:ext uri="{FF2B5EF4-FFF2-40B4-BE49-F238E27FC236}">
                <a16:creationId xmlns:a16="http://schemas.microsoft.com/office/drawing/2014/main" id="{A1C2D172-24AB-A6EF-9605-720497EDB3DF}"/>
              </a:ext>
            </a:extLst>
          </p:cNvPr>
          <p:cNvSpPr/>
          <p:nvPr/>
        </p:nvSpPr>
        <p:spPr>
          <a:xfrm>
            <a:off x="1636776" y="3945065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C8D0DC"/>
                </a:solidFill>
              </a:rPr>
              <a:t>Desarrollo nuevo, binario en C</a:t>
            </a:r>
            <a:endParaRPr lang="es-419" sz="950" noProof="0" dirty="0"/>
          </a:p>
        </p:txBody>
      </p:sp>
      <p:sp>
        <p:nvSpPr>
          <p:cNvPr id="53" name="Text 3">
            <a:extLst>
              <a:ext uri="{FF2B5EF4-FFF2-40B4-BE49-F238E27FC236}">
                <a16:creationId xmlns:a16="http://schemas.microsoft.com/office/drawing/2014/main" id="{BB02A94C-A3DB-F731-5230-28025008CC84}"/>
              </a:ext>
            </a:extLst>
          </p:cNvPr>
          <p:cNvSpPr/>
          <p:nvPr/>
        </p:nvSpPr>
        <p:spPr>
          <a:xfrm>
            <a:off x="411480" y="52120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s-419" sz="2600" b="1" noProof="0" dirty="0">
                <a:solidFill>
                  <a:srgbClr val="FFFFFF"/>
                </a:solidFill>
              </a:rPr>
              <a:t>Ecosistema Criptográfico del Banco</a:t>
            </a:r>
            <a:endParaRPr lang="es-419" sz="2600" noProof="0" dirty="0"/>
          </a:p>
        </p:txBody>
      </p:sp>
      <p:sp>
        <p:nvSpPr>
          <p:cNvPr id="54" name="Text 4">
            <a:extLst>
              <a:ext uri="{FF2B5EF4-FFF2-40B4-BE49-F238E27FC236}">
                <a16:creationId xmlns:a16="http://schemas.microsoft.com/office/drawing/2014/main" id="{67922308-3363-48CD-143C-3738920794F0}"/>
              </a:ext>
            </a:extLst>
          </p:cNvPr>
          <p:cNvSpPr/>
          <p:nvPr/>
        </p:nvSpPr>
        <p:spPr>
          <a:xfrm>
            <a:off x="411480" y="12161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100" noProof="0" dirty="0">
                <a:solidFill>
                  <a:srgbClr val="8B9AB0"/>
                </a:solidFill>
              </a:rPr>
              <a:t>Dos frentes independientes que deben migrarse de forma coordinada</a:t>
            </a:r>
            <a:endParaRPr lang="es-419" sz="11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Shape 1"/>
          <p:cNvSpPr/>
          <p:nvPr/>
        </p:nvSpPr>
        <p:spPr>
          <a:xfrm>
            <a:off x="411480" y="146304"/>
            <a:ext cx="2743200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" name="Text 2"/>
          <p:cNvSpPr/>
          <p:nvPr/>
        </p:nvSpPr>
        <p:spPr>
          <a:xfrm>
            <a:off x="411480" y="1463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50" b="1" noProof="0" dirty="0">
                <a:solidFill>
                  <a:srgbClr val="FFFFFF"/>
                </a:solidFill>
              </a:rPr>
              <a:t>03 · HSM THALES · </a:t>
            </a:r>
            <a:r>
              <a:rPr lang="es-419" sz="950" b="1" noProof="0" dirty="0" err="1">
                <a:solidFill>
                  <a:srgbClr val="FFFFFF"/>
                </a:solidFill>
              </a:rPr>
              <a:t>LMKs</a:t>
            </a:r>
            <a:endParaRPr lang="es-419" sz="950" noProof="0" dirty="0"/>
          </a:p>
        </p:txBody>
      </p:sp>
      <p:sp>
        <p:nvSpPr>
          <p:cNvPr id="5" name="Text 3"/>
          <p:cNvSpPr/>
          <p:nvPr/>
        </p:nvSpPr>
        <p:spPr>
          <a:xfrm>
            <a:off x="411480" y="52120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s-419" sz="2600" b="1" noProof="0" dirty="0">
                <a:solidFill>
                  <a:srgbClr val="FFFFFF"/>
                </a:solidFill>
              </a:rPr>
              <a:t>Key Change Storage y </a:t>
            </a:r>
            <a:r>
              <a:rPr lang="es-419" sz="2600" b="1" noProof="0" dirty="0" err="1">
                <a:solidFill>
                  <a:srgbClr val="FFFFFF"/>
                </a:solidFill>
              </a:rPr>
              <a:t>LMKs</a:t>
            </a:r>
            <a:r>
              <a:rPr lang="es-419" sz="2600" b="1" noProof="0" dirty="0">
                <a:solidFill>
                  <a:srgbClr val="FFFFFF"/>
                </a:solidFill>
              </a:rPr>
              <a:t> en el HSM Thales</a:t>
            </a:r>
            <a:endParaRPr lang="es-419" sz="2600" noProof="0" dirty="0"/>
          </a:p>
        </p:txBody>
      </p:sp>
      <p:sp>
        <p:nvSpPr>
          <p:cNvPr id="6" name="Text 4"/>
          <p:cNvSpPr/>
          <p:nvPr/>
        </p:nvSpPr>
        <p:spPr>
          <a:xfrm>
            <a:off x="411480" y="12161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100" noProof="0" dirty="0">
                <a:solidFill>
                  <a:srgbClr val="8B9AB0"/>
                </a:solidFill>
              </a:rPr>
              <a:t>Cómo el HSM gestiona múltiples </a:t>
            </a:r>
            <a:r>
              <a:rPr lang="es-419" sz="1100" noProof="0" dirty="0" err="1">
                <a:solidFill>
                  <a:srgbClr val="8B9AB0"/>
                </a:solidFill>
              </a:rPr>
              <a:t>LMKs</a:t>
            </a:r>
            <a:r>
              <a:rPr lang="es-419" sz="1100" noProof="0" dirty="0">
                <a:solidFill>
                  <a:srgbClr val="8B9AB0"/>
                </a:solidFill>
              </a:rPr>
              <a:t> y permite la migración segura</a:t>
            </a:r>
            <a:endParaRPr lang="es-419" sz="1100" noProof="0" dirty="0"/>
          </a:p>
        </p:txBody>
      </p:sp>
      <p:sp>
        <p:nvSpPr>
          <p:cNvPr id="7" name="Shape 5"/>
          <p:cNvSpPr/>
          <p:nvPr/>
        </p:nvSpPr>
        <p:spPr>
          <a:xfrm>
            <a:off x="411480" y="1527048"/>
            <a:ext cx="832104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3" name="Shape 21"/>
          <p:cNvSpPr/>
          <p:nvPr/>
        </p:nvSpPr>
        <p:spPr>
          <a:xfrm>
            <a:off x="320040" y="1818953"/>
            <a:ext cx="2743200" cy="2011680"/>
          </a:xfrm>
          <a:prstGeom prst="rect">
            <a:avLst/>
          </a:prstGeom>
          <a:solidFill>
            <a:srgbClr val="1A1A1A"/>
          </a:solidFill>
          <a:ln w="19050">
            <a:solidFill>
              <a:srgbClr val="1FA84A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4" name="Shape 22"/>
          <p:cNvSpPr/>
          <p:nvPr/>
        </p:nvSpPr>
        <p:spPr>
          <a:xfrm>
            <a:off x="320040" y="1818953"/>
            <a:ext cx="2743200" cy="274320"/>
          </a:xfrm>
          <a:prstGeom prst="rect">
            <a:avLst/>
          </a:prstGeom>
          <a:solidFill>
            <a:srgbClr val="1FA84A"/>
          </a:solidFill>
          <a:ln w="12700">
            <a:solidFill>
              <a:srgbClr val="1FA84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5" name="Text 23"/>
          <p:cNvSpPr/>
          <p:nvPr/>
        </p:nvSpPr>
        <p:spPr>
          <a:xfrm>
            <a:off x="411480" y="1818953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FFFFFF"/>
                </a:solidFill>
              </a:rPr>
              <a:t>LMK ACTUAL (Slot Principal)</a:t>
            </a:r>
            <a:endParaRPr lang="es-419" sz="950" noProof="0" dirty="0"/>
          </a:p>
        </p:txBody>
      </p:sp>
      <p:sp>
        <p:nvSpPr>
          <p:cNvPr id="26" name="Text 24"/>
          <p:cNvSpPr/>
          <p:nvPr/>
        </p:nvSpPr>
        <p:spPr>
          <a:xfrm>
            <a:off x="429768" y="2138993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LMK bajo la cual están cifradas TODAS las claves operativas actualmente.</a:t>
            </a:r>
            <a:endParaRPr lang="es-419" sz="900" noProof="0" dirty="0"/>
          </a:p>
        </p:txBody>
      </p:sp>
      <p:sp>
        <p:nvSpPr>
          <p:cNvPr id="27" name="Text 25"/>
          <p:cNvSpPr/>
          <p:nvPr/>
        </p:nvSpPr>
        <p:spPr>
          <a:xfrm>
            <a:off x="429768" y="2486465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Es la LMK que el HSM usa por defecto para operar.</a:t>
            </a:r>
            <a:endParaRPr lang="es-419" sz="900" noProof="0" dirty="0"/>
          </a:p>
        </p:txBody>
      </p:sp>
      <p:sp>
        <p:nvSpPr>
          <p:cNvPr id="28" name="Text 26"/>
          <p:cNvSpPr/>
          <p:nvPr/>
        </p:nvSpPr>
        <p:spPr>
          <a:xfrm>
            <a:off x="429768" y="2833937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Identificada por su LMK ID (00-19 según licencia).</a:t>
            </a:r>
            <a:endParaRPr lang="es-419" sz="900" noProof="0" dirty="0"/>
          </a:p>
        </p:txBody>
      </p:sp>
      <p:sp>
        <p:nvSpPr>
          <p:cNvPr id="29" name="Shape 27"/>
          <p:cNvSpPr/>
          <p:nvPr/>
        </p:nvSpPr>
        <p:spPr>
          <a:xfrm>
            <a:off x="3200400" y="1818953"/>
            <a:ext cx="2743200" cy="2011680"/>
          </a:xfrm>
          <a:prstGeom prst="rect">
            <a:avLst/>
          </a:prstGeom>
          <a:solidFill>
            <a:srgbClr val="1A1A1A"/>
          </a:solidFill>
          <a:ln w="19050">
            <a:solidFill>
              <a:srgbClr val="C9940A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30" name="Shape 28"/>
          <p:cNvSpPr/>
          <p:nvPr/>
        </p:nvSpPr>
        <p:spPr>
          <a:xfrm>
            <a:off x="3200400" y="1818953"/>
            <a:ext cx="2743200" cy="274320"/>
          </a:xfrm>
          <a:prstGeom prst="rect">
            <a:avLst/>
          </a:prstGeom>
          <a:solidFill>
            <a:srgbClr val="C9940A"/>
          </a:solidFill>
          <a:ln w="12700">
            <a:solidFill>
              <a:srgbClr val="C9940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1" name="Text 29"/>
          <p:cNvSpPr/>
          <p:nvPr/>
        </p:nvSpPr>
        <p:spPr>
          <a:xfrm>
            <a:off x="3291840" y="1818953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FFFFFF"/>
                </a:solidFill>
              </a:rPr>
              <a:t>KEY CHANGE STORAGE (Temporal)</a:t>
            </a:r>
            <a:endParaRPr lang="es-419" sz="950" noProof="0" dirty="0"/>
          </a:p>
        </p:txBody>
      </p:sp>
      <p:sp>
        <p:nvSpPr>
          <p:cNvPr id="32" name="Text 30"/>
          <p:cNvSpPr/>
          <p:nvPr/>
        </p:nvSpPr>
        <p:spPr>
          <a:xfrm>
            <a:off x="3310128" y="2138993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Área temporal interna del HSM para guardar la LMK antigua o nueva.</a:t>
            </a:r>
            <a:endParaRPr lang="es-419" sz="900" noProof="0" dirty="0"/>
          </a:p>
        </p:txBody>
      </p:sp>
      <p:sp>
        <p:nvSpPr>
          <p:cNvPr id="33" name="Text 31"/>
          <p:cNvSpPr/>
          <p:nvPr/>
        </p:nvSpPr>
        <p:spPr>
          <a:xfrm>
            <a:off x="3310128" y="2486465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Se carga con LO (LMK antigua) o LN (LMK nueva) desde consola </a:t>
            </a:r>
            <a:r>
              <a:rPr lang="es-419" sz="900" noProof="0" dirty="0" err="1">
                <a:solidFill>
                  <a:srgbClr val="C8D0DC"/>
                </a:solidFill>
              </a:rPr>
              <a:t>Payshield</a:t>
            </a:r>
            <a:r>
              <a:rPr lang="es-419" sz="900" noProof="0" dirty="0">
                <a:solidFill>
                  <a:srgbClr val="C8D0DC"/>
                </a:solidFill>
              </a:rPr>
              <a:t> Manager.</a:t>
            </a:r>
            <a:endParaRPr lang="es-419" sz="900" noProof="0" dirty="0"/>
          </a:p>
        </p:txBody>
      </p:sp>
      <p:sp>
        <p:nvSpPr>
          <p:cNvPr id="34" name="Text 32"/>
          <p:cNvSpPr/>
          <p:nvPr/>
        </p:nvSpPr>
        <p:spPr>
          <a:xfrm>
            <a:off x="3310128" y="2833937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Solo existe durante el proceso de migración.</a:t>
            </a:r>
            <a:endParaRPr lang="es-419" sz="900" noProof="0" dirty="0"/>
          </a:p>
        </p:txBody>
      </p:sp>
      <p:sp>
        <p:nvSpPr>
          <p:cNvPr id="35" name="Text 33"/>
          <p:cNvSpPr/>
          <p:nvPr/>
        </p:nvSpPr>
        <p:spPr>
          <a:xfrm>
            <a:off x="3310128" y="3181409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Se borra con BS (Erase Key Change Storage) al finalizar.</a:t>
            </a:r>
            <a:endParaRPr lang="es-419" sz="900" noProof="0" dirty="0"/>
          </a:p>
        </p:txBody>
      </p:sp>
      <p:sp>
        <p:nvSpPr>
          <p:cNvPr id="36" name="Shape 34"/>
          <p:cNvSpPr/>
          <p:nvPr/>
        </p:nvSpPr>
        <p:spPr>
          <a:xfrm>
            <a:off x="6080760" y="1818953"/>
            <a:ext cx="2743200" cy="2011680"/>
          </a:xfrm>
          <a:prstGeom prst="rect">
            <a:avLst/>
          </a:prstGeom>
          <a:solidFill>
            <a:srgbClr val="1A1A1A"/>
          </a:solidFill>
          <a:ln w="19050">
            <a:solidFill>
              <a:srgbClr val="CC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37" name="Shape 35"/>
          <p:cNvSpPr/>
          <p:nvPr/>
        </p:nvSpPr>
        <p:spPr>
          <a:xfrm>
            <a:off x="6080760" y="1818953"/>
            <a:ext cx="2743200" cy="2743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8" name="Text 36"/>
          <p:cNvSpPr/>
          <p:nvPr/>
        </p:nvSpPr>
        <p:spPr>
          <a:xfrm>
            <a:off x="6172200" y="1818953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FFFFFF"/>
                </a:solidFill>
              </a:rPr>
              <a:t>REGLAS DE CARGA (por escenario)</a:t>
            </a:r>
            <a:endParaRPr lang="es-419" sz="950" noProof="0" dirty="0"/>
          </a:p>
        </p:txBody>
      </p:sp>
      <p:sp>
        <p:nvSpPr>
          <p:cNvPr id="39" name="Text 37"/>
          <p:cNvSpPr/>
          <p:nvPr/>
        </p:nvSpPr>
        <p:spPr>
          <a:xfrm>
            <a:off x="6190488" y="2138993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 err="1">
                <a:solidFill>
                  <a:srgbClr val="C8D0DC"/>
                </a:solidFill>
              </a:rPr>
              <a:t>Variant</a:t>
            </a:r>
            <a:r>
              <a:rPr lang="es-419" sz="900" noProof="0" dirty="0">
                <a:solidFill>
                  <a:srgbClr val="C8D0DC"/>
                </a:solidFill>
              </a:rPr>
              <a:t> a </a:t>
            </a:r>
            <a:r>
              <a:rPr lang="es-419" sz="900" noProof="0" dirty="0" err="1">
                <a:solidFill>
                  <a:srgbClr val="C8D0DC"/>
                </a:solidFill>
              </a:rPr>
              <a:t>Variant</a:t>
            </a:r>
            <a:r>
              <a:rPr lang="es-419" sz="900" noProof="0" dirty="0">
                <a:solidFill>
                  <a:srgbClr val="C8D0DC"/>
                </a:solidFill>
              </a:rPr>
              <a:t>:  </a:t>
            </a:r>
          </a:p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LMK </a:t>
            </a:r>
            <a:r>
              <a:rPr lang="es-419" sz="900" noProof="0" dirty="0" err="1">
                <a:solidFill>
                  <a:srgbClr val="C8D0DC"/>
                </a:solidFill>
              </a:rPr>
              <a:t>Variant</a:t>
            </a:r>
            <a:r>
              <a:rPr lang="es-419" sz="900" noProof="0" dirty="0">
                <a:solidFill>
                  <a:srgbClr val="C8D0DC"/>
                </a:solidFill>
              </a:rPr>
              <a:t> antigua en Key Change Storage  OLD (LO)</a:t>
            </a:r>
            <a:endParaRPr lang="es-419" sz="900" noProof="0" dirty="0"/>
          </a:p>
        </p:txBody>
      </p:sp>
      <p:sp>
        <p:nvSpPr>
          <p:cNvPr id="40" name="Text 38"/>
          <p:cNvSpPr/>
          <p:nvPr/>
        </p:nvSpPr>
        <p:spPr>
          <a:xfrm>
            <a:off x="6190488" y="277837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 err="1">
                <a:solidFill>
                  <a:srgbClr val="C8D0DC"/>
                </a:solidFill>
              </a:rPr>
              <a:t>Variant</a:t>
            </a:r>
            <a:r>
              <a:rPr lang="es-419" sz="900" noProof="0" dirty="0">
                <a:solidFill>
                  <a:srgbClr val="C8D0DC"/>
                </a:solidFill>
              </a:rPr>
              <a:t> a </a:t>
            </a:r>
            <a:r>
              <a:rPr lang="es-419" sz="900" noProof="0" dirty="0" err="1">
                <a:solidFill>
                  <a:srgbClr val="C8D0DC"/>
                </a:solidFill>
              </a:rPr>
              <a:t>KeyBlock</a:t>
            </a:r>
            <a:r>
              <a:rPr lang="es-419" sz="900" dirty="0">
                <a:solidFill>
                  <a:srgbClr val="C8D0DC"/>
                </a:solidFill>
              </a:rPr>
              <a:t> </a:t>
            </a:r>
            <a:r>
              <a:rPr lang="es-419" sz="900" noProof="0" dirty="0">
                <a:solidFill>
                  <a:srgbClr val="C8D0DC"/>
                </a:solidFill>
              </a:rPr>
              <a:t>: </a:t>
            </a:r>
          </a:p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LMK </a:t>
            </a:r>
            <a:r>
              <a:rPr lang="es-419" sz="900" noProof="0" dirty="0" err="1">
                <a:solidFill>
                  <a:srgbClr val="C8D0DC"/>
                </a:solidFill>
              </a:rPr>
              <a:t>Variant</a:t>
            </a:r>
            <a:r>
              <a:rPr lang="es-419" sz="900" noProof="0" dirty="0">
                <a:solidFill>
                  <a:srgbClr val="C8D0DC"/>
                </a:solidFill>
              </a:rPr>
              <a:t> antigua en Key Change Storage OLD (LO)</a:t>
            </a:r>
            <a:endParaRPr lang="es-419" sz="900" noProof="0" dirty="0"/>
          </a:p>
        </p:txBody>
      </p:sp>
      <p:sp>
        <p:nvSpPr>
          <p:cNvPr id="41" name="Text 39"/>
          <p:cNvSpPr/>
          <p:nvPr/>
        </p:nvSpPr>
        <p:spPr>
          <a:xfrm>
            <a:off x="6190488" y="312584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 err="1">
                <a:solidFill>
                  <a:srgbClr val="C8D0DC"/>
                </a:solidFill>
              </a:rPr>
              <a:t>KeyBlock</a:t>
            </a:r>
            <a:r>
              <a:rPr lang="es-419" sz="900" noProof="0" dirty="0">
                <a:solidFill>
                  <a:srgbClr val="C8D0DC"/>
                </a:solidFill>
              </a:rPr>
              <a:t> a </a:t>
            </a:r>
            <a:r>
              <a:rPr lang="es-419" sz="900" noProof="0" dirty="0" err="1">
                <a:solidFill>
                  <a:srgbClr val="C8D0DC"/>
                </a:solidFill>
              </a:rPr>
              <a:t>KeyBlock</a:t>
            </a:r>
            <a:r>
              <a:rPr lang="es-419" sz="900" noProof="0" dirty="0">
                <a:solidFill>
                  <a:srgbClr val="C8D0DC"/>
                </a:solidFill>
              </a:rPr>
              <a:t>: </a:t>
            </a:r>
          </a:p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LMK nueva Key Block en Key Change Storage  NEW (LN)</a:t>
            </a:r>
            <a:endParaRPr lang="es-419" sz="900" noProof="0" dirty="0"/>
          </a:p>
        </p:txBody>
      </p:sp>
      <p:sp>
        <p:nvSpPr>
          <p:cNvPr id="43" name="Shape 4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4" name="Text 26">
            <a:extLst>
              <a:ext uri="{FF2B5EF4-FFF2-40B4-BE49-F238E27FC236}">
                <a16:creationId xmlns:a16="http://schemas.microsoft.com/office/drawing/2014/main" id="{0D30EE26-BCDF-4F8E-A8A4-B4264018251F}"/>
              </a:ext>
            </a:extLst>
          </p:cNvPr>
          <p:cNvSpPr/>
          <p:nvPr/>
        </p:nvSpPr>
        <p:spPr>
          <a:xfrm>
            <a:off x="429768" y="3210247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LMK puede ser para llaves en formato </a:t>
            </a:r>
            <a:r>
              <a:rPr lang="es-419" sz="900" noProof="0" dirty="0" err="1">
                <a:solidFill>
                  <a:srgbClr val="C8D0DC"/>
                </a:solidFill>
              </a:rPr>
              <a:t>Variant</a:t>
            </a:r>
            <a:r>
              <a:rPr lang="es-419" sz="900" noProof="0" dirty="0">
                <a:solidFill>
                  <a:srgbClr val="C8D0DC"/>
                </a:solidFill>
              </a:rPr>
              <a:t> o </a:t>
            </a:r>
            <a:r>
              <a:rPr lang="es-419" sz="900" noProof="0" dirty="0" err="1">
                <a:solidFill>
                  <a:srgbClr val="C8D0DC"/>
                </a:solidFill>
              </a:rPr>
              <a:t>KeyBlock</a:t>
            </a:r>
            <a:endParaRPr lang="es-419" sz="9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Shape 1"/>
          <p:cNvSpPr/>
          <p:nvPr/>
        </p:nvSpPr>
        <p:spPr>
          <a:xfrm>
            <a:off x="411480" y="146304"/>
            <a:ext cx="2743200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" name="Text 2"/>
          <p:cNvSpPr/>
          <p:nvPr/>
        </p:nvSpPr>
        <p:spPr>
          <a:xfrm>
            <a:off x="411480" y="1463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50" b="1" noProof="0" dirty="0">
                <a:solidFill>
                  <a:srgbClr val="FFFFFF"/>
                </a:solidFill>
              </a:rPr>
              <a:t>04 · FLUJO LMK – HSM THALES</a:t>
            </a:r>
            <a:endParaRPr lang="es-419" sz="950" noProof="0" dirty="0"/>
          </a:p>
        </p:txBody>
      </p:sp>
      <p:sp>
        <p:nvSpPr>
          <p:cNvPr id="5" name="Text 3"/>
          <p:cNvSpPr/>
          <p:nvPr/>
        </p:nvSpPr>
        <p:spPr>
          <a:xfrm>
            <a:off x="411480" y="52120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s-419" sz="2600" b="1" noProof="0" dirty="0">
                <a:solidFill>
                  <a:srgbClr val="FFFFFF"/>
                </a:solidFill>
              </a:rPr>
              <a:t>Flujo General de Migración LMK — HSM Thales</a:t>
            </a:r>
            <a:endParaRPr lang="es-419" sz="2600" noProof="0" dirty="0"/>
          </a:p>
        </p:txBody>
      </p:sp>
      <p:sp>
        <p:nvSpPr>
          <p:cNvPr id="6" name="Text 4"/>
          <p:cNvSpPr/>
          <p:nvPr/>
        </p:nvSpPr>
        <p:spPr>
          <a:xfrm>
            <a:off x="411480" y="12161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100" noProof="0" dirty="0">
                <a:solidFill>
                  <a:srgbClr val="8B9AB0"/>
                </a:solidFill>
              </a:rPr>
              <a:t>Aplica a los tres escenarios. Claves almacenadas en SWITCH.</a:t>
            </a:r>
            <a:endParaRPr lang="es-419" sz="1100" noProof="0" dirty="0"/>
          </a:p>
        </p:txBody>
      </p:sp>
      <p:sp>
        <p:nvSpPr>
          <p:cNvPr id="7" name="Shape 5"/>
          <p:cNvSpPr/>
          <p:nvPr/>
        </p:nvSpPr>
        <p:spPr>
          <a:xfrm>
            <a:off x="411480" y="1527048"/>
            <a:ext cx="832104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8" name="Shape 6"/>
          <p:cNvSpPr/>
          <p:nvPr/>
        </p:nvSpPr>
        <p:spPr>
          <a:xfrm>
            <a:off x="292608" y="1783080"/>
            <a:ext cx="1078992" cy="1554480"/>
          </a:xfrm>
          <a:prstGeom prst="rect">
            <a:avLst/>
          </a:prstGeom>
          <a:solidFill>
            <a:srgbClr val="1A1A1A"/>
          </a:solidFill>
          <a:ln w="25400">
            <a:solidFill>
              <a:srgbClr val="CC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9" name="Shape 7"/>
          <p:cNvSpPr/>
          <p:nvPr/>
        </p:nvSpPr>
        <p:spPr>
          <a:xfrm>
            <a:off x="630936" y="1856232"/>
            <a:ext cx="402336" cy="32918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0" name="Text 8"/>
          <p:cNvSpPr/>
          <p:nvPr/>
        </p:nvSpPr>
        <p:spPr>
          <a:xfrm>
            <a:off x="630936" y="1856232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300" b="1" noProof="0" dirty="0">
                <a:solidFill>
                  <a:srgbClr val="FFFFFF"/>
                </a:solidFill>
              </a:rPr>
              <a:t>1</a:t>
            </a:r>
            <a:endParaRPr lang="es-419" sz="1300" noProof="0" dirty="0"/>
          </a:p>
        </p:txBody>
      </p:sp>
      <p:sp>
        <p:nvSpPr>
          <p:cNvPr id="11" name="Text 9"/>
          <p:cNvSpPr/>
          <p:nvPr/>
        </p:nvSpPr>
        <p:spPr>
          <a:xfrm>
            <a:off x="329184" y="22585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rgbClr val="FFFFFF"/>
                </a:solidFill>
              </a:rPr>
              <a:t>Preparar</a:t>
            </a:r>
            <a:endParaRPr lang="es-419" sz="900" noProof="0" dirty="0"/>
          </a:p>
          <a:p>
            <a:pPr marL="0" indent="0" algn="ctr">
              <a:buNone/>
            </a:pPr>
            <a:r>
              <a:rPr lang="es-419" sz="900" b="1" noProof="0" dirty="0">
                <a:solidFill>
                  <a:srgbClr val="FFFFFF"/>
                </a:solidFill>
              </a:rPr>
              <a:t>HSM</a:t>
            </a:r>
            <a:endParaRPr lang="es-419" sz="900" noProof="0" dirty="0"/>
          </a:p>
        </p:txBody>
      </p:sp>
      <p:sp>
        <p:nvSpPr>
          <p:cNvPr id="12" name="Text 10"/>
          <p:cNvSpPr/>
          <p:nvPr/>
        </p:nvSpPr>
        <p:spPr>
          <a:xfrm>
            <a:off x="329184" y="2642616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800" noProof="0" dirty="0">
                <a:solidFill>
                  <a:srgbClr val="8B9AB0"/>
                </a:solidFill>
              </a:rPr>
              <a:t>Habilitar y verificar comandos.</a:t>
            </a:r>
          </a:p>
        </p:txBody>
      </p:sp>
      <p:sp>
        <p:nvSpPr>
          <p:cNvPr id="13" name="Shape 11"/>
          <p:cNvSpPr/>
          <p:nvPr/>
        </p:nvSpPr>
        <p:spPr>
          <a:xfrm>
            <a:off x="1399032" y="2560320"/>
            <a:ext cx="112776" cy="0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4" name="Shape 12"/>
          <p:cNvSpPr/>
          <p:nvPr/>
        </p:nvSpPr>
        <p:spPr>
          <a:xfrm>
            <a:off x="1539240" y="1783080"/>
            <a:ext cx="1078992" cy="1554480"/>
          </a:xfrm>
          <a:prstGeom prst="rect">
            <a:avLst/>
          </a:prstGeom>
          <a:solidFill>
            <a:srgbClr val="1A1A1A"/>
          </a:solidFill>
          <a:ln w="25400">
            <a:solidFill>
              <a:srgbClr val="CC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5" name="Shape 13"/>
          <p:cNvSpPr/>
          <p:nvPr/>
        </p:nvSpPr>
        <p:spPr>
          <a:xfrm>
            <a:off x="1877568" y="1856232"/>
            <a:ext cx="402336" cy="32918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6" name="Text 14"/>
          <p:cNvSpPr/>
          <p:nvPr/>
        </p:nvSpPr>
        <p:spPr>
          <a:xfrm>
            <a:off x="1877568" y="1856232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300" b="1" noProof="0" dirty="0">
                <a:solidFill>
                  <a:srgbClr val="FFFFFF"/>
                </a:solidFill>
              </a:rPr>
              <a:t>2</a:t>
            </a:r>
            <a:endParaRPr lang="es-419" sz="1300" noProof="0" dirty="0"/>
          </a:p>
        </p:txBody>
      </p:sp>
      <p:sp>
        <p:nvSpPr>
          <p:cNvPr id="17" name="Text 15"/>
          <p:cNvSpPr/>
          <p:nvPr/>
        </p:nvSpPr>
        <p:spPr>
          <a:xfrm>
            <a:off x="1575816" y="22585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rgbClr val="FFFFFF"/>
                </a:solidFill>
              </a:rPr>
              <a:t>Cargar</a:t>
            </a:r>
            <a:endParaRPr lang="es-419" sz="900" noProof="0" dirty="0"/>
          </a:p>
          <a:p>
            <a:pPr marL="0" indent="0" algn="ctr">
              <a:buNone/>
            </a:pPr>
            <a:r>
              <a:rPr lang="es-419" sz="900" b="1" noProof="0" dirty="0" err="1">
                <a:solidFill>
                  <a:srgbClr val="FFFFFF"/>
                </a:solidFill>
              </a:rPr>
              <a:t>LMKs</a:t>
            </a:r>
            <a:endParaRPr lang="es-419" sz="900" noProof="0" dirty="0"/>
          </a:p>
        </p:txBody>
      </p:sp>
      <p:sp>
        <p:nvSpPr>
          <p:cNvPr id="18" name="Text 16"/>
          <p:cNvSpPr/>
          <p:nvPr/>
        </p:nvSpPr>
        <p:spPr>
          <a:xfrm>
            <a:off x="1575816" y="2642616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800" noProof="0" dirty="0">
                <a:solidFill>
                  <a:srgbClr val="8B9AB0"/>
                </a:solidFill>
              </a:rPr>
              <a:t>LK → LMK actual</a:t>
            </a:r>
            <a:endParaRPr lang="es-419" sz="800" noProof="0" dirty="0"/>
          </a:p>
          <a:p>
            <a:pPr marL="0" indent="0" algn="ctr">
              <a:buNone/>
            </a:pPr>
            <a:r>
              <a:rPr lang="es-419" sz="800" noProof="0" dirty="0">
                <a:solidFill>
                  <a:srgbClr val="8B9AB0"/>
                </a:solidFill>
              </a:rPr>
              <a:t>LO / LN según</a:t>
            </a:r>
            <a:endParaRPr lang="es-419" sz="800" noProof="0" dirty="0"/>
          </a:p>
          <a:p>
            <a:pPr marL="0" indent="0" algn="ctr">
              <a:buNone/>
            </a:pPr>
            <a:r>
              <a:rPr lang="es-419" sz="800" noProof="0" dirty="0">
                <a:solidFill>
                  <a:srgbClr val="8B9AB0"/>
                </a:solidFill>
              </a:rPr>
              <a:t>escenario</a:t>
            </a:r>
            <a:endParaRPr lang="es-419" sz="800" noProof="0" dirty="0"/>
          </a:p>
        </p:txBody>
      </p:sp>
      <p:sp>
        <p:nvSpPr>
          <p:cNvPr id="19" name="Shape 17"/>
          <p:cNvSpPr/>
          <p:nvPr/>
        </p:nvSpPr>
        <p:spPr>
          <a:xfrm>
            <a:off x="2645664" y="2560320"/>
            <a:ext cx="112776" cy="0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0" name="Shape 18"/>
          <p:cNvSpPr/>
          <p:nvPr/>
        </p:nvSpPr>
        <p:spPr>
          <a:xfrm>
            <a:off x="2785872" y="1783080"/>
            <a:ext cx="1078992" cy="1554480"/>
          </a:xfrm>
          <a:prstGeom prst="rect">
            <a:avLst/>
          </a:prstGeom>
          <a:solidFill>
            <a:srgbClr val="1A1A1A"/>
          </a:solidFill>
          <a:ln w="25400">
            <a:solidFill>
              <a:srgbClr val="C9940A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1" name="Shape 19"/>
          <p:cNvSpPr/>
          <p:nvPr/>
        </p:nvSpPr>
        <p:spPr>
          <a:xfrm>
            <a:off x="3124200" y="1856232"/>
            <a:ext cx="402336" cy="329184"/>
          </a:xfrm>
          <a:prstGeom prst="ellipse">
            <a:avLst/>
          </a:prstGeom>
          <a:solidFill>
            <a:srgbClr val="C9940A"/>
          </a:solidFill>
          <a:ln w="12700">
            <a:solidFill>
              <a:srgbClr val="C9940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2" name="Text 20"/>
          <p:cNvSpPr/>
          <p:nvPr/>
        </p:nvSpPr>
        <p:spPr>
          <a:xfrm>
            <a:off x="3124200" y="1856232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300" b="1" noProof="0" dirty="0">
                <a:solidFill>
                  <a:srgbClr val="FFFFFF"/>
                </a:solidFill>
              </a:rPr>
              <a:t>3</a:t>
            </a:r>
            <a:endParaRPr lang="es-419" sz="1300" noProof="0" dirty="0"/>
          </a:p>
        </p:txBody>
      </p:sp>
      <p:sp>
        <p:nvSpPr>
          <p:cNvPr id="23" name="Text 21"/>
          <p:cNvSpPr/>
          <p:nvPr/>
        </p:nvSpPr>
        <p:spPr>
          <a:xfrm>
            <a:off x="2822448" y="22585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rgbClr val="FFFFFF"/>
                </a:solidFill>
              </a:rPr>
              <a:t>Inventario</a:t>
            </a:r>
            <a:endParaRPr lang="es-419" sz="900" noProof="0" dirty="0"/>
          </a:p>
          <a:p>
            <a:pPr marL="0" indent="0" algn="ctr">
              <a:buNone/>
            </a:pPr>
            <a:r>
              <a:rPr lang="es-419" sz="900" b="1" noProof="0" dirty="0">
                <a:solidFill>
                  <a:srgbClr val="FFFFFF"/>
                </a:solidFill>
              </a:rPr>
              <a:t>Base de Datos</a:t>
            </a:r>
            <a:endParaRPr lang="es-419" sz="900" noProof="0" dirty="0"/>
          </a:p>
        </p:txBody>
      </p:sp>
      <p:sp>
        <p:nvSpPr>
          <p:cNvPr id="24" name="Text 22"/>
          <p:cNvSpPr/>
          <p:nvPr/>
        </p:nvSpPr>
        <p:spPr>
          <a:xfrm>
            <a:off x="2822448" y="2642616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800" noProof="0" dirty="0">
                <a:solidFill>
                  <a:srgbClr val="8B9AB0"/>
                </a:solidFill>
              </a:rPr>
              <a:t>SELECT claves de</a:t>
            </a:r>
            <a:endParaRPr lang="es-419" sz="800" noProof="0" dirty="0"/>
          </a:p>
          <a:p>
            <a:pPr marL="0" indent="0" algn="ctr">
              <a:buNone/>
            </a:pPr>
            <a:r>
              <a:rPr lang="es-419" sz="800" noProof="0" dirty="0">
                <a:solidFill>
                  <a:srgbClr val="8B9AB0"/>
                </a:solidFill>
              </a:rPr>
              <a:t>BD Oracle</a:t>
            </a:r>
            <a:endParaRPr lang="es-419" sz="800" noProof="0" dirty="0"/>
          </a:p>
          <a:p>
            <a:pPr marL="0" indent="0" algn="ctr">
              <a:buNone/>
            </a:pPr>
            <a:r>
              <a:rPr lang="es-419" sz="800" noProof="0" dirty="0">
                <a:solidFill>
                  <a:srgbClr val="8B9AB0"/>
                </a:solidFill>
              </a:rPr>
              <a:t>Registrar </a:t>
            </a:r>
            <a:r>
              <a:rPr lang="es-419" sz="800" noProof="0" dirty="0" err="1">
                <a:solidFill>
                  <a:srgbClr val="8B9AB0"/>
                </a:solidFill>
              </a:rPr>
              <a:t>KCVs</a:t>
            </a:r>
            <a:endParaRPr lang="es-419" sz="800" noProof="0" dirty="0"/>
          </a:p>
        </p:txBody>
      </p:sp>
      <p:sp>
        <p:nvSpPr>
          <p:cNvPr id="25" name="Shape 23"/>
          <p:cNvSpPr/>
          <p:nvPr/>
        </p:nvSpPr>
        <p:spPr>
          <a:xfrm>
            <a:off x="3892296" y="2560320"/>
            <a:ext cx="112776" cy="0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6" name="Shape 24"/>
          <p:cNvSpPr/>
          <p:nvPr/>
        </p:nvSpPr>
        <p:spPr>
          <a:xfrm>
            <a:off x="4032504" y="1783080"/>
            <a:ext cx="1078992" cy="1554480"/>
          </a:xfrm>
          <a:prstGeom prst="rect">
            <a:avLst/>
          </a:prstGeom>
          <a:solidFill>
            <a:srgbClr val="1A1A1A"/>
          </a:solidFill>
          <a:ln w="25400">
            <a:solidFill>
              <a:srgbClr val="CC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7" name="Shape 25"/>
          <p:cNvSpPr/>
          <p:nvPr/>
        </p:nvSpPr>
        <p:spPr>
          <a:xfrm>
            <a:off x="4370832" y="1856232"/>
            <a:ext cx="402336" cy="32918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8" name="Text 26"/>
          <p:cNvSpPr/>
          <p:nvPr/>
        </p:nvSpPr>
        <p:spPr>
          <a:xfrm>
            <a:off x="4370832" y="1856232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300" b="1" noProof="0" dirty="0">
                <a:solidFill>
                  <a:srgbClr val="FFFFFF"/>
                </a:solidFill>
              </a:rPr>
              <a:t>4</a:t>
            </a:r>
            <a:endParaRPr lang="es-419" sz="1300" noProof="0" dirty="0"/>
          </a:p>
        </p:txBody>
      </p:sp>
      <p:sp>
        <p:nvSpPr>
          <p:cNvPr id="29" name="Text 27"/>
          <p:cNvSpPr/>
          <p:nvPr/>
        </p:nvSpPr>
        <p:spPr>
          <a:xfrm>
            <a:off x="4069080" y="22585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rgbClr val="FFFFFF"/>
                </a:solidFill>
              </a:rPr>
              <a:t>Migrar</a:t>
            </a:r>
            <a:endParaRPr lang="es-419" sz="900" noProof="0" dirty="0"/>
          </a:p>
          <a:p>
            <a:pPr marL="0" indent="0" algn="ctr">
              <a:buNone/>
            </a:pPr>
            <a:r>
              <a:rPr lang="es-419" sz="900" b="1" noProof="0" dirty="0">
                <a:solidFill>
                  <a:srgbClr val="FFFFFF"/>
                </a:solidFill>
              </a:rPr>
              <a:t>clave a clave</a:t>
            </a:r>
            <a:endParaRPr lang="es-419" sz="900" noProof="0" dirty="0"/>
          </a:p>
        </p:txBody>
      </p:sp>
      <p:sp>
        <p:nvSpPr>
          <p:cNvPr id="30" name="Text 28"/>
          <p:cNvSpPr/>
          <p:nvPr/>
        </p:nvSpPr>
        <p:spPr>
          <a:xfrm>
            <a:off x="4069080" y="2642616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800" dirty="0" err="1">
                <a:solidFill>
                  <a:srgbClr val="8B9AB0"/>
                </a:solidFill>
              </a:rPr>
              <a:t>Ejcutar</a:t>
            </a:r>
            <a:r>
              <a:rPr lang="es-419" sz="800" dirty="0">
                <a:solidFill>
                  <a:srgbClr val="8B9AB0"/>
                </a:solidFill>
              </a:rPr>
              <a:t> comando</a:t>
            </a:r>
            <a:r>
              <a:rPr lang="es-419" sz="800" noProof="0" dirty="0">
                <a:solidFill>
                  <a:srgbClr val="8B9AB0"/>
                </a:solidFill>
              </a:rPr>
              <a:t> BW por</a:t>
            </a:r>
            <a:endParaRPr lang="es-419" sz="800" noProof="0" dirty="0"/>
          </a:p>
          <a:p>
            <a:pPr marL="0" indent="0" algn="ctr">
              <a:buNone/>
            </a:pPr>
            <a:r>
              <a:rPr lang="es-419" sz="800" noProof="0" dirty="0">
                <a:solidFill>
                  <a:srgbClr val="8B9AB0"/>
                </a:solidFill>
              </a:rPr>
              <a:t>cada clave</a:t>
            </a:r>
            <a:endParaRPr lang="es-419" sz="800" noProof="0" dirty="0"/>
          </a:p>
          <a:p>
            <a:pPr marL="0" indent="0" algn="ctr">
              <a:buNone/>
            </a:pPr>
            <a:r>
              <a:rPr lang="es-419" sz="800" noProof="0" dirty="0">
                <a:solidFill>
                  <a:srgbClr val="8B9AB0"/>
                </a:solidFill>
              </a:rPr>
              <a:t>en el HSM</a:t>
            </a:r>
            <a:endParaRPr lang="es-419" sz="800" noProof="0" dirty="0"/>
          </a:p>
        </p:txBody>
      </p:sp>
      <p:sp>
        <p:nvSpPr>
          <p:cNvPr id="31" name="Shape 29"/>
          <p:cNvSpPr/>
          <p:nvPr/>
        </p:nvSpPr>
        <p:spPr>
          <a:xfrm>
            <a:off x="5138928" y="2560320"/>
            <a:ext cx="112776" cy="0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2" name="Shape 30"/>
          <p:cNvSpPr/>
          <p:nvPr/>
        </p:nvSpPr>
        <p:spPr>
          <a:xfrm>
            <a:off x="5279136" y="1783080"/>
            <a:ext cx="1078992" cy="1554480"/>
          </a:xfrm>
          <a:prstGeom prst="rect">
            <a:avLst/>
          </a:prstGeom>
          <a:solidFill>
            <a:srgbClr val="1A1A1A"/>
          </a:solidFill>
          <a:ln w="25400">
            <a:solidFill>
              <a:srgbClr val="1FA84A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33" name="Shape 31"/>
          <p:cNvSpPr/>
          <p:nvPr/>
        </p:nvSpPr>
        <p:spPr>
          <a:xfrm>
            <a:off x="5617464" y="1856232"/>
            <a:ext cx="402336" cy="329184"/>
          </a:xfrm>
          <a:prstGeom prst="ellipse">
            <a:avLst/>
          </a:prstGeom>
          <a:solidFill>
            <a:srgbClr val="1FA84A"/>
          </a:solidFill>
          <a:ln w="12700">
            <a:solidFill>
              <a:srgbClr val="1FA84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4" name="Text 32"/>
          <p:cNvSpPr/>
          <p:nvPr/>
        </p:nvSpPr>
        <p:spPr>
          <a:xfrm>
            <a:off x="5617464" y="1856232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300" b="1" noProof="0" dirty="0">
                <a:solidFill>
                  <a:srgbClr val="FFFFFF"/>
                </a:solidFill>
              </a:rPr>
              <a:t>5</a:t>
            </a:r>
            <a:endParaRPr lang="es-419" sz="1300" noProof="0" dirty="0"/>
          </a:p>
        </p:txBody>
      </p:sp>
      <p:sp>
        <p:nvSpPr>
          <p:cNvPr id="35" name="Text 33"/>
          <p:cNvSpPr/>
          <p:nvPr/>
        </p:nvSpPr>
        <p:spPr>
          <a:xfrm>
            <a:off x="5315712" y="22585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rgbClr val="FFFFFF"/>
                </a:solidFill>
              </a:rPr>
              <a:t>Validar</a:t>
            </a:r>
            <a:endParaRPr lang="es-419" sz="900" noProof="0" dirty="0"/>
          </a:p>
          <a:p>
            <a:pPr marL="0" indent="0" algn="ctr">
              <a:buNone/>
            </a:pPr>
            <a:r>
              <a:rPr lang="es-419" sz="900" b="1" noProof="0" dirty="0">
                <a:solidFill>
                  <a:srgbClr val="FFFFFF"/>
                </a:solidFill>
              </a:rPr>
              <a:t>KCV</a:t>
            </a:r>
            <a:endParaRPr lang="es-419" sz="900" noProof="0" dirty="0"/>
          </a:p>
        </p:txBody>
      </p:sp>
      <p:sp>
        <p:nvSpPr>
          <p:cNvPr id="36" name="Text 34"/>
          <p:cNvSpPr/>
          <p:nvPr/>
        </p:nvSpPr>
        <p:spPr>
          <a:xfrm>
            <a:off x="5315712" y="2642616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800" noProof="0" dirty="0">
                <a:solidFill>
                  <a:srgbClr val="8B9AB0"/>
                </a:solidFill>
              </a:rPr>
              <a:t>KCV retornado</a:t>
            </a:r>
            <a:endParaRPr lang="es-419" sz="800" noProof="0" dirty="0"/>
          </a:p>
          <a:p>
            <a:pPr marL="0" indent="0" algn="ctr">
              <a:buNone/>
            </a:pPr>
            <a:r>
              <a:rPr lang="es-419" sz="800" noProof="0" dirty="0">
                <a:solidFill>
                  <a:srgbClr val="8B9AB0"/>
                </a:solidFill>
              </a:rPr>
              <a:t>== KCV registrado</a:t>
            </a:r>
            <a:endParaRPr lang="es-419" sz="800" noProof="0" dirty="0"/>
          </a:p>
          <a:p>
            <a:pPr marL="0" indent="0" algn="ctr">
              <a:buNone/>
            </a:pPr>
            <a:r>
              <a:rPr lang="es-419" sz="800" noProof="0" dirty="0" err="1">
                <a:solidFill>
                  <a:srgbClr val="8B9AB0"/>
                </a:solidFill>
              </a:rPr>
              <a:t>pre-migración</a:t>
            </a:r>
            <a:endParaRPr lang="es-419" sz="800" noProof="0" dirty="0"/>
          </a:p>
        </p:txBody>
      </p:sp>
      <p:sp>
        <p:nvSpPr>
          <p:cNvPr id="37" name="Shape 35"/>
          <p:cNvSpPr/>
          <p:nvPr/>
        </p:nvSpPr>
        <p:spPr>
          <a:xfrm>
            <a:off x="6385560" y="2560320"/>
            <a:ext cx="112776" cy="0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8" name="Shape 36"/>
          <p:cNvSpPr/>
          <p:nvPr/>
        </p:nvSpPr>
        <p:spPr>
          <a:xfrm>
            <a:off x="6525768" y="1783080"/>
            <a:ext cx="1078992" cy="1554480"/>
          </a:xfrm>
          <a:prstGeom prst="rect">
            <a:avLst/>
          </a:prstGeom>
          <a:solidFill>
            <a:srgbClr val="1A1A1A"/>
          </a:solidFill>
          <a:ln w="25400">
            <a:solidFill>
              <a:srgbClr val="C9940A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39" name="Shape 37"/>
          <p:cNvSpPr/>
          <p:nvPr/>
        </p:nvSpPr>
        <p:spPr>
          <a:xfrm>
            <a:off x="6864096" y="1856232"/>
            <a:ext cx="402336" cy="329184"/>
          </a:xfrm>
          <a:prstGeom prst="ellipse">
            <a:avLst/>
          </a:prstGeom>
          <a:solidFill>
            <a:srgbClr val="C9940A"/>
          </a:solidFill>
          <a:ln w="12700">
            <a:solidFill>
              <a:srgbClr val="C9940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0" name="Text 38"/>
          <p:cNvSpPr/>
          <p:nvPr/>
        </p:nvSpPr>
        <p:spPr>
          <a:xfrm>
            <a:off x="6864096" y="1856232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300" b="1" noProof="0" dirty="0">
                <a:solidFill>
                  <a:srgbClr val="FFFFFF"/>
                </a:solidFill>
              </a:rPr>
              <a:t>6</a:t>
            </a:r>
            <a:endParaRPr lang="es-419" sz="1300" noProof="0" dirty="0"/>
          </a:p>
        </p:txBody>
      </p:sp>
      <p:sp>
        <p:nvSpPr>
          <p:cNvPr id="41" name="Text 39"/>
          <p:cNvSpPr/>
          <p:nvPr/>
        </p:nvSpPr>
        <p:spPr>
          <a:xfrm>
            <a:off x="6562344" y="22585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rgbClr val="FFFFFF"/>
                </a:solidFill>
              </a:rPr>
              <a:t>Actualizar</a:t>
            </a:r>
            <a:endParaRPr lang="es-419" sz="900" noProof="0" dirty="0"/>
          </a:p>
          <a:p>
            <a:pPr marL="0" indent="0" algn="ctr">
              <a:buNone/>
            </a:pPr>
            <a:r>
              <a:rPr lang="es-419" sz="900" b="1" noProof="0" dirty="0">
                <a:solidFill>
                  <a:srgbClr val="FFFFFF"/>
                </a:solidFill>
              </a:rPr>
              <a:t>Oracle</a:t>
            </a:r>
            <a:endParaRPr lang="es-419" sz="900" noProof="0" dirty="0"/>
          </a:p>
        </p:txBody>
      </p:sp>
      <p:sp>
        <p:nvSpPr>
          <p:cNvPr id="42" name="Text 40"/>
          <p:cNvSpPr/>
          <p:nvPr/>
        </p:nvSpPr>
        <p:spPr>
          <a:xfrm>
            <a:off x="6562344" y="2642616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800" noProof="0" dirty="0">
                <a:solidFill>
                  <a:srgbClr val="8B9AB0"/>
                </a:solidFill>
              </a:rPr>
              <a:t>UPDATE con clave</a:t>
            </a:r>
            <a:endParaRPr lang="es-419" sz="800" noProof="0" dirty="0"/>
          </a:p>
          <a:p>
            <a:pPr marL="0" indent="0" algn="ctr">
              <a:buNone/>
            </a:pPr>
            <a:r>
              <a:rPr lang="es-419" sz="800" noProof="0" dirty="0">
                <a:solidFill>
                  <a:srgbClr val="8B9AB0"/>
                </a:solidFill>
              </a:rPr>
              <a:t>bajo nueva LMK</a:t>
            </a:r>
            <a:endParaRPr lang="es-419" sz="800" noProof="0" dirty="0"/>
          </a:p>
          <a:p>
            <a:pPr marL="0" indent="0" algn="ctr">
              <a:buNone/>
            </a:pPr>
            <a:r>
              <a:rPr lang="es-419" sz="800" noProof="0" dirty="0">
                <a:solidFill>
                  <a:srgbClr val="8B9AB0"/>
                </a:solidFill>
              </a:rPr>
              <a:t>+ KCV nuevo</a:t>
            </a:r>
            <a:endParaRPr lang="es-419" sz="800" noProof="0" dirty="0"/>
          </a:p>
        </p:txBody>
      </p:sp>
      <p:sp>
        <p:nvSpPr>
          <p:cNvPr id="43" name="Shape 41"/>
          <p:cNvSpPr/>
          <p:nvPr/>
        </p:nvSpPr>
        <p:spPr>
          <a:xfrm>
            <a:off x="7632192" y="2560320"/>
            <a:ext cx="112776" cy="0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4" name="Shape 42"/>
          <p:cNvSpPr/>
          <p:nvPr/>
        </p:nvSpPr>
        <p:spPr>
          <a:xfrm>
            <a:off x="7772400" y="1783080"/>
            <a:ext cx="1078992" cy="1554480"/>
          </a:xfrm>
          <a:prstGeom prst="rect">
            <a:avLst/>
          </a:prstGeom>
          <a:solidFill>
            <a:srgbClr val="1A1A1A"/>
          </a:solidFill>
          <a:ln w="25400">
            <a:solidFill>
              <a:srgbClr val="1FA84A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45" name="Shape 43"/>
          <p:cNvSpPr/>
          <p:nvPr/>
        </p:nvSpPr>
        <p:spPr>
          <a:xfrm>
            <a:off x="8110728" y="1856232"/>
            <a:ext cx="402336" cy="329184"/>
          </a:xfrm>
          <a:prstGeom prst="ellipse">
            <a:avLst/>
          </a:prstGeom>
          <a:solidFill>
            <a:srgbClr val="1FA84A"/>
          </a:solidFill>
          <a:ln w="12700">
            <a:solidFill>
              <a:srgbClr val="1FA84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6" name="Text 44"/>
          <p:cNvSpPr/>
          <p:nvPr/>
        </p:nvSpPr>
        <p:spPr>
          <a:xfrm>
            <a:off x="8110728" y="1856232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300" b="1" noProof="0" dirty="0">
                <a:solidFill>
                  <a:srgbClr val="FFFFFF"/>
                </a:solidFill>
              </a:rPr>
              <a:t>7</a:t>
            </a:r>
            <a:endParaRPr lang="es-419" sz="1300" noProof="0" dirty="0"/>
          </a:p>
        </p:txBody>
      </p:sp>
      <p:sp>
        <p:nvSpPr>
          <p:cNvPr id="47" name="Text 45"/>
          <p:cNvSpPr/>
          <p:nvPr/>
        </p:nvSpPr>
        <p:spPr>
          <a:xfrm>
            <a:off x="7808976" y="22585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rgbClr val="FFFFFF"/>
                </a:solidFill>
              </a:rPr>
              <a:t>Certificar</a:t>
            </a:r>
            <a:endParaRPr lang="es-419" sz="900" noProof="0" dirty="0"/>
          </a:p>
          <a:p>
            <a:pPr marL="0" indent="0" algn="ctr">
              <a:buNone/>
            </a:pPr>
            <a:r>
              <a:rPr lang="es-419" sz="900" b="1" noProof="0" dirty="0">
                <a:solidFill>
                  <a:srgbClr val="FFFFFF"/>
                </a:solidFill>
              </a:rPr>
              <a:t>y Cerrar</a:t>
            </a:r>
            <a:endParaRPr lang="es-419" sz="900" noProof="0" dirty="0"/>
          </a:p>
        </p:txBody>
      </p:sp>
      <p:sp>
        <p:nvSpPr>
          <p:cNvPr id="48" name="Text 46"/>
          <p:cNvSpPr/>
          <p:nvPr/>
        </p:nvSpPr>
        <p:spPr>
          <a:xfrm>
            <a:off x="7808976" y="2642616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800" noProof="0" dirty="0">
                <a:solidFill>
                  <a:srgbClr val="8B9AB0"/>
                </a:solidFill>
              </a:rPr>
              <a:t>Casos de uso</a:t>
            </a:r>
            <a:endParaRPr lang="es-419" sz="800" noProof="0" dirty="0"/>
          </a:p>
          <a:p>
            <a:pPr marL="0" indent="0" algn="ctr">
              <a:buNone/>
            </a:pPr>
            <a:r>
              <a:rPr lang="es-419" sz="800" noProof="0" dirty="0">
                <a:solidFill>
                  <a:srgbClr val="8B9AB0"/>
                </a:solidFill>
              </a:rPr>
              <a:t>+ BS (borrar</a:t>
            </a:r>
            <a:endParaRPr lang="es-419" sz="800" noProof="0" dirty="0"/>
          </a:p>
          <a:p>
            <a:pPr marL="0" indent="0" algn="ctr">
              <a:buNone/>
            </a:pPr>
            <a:r>
              <a:rPr lang="es-419" sz="800" noProof="0" dirty="0">
                <a:solidFill>
                  <a:srgbClr val="8B9AB0"/>
                </a:solidFill>
              </a:rPr>
              <a:t>Key Change)</a:t>
            </a:r>
            <a:endParaRPr lang="es-419" sz="800" noProof="0" dirty="0"/>
          </a:p>
        </p:txBody>
      </p:sp>
      <p:sp>
        <p:nvSpPr>
          <p:cNvPr id="49" name="Shape 47"/>
          <p:cNvSpPr/>
          <p:nvPr/>
        </p:nvSpPr>
        <p:spPr>
          <a:xfrm>
            <a:off x="411480" y="3493008"/>
            <a:ext cx="8321040" cy="493776"/>
          </a:xfrm>
          <a:prstGeom prst="rect">
            <a:avLst/>
          </a:prstGeom>
          <a:solidFill>
            <a:srgbClr val="021202"/>
          </a:solidFill>
          <a:ln w="19050">
            <a:solidFill>
              <a:srgbClr val="1FA84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50" name="Shape 48"/>
          <p:cNvSpPr/>
          <p:nvPr/>
        </p:nvSpPr>
        <p:spPr>
          <a:xfrm>
            <a:off x="411480" y="3493008"/>
            <a:ext cx="64008" cy="493776"/>
          </a:xfrm>
          <a:prstGeom prst="rect">
            <a:avLst/>
          </a:prstGeom>
          <a:solidFill>
            <a:srgbClr val="1FA84A"/>
          </a:solidFill>
          <a:ln w="12700">
            <a:solidFill>
              <a:srgbClr val="1FA84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51" name="Text 49"/>
          <p:cNvSpPr/>
          <p:nvPr/>
        </p:nvSpPr>
        <p:spPr>
          <a:xfrm>
            <a:off x="548640" y="35112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050" b="1" noProof="0" dirty="0">
                <a:solidFill>
                  <a:srgbClr val="1FA84A"/>
                </a:solidFill>
              </a:rPr>
              <a:t>🔑  KCV — Key </a:t>
            </a:r>
            <a:r>
              <a:rPr lang="es-419" sz="1050" b="1" noProof="0" dirty="0" err="1">
                <a:solidFill>
                  <a:srgbClr val="1FA84A"/>
                </a:solidFill>
              </a:rPr>
              <a:t>Check</a:t>
            </a:r>
            <a:r>
              <a:rPr lang="es-419" sz="1050" b="1" noProof="0" dirty="0">
                <a:solidFill>
                  <a:srgbClr val="1FA84A"/>
                </a:solidFill>
              </a:rPr>
              <a:t> </a:t>
            </a:r>
            <a:r>
              <a:rPr lang="es-419" sz="1050" b="1" noProof="0" dirty="0" err="1">
                <a:solidFill>
                  <a:srgbClr val="1FA84A"/>
                </a:solidFill>
              </a:rPr>
              <a:t>Value</a:t>
            </a:r>
            <a:r>
              <a:rPr lang="es-419" sz="1050" b="1" noProof="0" dirty="0">
                <a:solidFill>
                  <a:srgbClr val="1FA84A"/>
                </a:solidFill>
              </a:rPr>
              <a:t>:</a:t>
            </a:r>
            <a:endParaRPr lang="es-419" sz="1050" noProof="0" dirty="0"/>
          </a:p>
        </p:txBody>
      </p:sp>
      <p:sp>
        <p:nvSpPr>
          <p:cNvPr id="52" name="Text 50"/>
          <p:cNvSpPr/>
          <p:nvPr/>
        </p:nvSpPr>
        <p:spPr>
          <a:xfrm>
            <a:off x="548640" y="37490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C8D0DC"/>
                </a:solidFill>
              </a:rPr>
              <a:t>Resultado de cifrar un bloque de ceros con la clave. Antes y después de migrar debe ser exactamente igual. Si difieren, la migración falló y debe revisarse antes de continuar.</a:t>
            </a:r>
            <a:endParaRPr lang="es-419" sz="950" noProof="0" dirty="0"/>
          </a:p>
        </p:txBody>
      </p:sp>
      <p:sp>
        <p:nvSpPr>
          <p:cNvPr id="53" name="Shape 51"/>
          <p:cNvSpPr/>
          <p:nvPr/>
        </p:nvSpPr>
        <p:spPr>
          <a:xfrm>
            <a:off x="411480" y="4096512"/>
            <a:ext cx="8321040" cy="256032"/>
          </a:xfrm>
          <a:prstGeom prst="rect">
            <a:avLst/>
          </a:prstGeom>
          <a:solidFill>
            <a:srgbClr val="120000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54" name="Text 52"/>
          <p:cNvSpPr/>
          <p:nvPr/>
        </p:nvSpPr>
        <p:spPr>
          <a:xfrm>
            <a:off x="502920" y="4096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Las claves operativas del banco (ZMK, ZPK, BDK, CVK, TMK, etc.) están cifradas bajo la LMK actual y almacenadas en Oracle. El utilitario en AIX lee Oracle, llama al HSM y actualiza Oracle con la clave bajo la nueva LMK.</a:t>
            </a:r>
            <a:endParaRPr lang="es-419" sz="900" noProof="0" dirty="0"/>
          </a:p>
        </p:txBody>
      </p:sp>
      <p:sp>
        <p:nvSpPr>
          <p:cNvPr id="55" name="Shape 5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Shape 1"/>
          <p:cNvSpPr/>
          <p:nvPr/>
        </p:nvSpPr>
        <p:spPr>
          <a:xfrm>
            <a:off x="411480" y="146304"/>
            <a:ext cx="2743200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" name="Text 2"/>
          <p:cNvSpPr/>
          <p:nvPr/>
        </p:nvSpPr>
        <p:spPr>
          <a:xfrm>
            <a:off x="411480" y="1463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50" b="1" noProof="0" dirty="0">
                <a:solidFill>
                  <a:srgbClr val="FFFFFF"/>
                </a:solidFill>
              </a:rPr>
              <a:t>05 · ESCENARIO A  ·  LMK THALES</a:t>
            </a:r>
            <a:endParaRPr lang="es-419" sz="950" noProof="0" dirty="0"/>
          </a:p>
        </p:txBody>
      </p:sp>
      <p:sp>
        <p:nvSpPr>
          <p:cNvPr id="5" name="Text 3"/>
          <p:cNvSpPr/>
          <p:nvPr/>
        </p:nvSpPr>
        <p:spPr>
          <a:xfrm>
            <a:off x="411480" y="52120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s-419" sz="2600" b="1" noProof="0" dirty="0">
                <a:solidFill>
                  <a:srgbClr val="FFFFFF"/>
                </a:solidFill>
              </a:rPr>
              <a:t>Escenario A — </a:t>
            </a:r>
            <a:r>
              <a:rPr lang="es-419" sz="2600" b="1" noProof="0" dirty="0" err="1">
                <a:solidFill>
                  <a:srgbClr val="FFFFFF"/>
                </a:solidFill>
              </a:rPr>
              <a:t>Variant</a:t>
            </a:r>
            <a:r>
              <a:rPr lang="es-419" sz="2600" b="1" noProof="0" dirty="0">
                <a:solidFill>
                  <a:srgbClr val="FFFFFF"/>
                </a:solidFill>
              </a:rPr>
              <a:t> → </a:t>
            </a:r>
            <a:r>
              <a:rPr lang="es-419" sz="2600" b="1" noProof="0" dirty="0" err="1">
                <a:solidFill>
                  <a:srgbClr val="FFFFFF"/>
                </a:solidFill>
              </a:rPr>
              <a:t>Variant</a:t>
            </a:r>
            <a:endParaRPr lang="es-419" sz="2600" noProof="0" dirty="0"/>
          </a:p>
        </p:txBody>
      </p:sp>
      <p:sp>
        <p:nvSpPr>
          <p:cNvPr id="6" name="Text 4"/>
          <p:cNvSpPr/>
          <p:nvPr/>
        </p:nvSpPr>
        <p:spPr>
          <a:xfrm>
            <a:off x="411480" y="12161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100" noProof="0" dirty="0">
                <a:solidFill>
                  <a:srgbClr val="8B9AB0"/>
                </a:solidFill>
              </a:rPr>
              <a:t>Renovación de LMK. Ambas </a:t>
            </a:r>
            <a:r>
              <a:rPr lang="es-419" sz="1100" noProof="0" dirty="0" err="1">
                <a:solidFill>
                  <a:srgbClr val="8B9AB0"/>
                </a:solidFill>
              </a:rPr>
              <a:t>LMKs</a:t>
            </a:r>
            <a:r>
              <a:rPr lang="es-419" sz="1100" noProof="0" dirty="0">
                <a:solidFill>
                  <a:srgbClr val="8B9AB0"/>
                </a:solidFill>
              </a:rPr>
              <a:t> son </a:t>
            </a:r>
            <a:r>
              <a:rPr lang="es-419" sz="1100" noProof="0" dirty="0" err="1">
                <a:solidFill>
                  <a:srgbClr val="8B9AB0"/>
                </a:solidFill>
              </a:rPr>
              <a:t>Variant</a:t>
            </a:r>
            <a:r>
              <a:rPr lang="es-419" sz="1100" noProof="0" dirty="0">
                <a:solidFill>
                  <a:srgbClr val="8B9AB0"/>
                </a:solidFill>
              </a:rPr>
              <a:t>. El formato de las claves no cambia.</a:t>
            </a:r>
            <a:endParaRPr lang="es-419" sz="1100" noProof="0" dirty="0"/>
          </a:p>
        </p:txBody>
      </p:sp>
      <p:sp>
        <p:nvSpPr>
          <p:cNvPr id="7" name="Shape 5"/>
          <p:cNvSpPr/>
          <p:nvPr/>
        </p:nvSpPr>
        <p:spPr>
          <a:xfrm>
            <a:off x="411480" y="1527048"/>
            <a:ext cx="832104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8" name="Shape 6"/>
          <p:cNvSpPr/>
          <p:nvPr/>
        </p:nvSpPr>
        <p:spPr>
          <a:xfrm>
            <a:off x="411480" y="1664208"/>
            <a:ext cx="8321040" cy="274320"/>
          </a:xfrm>
          <a:prstGeom prst="rect">
            <a:avLst/>
          </a:prstGeom>
          <a:solidFill>
            <a:srgbClr val="12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C8D0DC"/>
                </a:solidFill>
              </a:rPr>
              <a:t>Aplica cuando: se renueva periódicamente la LMK por seguridad o por requerimiento de auditoría, sin cambiar el formato de cifrado de las claves.</a:t>
            </a:r>
            <a:endParaRPr lang="es-419" sz="950" noProof="0" dirty="0"/>
          </a:p>
        </p:txBody>
      </p:sp>
      <p:sp>
        <p:nvSpPr>
          <p:cNvPr id="10" name="Shape 8"/>
          <p:cNvSpPr/>
          <p:nvPr/>
        </p:nvSpPr>
        <p:spPr>
          <a:xfrm>
            <a:off x="411480" y="2029968"/>
            <a:ext cx="4023360" cy="1234440"/>
          </a:xfrm>
          <a:prstGeom prst="rect">
            <a:avLst/>
          </a:prstGeom>
          <a:solidFill>
            <a:srgbClr val="1A1A1A"/>
          </a:solidFill>
          <a:ln w="19050">
            <a:solidFill>
              <a:srgbClr val="CC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1" name="Shape 9"/>
          <p:cNvSpPr/>
          <p:nvPr/>
        </p:nvSpPr>
        <p:spPr>
          <a:xfrm>
            <a:off x="411480" y="2029968"/>
            <a:ext cx="4023360" cy="2743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2" name="Text 10"/>
          <p:cNvSpPr/>
          <p:nvPr/>
        </p:nvSpPr>
        <p:spPr>
          <a:xfrm>
            <a:off x="502920" y="20299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FFFFFF"/>
                </a:solidFill>
              </a:rPr>
              <a:t>PASO 1 · Consola HSM (</a:t>
            </a:r>
            <a:r>
              <a:rPr lang="es-419" sz="950" b="1" noProof="0" dirty="0" err="1">
                <a:solidFill>
                  <a:srgbClr val="FFFFFF"/>
                </a:solidFill>
              </a:rPr>
              <a:t>Secure-Authorized</a:t>
            </a:r>
            <a:r>
              <a:rPr lang="es-419" sz="950" b="1" noProof="0" dirty="0">
                <a:solidFill>
                  <a:srgbClr val="FFFFFF"/>
                </a:solidFill>
              </a:rPr>
              <a:t>)</a:t>
            </a:r>
            <a:endParaRPr lang="es-419" sz="950" noProof="0" dirty="0"/>
          </a:p>
        </p:txBody>
      </p:sp>
      <p:sp>
        <p:nvSpPr>
          <p:cNvPr id="13" name="Text 11"/>
          <p:cNvSpPr/>
          <p:nvPr/>
        </p:nvSpPr>
        <p:spPr>
          <a:xfrm>
            <a:off x="548640" y="235000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Generar o importar la nueva LMK </a:t>
            </a:r>
            <a:r>
              <a:rPr lang="es-419" sz="900" noProof="0" dirty="0" err="1">
                <a:solidFill>
                  <a:srgbClr val="C8D0DC"/>
                </a:solidFill>
              </a:rPr>
              <a:t>Variant</a:t>
            </a:r>
            <a:r>
              <a:rPr lang="es-419" sz="900" noProof="0" dirty="0">
                <a:solidFill>
                  <a:srgbClr val="C8D0DC"/>
                </a:solidFill>
              </a:rPr>
              <a:t> (comando LK desde tarjetas </a:t>
            </a:r>
            <a:r>
              <a:rPr lang="es-419" sz="900" noProof="0" dirty="0" err="1">
                <a:solidFill>
                  <a:srgbClr val="C8D0DC"/>
                </a:solidFill>
              </a:rPr>
              <a:t>smartcard</a:t>
            </a:r>
            <a:r>
              <a:rPr lang="es-419" sz="900" noProof="0" dirty="0">
                <a:solidFill>
                  <a:srgbClr val="C8D0DC"/>
                </a:solidFill>
              </a:rPr>
              <a:t>)</a:t>
            </a:r>
            <a:endParaRPr lang="es-419" sz="900" noProof="0" dirty="0"/>
          </a:p>
        </p:txBody>
      </p:sp>
      <p:sp>
        <p:nvSpPr>
          <p:cNvPr id="14" name="Text 12"/>
          <p:cNvSpPr/>
          <p:nvPr/>
        </p:nvSpPr>
        <p:spPr>
          <a:xfrm>
            <a:off x="548640" y="263347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Cargar la LMK </a:t>
            </a:r>
            <a:r>
              <a:rPr lang="es-419" sz="900" noProof="0" dirty="0" err="1">
                <a:solidFill>
                  <a:srgbClr val="C8D0DC"/>
                </a:solidFill>
              </a:rPr>
              <a:t>Variant</a:t>
            </a:r>
            <a:r>
              <a:rPr lang="es-419" sz="900" noProof="0" dirty="0">
                <a:solidFill>
                  <a:srgbClr val="C8D0DC"/>
                </a:solidFill>
              </a:rPr>
              <a:t> ANTIGUA en Key Change Storage con comando LO</a:t>
            </a:r>
            <a:endParaRPr lang="es-419" sz="900" noProof="0" dirty="0"/>
          </a:p>
        </p:txBody>
      </p:sp>
      <p:sp>
        <p:nvSpPr>
          <p:cNvPr id="15" name="Text 13"/>
          <p:cNvSpPr/>
          <p:nvPr/>
        </p:nvSpPr>
        <p:spPr>
          <a:xfrm>
            <a:off x="548640" y="291693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Verificar con VT: Old = </a:t>
            </a:r>
            <a:r>
              <a:rPr lang="es-419" sz="900" noProof="0" dirty="0" err="1">
                <a:solidFill>
                  <a:srgbClr val="C8D0DC"/>
                </a:solidFill>
              </a:rPr>
              <a:t>Variant</a:t>
            </a:r>
            <a:r>
              <a:rPr lang="es-419" sz="900" noProof="0" dirty="0">
                <a:solidFill>
                  <a:srgbClr val="C8D0DC"/>
                </a:solidFill>
              </a:rPr>
              <a:t>, Actual = </a:t>
            </a:r>
            <a:r>
              <a:rPr lang="es-419" sz="900" noProof="0" dirty="0" err="1">
                <a:solidFill>
                  <a:srgbClr val="C8D0DC"/>
                </a:solidFill>
              </a:rPr>
              <a:t>Variant</a:t>
            </a:r>
            <a:r>
              <a:rPr lang="es-419" sz="900" noProof="0" dirty="0">
                <a:solidFill>
                  <a:srgbClr val="C8D0DC"/>
                </a:solidFill>
              </a:rPr>
              <a:t> (nueva)</a:t>
            </a:r>
            <a:endParaRPr lang="es-419" sz="900" noProof="0" dirty="0"/>
          </a:p>
        </p:txBody>
      </p:sp>
      <p:sp>
        <p:nvSpPr>
          <p:cNvPr id="16" name="Shape 14"/>
          <p:cNvSpPr/>
          <p:nvPr/>
        </p:nvSpPr>
        <p:spPr>
          <a:xfrm>
            <a:off x="4617720" y="2029968"/>
            <a:ext cx="4023360" cy="1234440"/>
          </a:xfrm>
          <a:prstGeom prst="rect">
            <a:avLst/>
          </a:prstGeom>
          <a:solidFill>
            <a:srgbClr val="1A1A1A"/>
          </a:solidFill>
          <a:ln w="19050">
            <a:solidFill>
              <a:srgbClr val="C9940A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7" name="Shape 15"/>
          <p:cNvSpPr/>
          <p:nvPr/>
        </p:nvSpPr>
        <p:spPr>
          <a:xfrm>
            <a:off x="4617720" y="2029968"/>
            <a:ext cx="4023360" cy="274320"/>
          </a:xfrm>
          <a:prstGeom prst="rect">
            <a:avLst/>
          </a:prstGeom>
          <a:solidFill>
            <a:srgbClr val="C9940A"/>
          </a:solidFill>
          <a:ln w="12700">
            <a:solidFill>
              <a:srgbClr val="C9940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8" name="Text 16"/>
          <p:cNvSpPr/>
          <p:nvPr/>
        </p:nvSpPr>
        <p:spPr>
          <a:xfrm>
            <a:off x="4709160" y="20299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FFFFFF"/>
                </a:solidFill>
              </a:rPr>
              <a:t>PASO 2 · Inventario desde Oracle</a:t>
            </a:r>
            <a:endParaRPr lang="es-419" sz="950" noProof="0" dirty="0"/>
          </a:p>
        </p:txBody>
      </p:sp>
      <p:sp>
        <p:nvSpPr>
          <p:cNvPr id="19" name="Text 17"/>
          <p:cNvSpPr/>
          <p:nvPr/>
        </p:nvSpPr>
        <p:spPr>
          <a:xfrm>
            <a:off x="4754880" y="235000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Consultar Oracle: obtener todas las claves cifradas bajo la LMK antigua</a:t>
            </a:r>
            <a:endParaRPr lang="es-419" sz="900" noProof="0" dirty="0"/>
          </a:p>
        </p:txBody>
      </p:sp>
      <p:sp>
        <p:nvSpPr>
          <p:cNvPr id="20" name="Text 18"/>
          <p:cNvSpPr/>
          <p:nvPr/>
        </p:nvSpPr>
        <p:spPr>
          <a:xfrm>
            <a:off x="4754880" y="263347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Registrar el KCV actual de cada clave (este valor es la referencia de validación)</a:t>
            </a:r>
            <a:endParaRPr lang="es-419" sz="900" noProof="0" dirty="0"/>
          </a:p>
        </p:txBody>
      </p:sp>
      <p:sp>
        <p:nvSpPr>
          <p:cNvPr id="21" name="Text 19"/>
          <p:cNvSpPr/>
          <p:nvPr/>
        </p:nvSpPr>
        <p:spPr>
          <a:xfrm>
            <a:off x="4754880" y="291693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Clasificar claves: ZMK, ZPK, TMK, BDK, CVK, TAK, </a:t>
            </a:r>
            <a:r>
              <a:rPr lang="es-419" sz="900" noProof="0" dirty="0" err="1">
                <a:solidFill>
                  <a:srgbClr val="C8D0DC"/>
                </a:solidFill>
              </a:rPr>
              <a:t>PINs</a:t>
            </a:r>
            <a:r>
              <a:rPr lang="es-419" sz="900" noProof="0" dirty="0">
                <a:solidFill>
                  <a:srgbClr val="C8D0DC"/>
                </a:solidFill>
              </a:rPr>
              <a:t>, etc.</a:t>
            </a:r>
            <a:endParaRPr lang="es-419" sz="900" noProof="0" dirty="0"/>
          </a:p>
        </p:txBody>
      </p:sp>
      <p:sp>
        <p:nvSpPr>
          <p:cNvPr id="22" name="Shape 20"/>
          <p:cNvSpPr/>
          <p:nvPr/>
        </p:nvSpPr>
        <p:spPr>
          <a:xfrm>
            <a:off x="411480" y="3355848"/>
            <a:ext cx="4023360" cy="1234440"/>
          </a:xfrm>
          <a:prstGeom prst="rect">
            <a:avLst/>
          </a:prstGeom>
          <a:solidFill>
            <a:srgbClr val="1A1A1A"/>
          </a:solidFill>
          <a:ln w="19050">
            <a:solidFill>
              <a:srgbClr val="CC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3" name="Shape 21"/>
          <p:cNvSpPr/>
          <p:nvPr/>
        </p:nvSpPr>
        <p:spPr>
          <a:xfrm>
            <a:off x="411480" y="3355848"/>
            <a:ext cx="4023360" cy="2743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4" name="Text 22"/>
          <p:cNvSpPr/>
          <p:nvPr/>
        </p:nvSpPr>
        <p:spPr>
          <a:xfrm>
            <a:off x="502920" y="33558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FFFFFF"/>
                </a:solidFill>
              </a:rPr>
              <a:t>PASO 3 · Migración con BW (Utilitario AIX)</a:t>
            </a:r>
            <a:endParaRPr lang="es-419" sz="950" noProof="0" dirty="0"/>
          </a:p>
        </p:txBody>
      </p:sp>
      <p:sp>
        <p:nvSpPr>
          <p:cNvPr id="25" name="Text 23"/>
          <p:cNvSpPr/>
          <p:nvPr/>
        </p:nvSpPr>
        <p:spPr>
          <a:xfrm>
            <a:off x="548640" y="367588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El utilitario en AIX envía cada clave al HSM </a:t>
            </a:r>
            <a:r>
              <a:rPr lang="es-419" sz="900" noProof="0" dirty="0" err="1">
                <a:solidFill>
                  <a:srgbClr val="C8D0DC"/>
                </a:solidFill>
              </a:rPr>
              <a:t>via</a:t>
            </a:r>
            <a:r>
              <a:rPr lang="es-419" sz="900" noProof="0" dirty="0">
                <a:solidFill>
                  <a:srgbClr val="C8D0DC"/>
                </a:solidFill>
              </a:rPr>
              <a:t> TCP/IP con el comando BW</a:t>
            </a:r>
            <a:endParaRPr lang="es-419" sz="900" noProof="0" dirty="0"/>
          </a:p>
        </p:txBody>
      </p:sp>
      <p:sp>
        <p:nvSpPr>
          <p:cNvPr id="26" name="Text 24"/>
          <p:cNvSpPr/>
          <p:nvPr/>
        </p:nvSpPr>
        <p:spPr>
          <a:xfrm>
            <a:off x="548640" y="395935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El HSM </a:t>
            </a:r>
            <a:r>
              <a:rPr lang="es-419" sz="900" noProof="0" dirty="0" err="1">
                <a:solidFill>
                  <a:srgbClr val="C8D0DC"/>
                </a:solidFill>
              </a:rPr>
              <a:t>re-descifra</a:t>
            </a:r>
            <a:r>
              <a:rPr lang="es-419" sz="900" noProof="0" dirty="0">
                <a:solidFill>
                  <a:srgbClr val="C8D0DC"/>
                </a:solidFill>
              </a:rPr>
              <a:t> la clave con la LMK antigua y la </a:t>
            </a:r>
            <a:r>
              <a:rPr lang="es-419" sz="900" noProof="0" dirty="0" err="1">
                <a:solidFill>
                  <a:srgbClr val="C8D0DC"/>
                </a:solidFill>
              </a:rPr>
              <a:t>re-cifra</a:t>
            </a:r>
            <a:r>
              <a:rPr lang="es-419" sz="900" noProof="0" dirty="0">
                <a:solidFill>
                  <a:srgbClr val="C8D0DC"/>
                </a:solidFill>
              </a:rPr>
              <a:t> con la nueva LMK</a:t>
            </a:r>
            <a:endParaRPr lang="es-419" sz="900" noProof="0" dirty="0"/>
          </a:p>
        </p:txBody>
      </p:sp>
      <p:sp>
        <p:nvSpPr>
          <p:cNvPr id="27" name="Text 25"/>
          <p:cNvSpPr/>
          <p:nvPr/>
        </p:nvSpPr>
        <p:spPr>
          <a:xfrm>
            <a:off x="548640" y="424281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Comparar KCV retornado por el HSM con el KCV registrado — deben ser idénticos</a:t>
            </a:r>
            <a:endParaRPr lang="es-419" sz="900" noProof="0" dirty="0"/>
          </a:p>
        </p:txBody>
      </p:sp>
      <p:sp>
        <p:nvSpPr>
          <p:cNvPr id="28" name="Shape 26"/>
          <p:cNvSpPr/>
          <p:nvPr/>
        </p:nvSpPr>
        <p:spPr>
          <a:xfrm>
            <a:off x="4617720" y="3355848"/>
            <a:ext cx="4023360" cy="1234440"/>
          </a:xfrm>
          <a:prstGeom prst="rect">
            <a:avLst/>
          </a:prstGeom>
          <a:solidFill>
            <a:srgbClr val="1A1A1A"/>
          </a:solidFill>
          <a:ln w="19050">
            <a:solidFill>
              <a:srgbClr val="1FA84A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9" name="Shape 27"/>
          <p:cNvSpPr/>
          <p:nvPr/>
        </p:nvSpPr>
        <p:spPr>
          <a:xfrm>
            <a:off x="4617720" y="3355848"/>
            <a:ext cx="4023360" cy="274320"/>
          </a:xfrm>
          <a:prstGeom prst="rect">
            <a:avLst/>
          </a:prstGeom>
          <a:solidFill>
            <a:srgbClr val="1FA84A"/>
          </a:solidFill>
          <a:ln w="12700">
            <a:solidFill>
              <a:srgbClr val="1FA84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0" name="Text 28"/>
          <p:cNvSpPr/>
          <p:nvPr/>
        </p:nvSpPr>
        <p:spPr>
          <a:xfrm>
            <a:off x="4709160" y="33558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FFFFFF"/>
                </a:solidFill>
              </a:rPr>
              <a:t>PASO 4 · Cierre y validación</a:t>
            </a:r>
            <a:endParaRPr lang="es-419" sz="950" noProof="0" dirty="0"/>
          </a:p>
        </p:txBody>
      </p:sp>
      <p:sp>
        <p:nvSpPr>
          <p:cNvPr id="31" name="Text 29"/>
          <p:cNvSpPr/>
          <p:nvPr/>
        </p:nvSpPr>
        <p:spPr>
          <a:xfrm>
            <a:off x="4754880" y="367588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Actualizar Oracle: guardar la nueva clave (bajo nueva LMK) + nuevo KCV</a:t>
            </a:r>
            <a:endParaRPr lang="es-419" sz="900" noProof="0" dirty="0"/>
          </a:p>
        </p:txBody>
      </p:sp>
      <p:sp>
        <p:nvSpPr>
          <p:cNvPr id="32" name="Text 30"/>
          <p:cNvSpPr/>
          <p:nvPr/>
        </p:nvSpPr>
        <p:spPr>
          <a:xfrm>
            <a:off x="4754880" y="395935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Ejecutar BS en consola para borrar el Key Change Storage</a:t>
            </a:r>
            <a:endParaRPr lang="es-419" sz="900" noProof="0" dirty="0"/>
          </a:p>
        </p:txBody>
      </p:sp>
      <p:sp>
        <p:nvSpPr>
          <p:cNvPr id="33" name="Text 31"/>
          <p:cNvSpPr/>
          <p:nvPr/>
        </p:nvSpPr>
        <p:spPr>
          <a:xfrm>
            <a:off x="4754880" y="424281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Correr casos de uso de certificación para confirmar operatividad</a:t>
            </a:r>
            <a:endParaRPr lang="es-419" sz="900" noProof="0" dirty="0"/>
          </a:p>
        </p:txBody>
      </p:sp>
      <p:sp>
        <p:nvSpPr>
          <p:cNvPr id="34" name="Shape 3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Shape 1"/>
          <p:cNvSpPr/>
          <p:nvPr/>
        </p:nvSpPr>
        <p:spPr>
          <a:xfrm>
            <a:off x="411480" y="146304"/>
            <a:ext cx="2743200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" name="Text 2"/>
          <p:cNvSpPr/>
          <p:nvPr/>
        </p:nvSpPr>
        <p:spPr>
          <a:xfrm>
            <a:off x="411480" y="1463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50" b="1" noProof="0" dirty="0">
                <a:solidFill>
                  <a:srgbClr val="FFFFFF"/>
                </a:solidFill>
              </a:rPr>
              <a:t>06 · ESCENARIO B  ·  LMK THALES</a:t>
            </a:r>
            <a:endParaRPr lang="es-419" sz="950" noProof="0" dirty="0"/>
          </a:p>
        </p:txBody>
      </p:sp>
      <p:sp>
        <p:nvSpPr>
          <p:cNvPr id="5" name="Text 3"/>
          <p:cNvSpPr/>
          <p:nvPr/>
        </p:nvSpPr>
        <p:spPr>
          <a:xfrm>
            <a:off x="411480" y="52120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s-419" sz="2600" b="1" noProof="0" dirty="0">
                <a:solidFill>
                  <a:srgbClr val="FFFFFF"/>
                </a:solidFill>
              </a:rPr>
              <a:t>Escenario B — </a:t>
            </a:r>
            <a:r>
              <a:rPr lang="es-419" sz="2600" b="1" noProof="0" dirty="0" err="1">
                <a:solidFill>
                  <a:srgbClr val="FFFFFF"/>
                </a:solidFill>
              </a:rPr>
              <a:t>Variant</a:t>
            </a:r>
            <a:r>
              <a:rPr lang="es-419" sz="2600" b="1" noProof="0" dirty="0">
                <a:solidFill>
                  <a:srgbClr val="FFFFFF"/>
                </a:solidFill>
              </a:rPr>
              <a:t> → Key Block</a:t>
            </a:r>
            <a:endParaRPr lang="es-419" sz="2600" noProof="0" dirty="0"/>
          </a:p>
        </p:txBody>
      </p:sp>
      <p:sp>
        <p:nvSpPr>
          <p:cNvPr id="6" name="Text 4"/>
          <p:cNvSpPr/>
          <p:nvPr/>
        </p:nvSpPr>
        <p:spPr>
          <a:xfrm>
            <a:off x="411480" y="12161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100" noProof="0" dirty="0">
                <a:solidFill>
                  <a:srgbClr val="8B9AB0"/>
                </a:solidFill>
              </a:rPr>
              <a:t>Adopción del estándar TR-31. Exigido por PCI HSM. Las claves pasan a formato Key Block.</a:t>
            </a:r>
            <a:endParaRPr lang="es-419" sz="1100" noProof="0" dirty="0"/>
          </a:p>
        </p:txBody>
      </p:sp>
      <p:sp>
        <p:nvSpPr>
          <p:cNvPr id="7" name="Shape 5"/>
          <p:cNvSpPr/>
          <p:nvPr/>
        </p:nvSpPr>
        <p:spPr>
          <a:xfrm>
            <a:off x="411480" y="1527048"/>
            <a:ext cx="832104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8" name="Shape 6"/>
          <p:cNvSpPr/>
          <p:nvPr/>
        </p:nvSpPr>
        <p:spPr>
          <a:xfrm>
            <a:off x="411480" y="1664208"/>
            <a:ext cx="8321040" cy="274320"/>
          </a:xfrm>
          <a:prstGeom prst="rect">
            <a:avLst/>
          </a:prstGeom>
          <a:solidFill>
            <a:srgbClr val="120000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D97706"/>
                </a:solidFill>
              </a:rPr>
              <a:t>⚠  Restricción: las claves Single-DES (longitud simple) no pueden migrarse a formato Key Block. Solo </a:t>
            </a:r>
            <a:r>
              <a:rPr lang="es-419" sz="950" noProof="0" dirty="0" err="1">
                <a:solidFill>
                  <a:srgbClr val="D97706"/>
                </a:solidFill>
              </a:rPr>
              <a:t>Double</a:t>
            </a:r>
            <a:r>
              <a:rPr lang="es-419" sz="950" noProof="0" dirty="0">
                <a:solidFill>
                  <a:srgbClr val="D97706"/>
                </a:solidFill>
              </a:rPr>
              <a:t>-DES, Triple-DES y AES son soportadas.</a:t>
            </a:r>
            <a:endParaRPr lang="es-419" sz="950" noProof="0" dirty="0"/>
          </a:p>
        </p:txBody>
      </p:sp>
      <p:sp>
        <p:nvSpPr>
          <p:cNvPr id="10" name="Shape 8"/>
          <p:cNvSpPr/>
          <p:nvPr/>
        </p:nvSpPr>
        <p:spPr>
          <a:xfrm>
            <a:off x="411480" y="2029968"/>
            <a:ext cx="4023360" cy="1234440"/>
          </a:xfrm>
          <a:prstGeom prst="rect">
            <a:avLst/>
          </a:prstGeom>
          <a:solidFill>
            <a:srgbClr val="1A1A1A"/>
          </a:solidFill>
          <a:ln w="19050">
            <a:solidFill>
              <a:srgbClr val="CC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1" name="Shape 9"/>
          <p:cNvSpPr/>
          <p:nvPr/>
        </p:nvSpPr>
        <p:spPr>
          <a:xfrm>
            <a:off x="411480" y="2029968"/>
            <a:ext cx="4023360" cy="2743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2" name="Text 10"/>
          <p:cNvSpPr/>
          <p:nvPr/>
        </p:nvSpPr>
        <p:spPr>
          <a:xfrm>
            <a:off x="502920" y="20299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FFFFFF"/>
                </a:solidFill>
              </a:rPr>
              <a:t>PASO 1 · Consola HSM (</a:t>
            </a:r>
            <a:r>
              <a:rPr lang="es-419" sz="950" b="1" noProof="0" dirty="0" err="1">
                <a:solidFill>
                  <a:srgbClr val="FFFFFF"/>
                </a:solidFill>
              </a:rPr>
              <a:t>Secure-Authorized</a:t>
            </a:r>
            <a:r>
              <a:rPr lang="es-419" sz="950" b="1" noProof="0" dirty="0">
                <a:solidFill>
                  <a:srgbClr val="FFFFFF"/>
                </a:solidFill>
              </a:rPr>
              <a:t>)</a:t>
            </a:r>
            <a:endParaRPr lang="es-419" sz="950" noProof="0" dirty="0"/>
          </a:p>
        </p:txBody>
      </p:sp>
      <p:sp>
        <p:nvSpPr>
          <p:cNvPr id="13" name="Text 11"/>
          <p:cNvSpPr/>
          <p:nvPr/>
        </p:nvSpPr>
        <p:spPr>
          <a:xfrm>
            <a:off x="548640" y="235000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Cargar la nueva LMK Key Block (3DES o AES-256) como LMK actual (LK)</a:t>
            </a:r>
            <a:endParaRPr lang="es-419" sz="900" noProof="0" dirty="0"/>
          </a:p>
        </p:txBody>
      </p:sp>
      <p:sp>
        <p:nvSpPr>
          <p:cNvPr id="14" name="Text 12"/>
          <p:cNvSpPr/>
          <p:nvPr/>
        </p:nvSpPr>
        <p:spPr>
          <a:xfrm>
            <a:off x="548640" y="263347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Cargar la LMK </a:t>
            </a:r>
            <a:r>
              <a:rPr lang="es-419" sz="900" noProof="0" dirty="0" err="1">
                <a:solidFill>
                  <a:srgbClr val="C8D0DC"/>
                </a:solidFill>
              </a:rPr>
              <a:t>Variant</a:t>
            </a:r>
            <a:r>
              <a:rPr lang="es-419" sz="900" noProof="0" dirty="0">
                <a:solidFill>
                  <a:srgbClr val="C8D0DC"/>
                </a:solidFill>
              </a:rPr>
              <a:t> antigua en Key Change Storage con comando LO</a:t>
            </a:r>
            <a:endParaRPr lang="es-419" sz="900" noProof="0" dirty="0"/>
          </a:p>
        </p:txBody>
      </p:sp>
      <p:sp>
        <p:nvSpPr>
          <p:cNvPr id="15" name="Text 13"/>
          <p:cNvSpPr/>
          <p:nvPr/>
        </p:nvSpPr>
        <p:spPr>
          <a:xfrm>
            <a:off x="548640" y="291693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Verificar con VT: Old = </a:t>
            </a:r>
            <a:r>
              <a:rPr lang="es-419" sz="900" noProof="0" dirty="0" err="1">
                <a:solidFill>
                  <a:srgbClr val="C8D0DC"/>
                </a:solidFill>
              </a:rPr>
              <a:t>Variant</a:t>
            </a:r>
            <a:r>
              <a:rPr lang="es-419" sz="900" noProof="0" dirty="0">
                <a:solidFill>
                  <a:srgbClr val="C8D0DC"/>
                </a:solidFill>
              </a:rPr>
              <a:t>, Actual = Key Block</a:t>
            </a:r>
            <a:endParaRPr lang="es-419" sz="900" noProof="0" dirty="0"/>
          </a:p>
        </p:txBody>
      </p:sp>
      <p:sp>
        <p:nvSpPr>
          <p:cNvPr id="16" name="Shape 14"/>
          <p:cNvSpPr/>
          <p:nvPr/>
        </p:nvSpPr>
        <p:spPr>
          <a:xfrm>
            <a:off x="4617720" y="2029968"/>
            <a:ext cx="4023360" cy="1234440"/>
          </a:xfrm>
          <a:prstGeom prst="rect">
            <a:avLst/>
          </a:prstGeom>
          <a:solidFill>
            <a:srgbClr val="1A1A1A"/>
          </a:solidFill>
          <a:ln w="19050">
            <a:solidFill>
              <a:srgbClr val="C9940A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7" name="Shape 15"/>
          <p:cNvSpPr/>
          <p:nvPr/>
        </p:nvSpPr>
        <p:spPr>
          <a:xfrm>
            <a:off x="4617720" y="2029968"/>
            <a:ext cx="4023360" cy="274320"/>
          </a:xfrm>
          <a:prstGeom prst="rect">
            <a:avLst/>
          </a:prstGeom>
          <a:solidFill>
            <a:srgbClr val="C9940A"/>
          </a:solidFill>
          <a:ln w="12700">
            <a:solidFill>
              <a:srgbClr val="C9940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8" name="Text 16"/>
          <p:cNvSpPr/>
          <p:nvPr/>
        </p:nvSpPr>
        <p:spPr>
          <a:xfrm>
            <a:off x="4709160" y="20299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FFFFFF"/>
                </a:solidFill>
              </a:rPr>
              <a:t>PASO 2 · Inventario y exclusiones desde Oracle</a:t>
            </a:r>
            <a:endParaRPr lang="es-419" sz="950" noProof="0" dirty="0"/>
          </a:p>
        </p:txBody>
      </p:sp>
      <p:sp>
        <p:nvSpPr>
          <p:cNvPr id="19" name="Text 17"/>
          <p:cNvSpPr/>
          <p:nvPr/>
        </p:nvSpPr>
        <p:spPr>
          <a:xfrm>
            <a:off x="4754880" y="235000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Consultar Oracle: obtener claves cifradas bajo LMK </a:t>
            </a:r>
            <a:r>
              <a:rPr lang="es-419" sz="900" noProof="0" dirty="0" err="1">
                <a:solidFill>
                  <a:srgbClr val="C8D0DC"/>
                </a:solidFill>
              </a:rPr>
              <a:t>Variant</a:t>
            </a:r>
            <a:r>
              <a:rPr lang="es-419" sz="900" noProof="0" dirty="0">
                <a:solidFill>
                  <a:srgbClr val="C8D0DC"/>
                </a:solidFill>
              </a:rPr>
              <a:t> antigua</a:t>
            </a:r>
            <a:endParaRPr lang="es-419" sz="900" noProof="0" dirty="0"/>
          </a:p>
        </p:txBody>
      </p:sp>
      <p:sp>
        <p:nvSpPr>
          <p:cNvPr id="20" name="Text 18"/>
          <p:cNvSpPr/>
          <p:nvPr/>
        </p:nvSpPr>
        <p:spPr>
          <a:xfrm>
            <a:off x="4754880" y="263347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Identificar y excluir claves Single-DES — no son migrables a Key Block</a:t>
            </a:r>
            <a:endParaRPr lang="es-419" sz="900" noProof="0" dirty="0"/>
          </a:p>
        </p:txBody>
      </p:sp>
      <p:sp>
        <p:nvSpPr>
          <p:cNvPr id="21" name="Text 19"/>
          <p:cNvSpPr/>
          <p:nvPr/>
        </p:nvSpPr>
        <p:spPr>
          <a:xfrm>
            <a:off x="4754880" y="291693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Registrar KCV de cada clave migrable como valor de referencia</a:t>
            </a:r>
            <a:endParaRPr lang="es-419" sz="900" noProof="0" dirty="0"/>
          </a:p>
        </p:txBody>
      </p:sp>
      <p:sp>
        <p:nvSpPr>
          <p:cNvPr id="22" name="Shape 20"/>
          <p:cNvSpPr/>
          <p:nvPr/>
        </p:nvSpPr>
        <p:spPr>
          <a:xfrm>
            <a:off x="411480" y="3355848"/>
            <a:ext cx="4023360" cy="1234440"/>
          </a:xfrm>
          <a:prstGeom prst="rect">
            <a:avLst/>
          </a:prstGeom>
          <a:solidFill>
            <a:srgbClr val="1A1A1A"/>
          </a:solidFill>
          <a:ln w="19050">
            <a:solidFill>
              <a:srgbClr val="CC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3" name="Shape 21"/>
          <p:cNvSpPr/>
          <p:nvPr/>
        </p:nvSpPr>
        <p:spPr>
          <a:xfrm>
            <a:off x="411480" y="3355848"/>
            <a:ext cx="4023360" cy="2743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4" name="Text 22"/>
          <p:cNvSpPr/>
          <p:nvPr/>
        </p:nvSpPr>
        <p:spPr>
          <a:xfrm>
            <a:off x="502920" y="33558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FFFFFF"/>
                </a:solidFill>
              </a:rPr>
              <a:t>PASO 3 · Migración con BW + Key Block (AIX)</a:t>
            </a:r>
            <a:endParaRPr lang="es-419" sz="950" noProof="0" dirty="0"/>
          </a:p>
        </p:txBody>
      </p:sp>
      <p:sp>
        <p:nvSpPr>
          <p:cNvPr id="25" name="Text 23"/>
          <p:cNvSpPr/>
          <p:nvPr/>
        </p:nvSpPr>
        <p:spPr>
          <a:xfrm>
            <a:off x="548640" y="367588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El utilitario envía cada clave al HSM con BW + parámetros del </a:t>
            </a:r>
            <a:r>
              <a:rPr lang="es-419" sz="900" noProof="0" dirty="0" err="1">
                <a:solidFill>
                  <a:srgbClr val="C8D0DC"/>
                </a:solidFill>
              </a:rPr>
              <a:t>key</a:t>
            </a:r>
            <a:r>
              <a:rPr lang="es-419" sz="900" noProof="0" dirty="0">
                <a:solidFill>
                  <a:srgbClr val="C8D0DC"/>
                </a:solidFill>
              </a:rPr>
              <a:t> block </a:t>
            </a:r>
            <a:r>
              <a:rPr lang="es-419" sz="900" noProof="0" dirty="0" err="1">
                <a:solidFill>
                  <a:srgbClr val="C8D0DC"/>
                </a:solidFill>
              </a:rPr>
              <a:t>header</a:t>
            </a:r>
            <a:endParaRPr lang="es-419" sz="900" noProof="0" dirty="0"/>
          </a:p>
        </p:txBody>
      </p:sp>
      <p:sp>
        <p:nvSpPr>
          <p:cNvPr id="26" name="Text 24"/>
          <p:cNvSpPr/>
          <p:nvPr/>
        </p:nvSpPr>
        <p:spPr>
          <a:xfrm>
            <a:off x="548640" y="395935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El HSM </a:t>
            </a:r>
            <a:r>
              <a:rPr lang="es-419" sz="900" noProof="0" dirty="0" err="1">
                <a:solidFill>
                  <a:srgbClr val="C8D0DC"/>
                </a:solidFill>
              </a:rPr>
              <a:t>re-cifra</a:t>
            </a:r>
            <a:r>
              <a:rPr lang="es-419" sz="900" noProof="0" dirty="0">
                <a:solidFill>
                  <a:srgbClr val="C8D0DC"/>
                </a:solidFill>
              </a:rPr>
              <a:t> la clave y la encapsula en formato TR-31 (tipo, uso, algoritmo)</a:t>
            </a:r>
            <a:endParaRPr lang="es-419" sz="900" noProof="0" dirty="0"/>
          </a:p>
        </p:txBody>
      </p:sp>
      <p:sp>
        <p:nvSpPr>
          <p:cNvPr id="27" name="Text 25"/>
          <p:cNvSpPr/>
          <p:nvPr/>
        </p:nvSpPr>
        <p:spPr>
          <a:xfrm>
            <a:off x="548640" y="424281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Verificar KCV del </a:t>
            </a:r>
            <a:r>
              <a:rPr lang="es-419" sz="900" noProof="0" dirty="0" err="1">
                <a:solidFill>
                  <a:srgbClr val="C8D0DC"/>
                </a:solidFill>
              </a:rPr>
              <a:t>key</a:t>
            </a:r>
            <a:r>
              <a:rPr lang="es-419" sz="900" noProof="0" dirty="0">
                <a:solidFill>
                  <a:srgbClr val="C8D0DC"/>
                </a:solidFill>
              </a:rPr>
              <a:t> block retornado vs KCV registrado — deben ser iguales</a:t>
            </a:r>
            <a:endParaRPr lang="es-419" sz="900" noProof="0" dirty="0"/>
          </a:p>
        </p:txBody>
      </p:sp>
      <p:sp>
        <p:nvSpPr>
          <p:cNvPr id="28" name="Shape 26"/>
          <p:cNvSpPr/>
          <p:nvPr/>
        </p:nvSpPr>
        <p:spPr>
          <a:xfrm>
            <a:off x="4617720" y="3355848"/>
            <a:ext cx="4023360" cy="1234440"/>
          </a:xfrm>
          <a:prstGeom prst="rect">
            <a:avLst/>
          </a:prstGeom>
          <a:solidFill>
            <a:srgbClr val="1A1A1A"/>
          </a:solidFill>
          <a:ln w="19050">
            <a:solidFill>
              <a:srgbClr val="1FA84A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9" name="Shape 27"/>
          <p:cNvSpPr/>
          <p:nvPr/>
        </p:nvSpPr>
        <p:spPr>
          <a:xfrm>
            <a:off x="4617720" y="3355848"/>
            <a:ext cx="4023360" cy="274320"/>
          </a:xfrm>
          <a:prstGeom prst="rect">
            <a:avLst/>
          </a:prstGeom>
          <a:solidFill>
            <a:srgbClr val="1FA84A"/>
          </a:solidFill>
          <a:ln w="12700">
            <a:solidFill>
              <a:srgbClr val="1FA84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0" name="Text 28"/>
          <p:cNvSpPr/>
          <p:nvPr/>
        </p:nvSpPr>
        <p:spPr>
          <a:xfrm>
            <a:off x="4709160" y="33558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FFFFFF"/>
                </a:solidFill>
              </a:rPr>
              <a:t>PASO 4 · PKI, cierre y validación</a:t>
            </a:r>
            <a:endParaRPr lang="es-419" sz="950" noProof="0" dirty="0"/>
          </a:p>
        </p:txBody>
      </p:sp>
      <p:sp>
        <p:nvSpPr>
          <p:cNvPr id="31" name="Text 29"/>
          <p:cNvSpPr/>
          <p:nvPr/>
        </p:nvSpPr>
        <p:spPr>
          <a:xfrm>
            <a:off x="4754880" y="367588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Llaves RSA (PKI): proceso separado con L6 (importar) / L8 (exportar) </a:t>
            </a:r>
            <a:r>
              <a:rPr lang="es-419" sz="900" noProof="0" dirty="0" err="1">
                <a:solidFill>
                  <a:srgbClr val="C8D0DC"/>
                </a:solidFill>
              </a:rPr>
              <a:t>via</a:t>
            </a:r>
            <a:r>
              <a:rPr lang="es-419" sz="900" noProof="0" dirty="0">
                <a:solidFill>
                  <a:srgbClr val="C8D0DC"/>
                </a:solidFill>
              </a:rPr>
              <a:t> ZMK</a:t>
            </a:r>
            <a:endParaRPr lang="es-419" sz="900" noProof="0" dirty="0"/>
          </a:p>
        </p:txBody>
      </p:sp>
      <p:sp>
        <p:nvSpPr>
          <p:cNvPr id="32" name="Text 30"/>
          <p:cNvSpPr/>
          <p:nvPr/>
        </p:nvSpPr>
        <p:spPr>
          <a:xfrm>
            <a:off x="4754880" y="395935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Actualizar Oracle con el </a:t>
            </a:r>
            <a:r>
              <a:rPr lang="es-419" sz="900" noProof="0" dirty="0" err="1">
                <a:solidFill>
                  <a:srgbClr val="C8D0DC"/>
                </a:solidFill>
              </a:rPr>
              <a:t>key</a:t>
            </a:r>
            <a:r>
              <a:rPr lang="es-419" sz="900" noProof="0" dirty="0">
                <a:solidFill>
                  <a:srgbClr val="C8D0DC"/>
                </a:solidFill>
              </a:rPr>
              <a:t> block completo + KCV bajo nueva LMK Key Block</a:t>
            </a:r>
            <a:endParaRPr lang="es-419" sz="900" noProof="0" dirty="0"/>
          </a:p>
        </p:txBody>
      </p:sp>
      <p:sp>
        <p:nvSpPr>
          <p:cNvPr id="33" name="Text 31"/>
          <p:cNvSpPr/>
          <p:nvPr/>
        </p:nvSpPr>
        <p:spPr>
          <a:xfrm>
            <a:off x="4754880" y="424281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Ejecutar BS (borrar Key Change Storage) y correr casos de uso de certificación</a:t>
            </a:r>
            <a:endParaRPr lang="es-419" sz="900" noProof="0" dirty="0"/>
          </a:p>
        </p:txBody>
      </p:sp>
      <p:sp>
        <p:nvSpPr>
          <p:cNvPr id="34" name="Shape 3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Shape 1"/>
          <p:cNvSpPr/>
          <p:nvPr/>
        </p:nvSpPr>
        <p:spPr>
          <a:xfrm>
            <a:off x="411480" y="146304"/>
            <a:ext cx="2743200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" name="Text 2"/>
          <p:cNvSpPr/>
          <p:nvPr/>
        </p:nvSpPr>
        <p:spPr>
          <a:xfrm>
            <a:off x="411480" y="1463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50" b="1" noProof="0" dirty="0">
                <a:solidFill>
                  <a:srgbClr val="FFFFFF"/>
                </a:solidFill>
              </a:rPr>
              <a:t>07 · ESCENARIO C  ·  LMK THALES</a:t>
            </a:r>
            <a:endParaRPr lang="es-419" sz="950" noProof="0" dirty="0"/>
          </a:p>
        </p:txBody>
      </p:sp>
      <p:sp>
        <p:nvSpPr>
          <p:cNvPr id="5" name="Text 3"/>
          <p:cNvSpPr/>
          <p:nvPr/>
        </p:nvSpPr>
        <p:spPr>
          <a:xfrm>
            <a:off x="411480" y="52120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s-419" sz="2600" b="1" noProof="0" dirty="0">
                <a:solidFill>
                  <a:srgbClr val="FFFFFF"/>
                </a:solidFill>
              </a:rPr>
              <a:t>Escenario C — Key Block → Key Block</a:t>
            </a:r>
            <a:endParaRPr lang="es-419" sz="2600" noProof="0" dirty="0"/>
          </a:p>
        </p:txBody>
      </p:sp>
      <p:sp>
        <p:nvSpPr>
          <p:cNvPr id="6" name="Text 4"/>
          <p:cNvSpPr/>
          <p:nvPr/>
        </p:nvSpPr>
        <p:spPr>
          <a:xfrm>
            <a:off x="411480" y="12161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100" noProof="0" dirty="0">
                <a:solidFill>
                  <a:srgbClr val="8B9AB0"/>
                </a:solidFill>
              </a:rPr>
              <a:t>Renovación de LMK Key Block. Ejemplo: 3DES Key Block → AES-256 Key Block.</a:t>
            </a:r>
            <a:endParaRPr lang="es-419" sz="1100" noProof="0" dirty="0"/>
          </a:p>
        </p:txBody>
      </p:sp>
      <p:sp>
        <p:nvSpPr>
          <p:cNvPr id="7" name="Shape 5"/>
          <p:cNvSpPr/>
          <p:nvPr/>
        </p:nvSpPr>
        <p:spPr>
          <a:xfrm>
            <a:off x="411480" y="1527048"/>
            <a:ext cx="832104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8" name="Shape 6"/>
          <p:cNvSpPr/>
          <p:nvPr/>
        </p:nvSpPr>
        <p:spPr>
          <a:xfrm>
            <a:off x="411480" y="1664208"/>
            <a:ext cx="8321040" cy="274320"/>
          </a:xfrm>
          <a:prstGeom prst="rect">
            <a:avLst/>
          </a:prstGeom>
          <a:solidFill>
            <a:srgbClr val="120000"/>
          </a:solidFill>
          <a:ln w="190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C8D0DC"/>
                </a:solidFill>
              </a:rPr>
              <a:t>Aplica cuando: el banco ya opera con Key Block y necesita rotar la LMK o migrar de 3DES Key Block a AES-256 Key Block. No se puede revertir a </a:t>
            </a:r>
            <a:r>
              <a:rPr lang="es-419" sz="950" noProof="0" dirty="0" err="1">
                <a:solidFill>
                  <a:srgbClr val="C8D0DC"/>
                </a:solidFill>
              </a:rPr>
              <a:t>Variant</a:t>
            </a:r>
            <a:r>
              <a:rPr lang="es-419" sz="950" noProof="0" dirty="0">
                <a:solidFill>
                  <a:srgbClr val="C8D0DC"/>
                </a:solidFill>
              </a:rPr>
              <a:t>.</a:t>
            </a:r>
            <a:endParaRPr lang="es-419" sz="950" noProof="0" dirty="0"/>
          </a:p>
        </p:txBody>
      </p:sp>
      <p:sp>
        <p:nvSpPr>
          <p:cNvPr id="10" name="Shape 8"/>
          <p:cNvSpPr/>
          <p:nvPr/>
        </p:nvSpPr>
        <p:spPr>
          <a:xfrm>
            <a:off x="411480" y="2029968"/>
            <a:ext cx="4023360" cy="1234440"/>
          </a:xfrm>
          <a:prstGeom prst="rect">
            <a:avLst/>
          </a:prstGeom>
          <a:solidFill>
            <a:srgbClr val="1A1A1A"/>
          </a:solidFill>
          <a:ln w="19050">
            <a:solidFill>
              <a:srgbClr val="CC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1" name="Shape 9"/>
          <p:cNvSpPr/>
          <p:nvPr/>
        </p:nvSpPr>
        <p:spPr>
          <a:xfrm>
            <a:off x="411480" y="2029968"/>
            <a:ext cx="4023360" cy="2743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2" name="Text 10"/>
          <p:cNvSpPr/>
          <p:nvPr/>
        </p:nvSpPr>
        <p:spPr>
          <a:xfrm>
            <a:off x="502920" y="20299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FFFFFF"/>
                </a:solidFill>
              </a:rPr>
              <a:t>PASO 1 · Consola HSM (</a:t>
            </a:r>
            <a:r>
              <a:rPr lang="es-419" sz="950" b="1" noProof="0" dirty="0" err="1">
                <a:solidFill>
                  <a:srgbClr val="FFFFFF"/>
                </a:solidFill>
              </a:rPr>
              <a:t>Secure-Authorized</a:t>
            </a:r>
            <a:r>
              <a:rPr lang="es-419" sz="950" b="1" noProof="0" dirty="0">
                <a:solidFill>
                  <a:srgbClr val="FFFFFF"/>
                </a:solidFill>
              </a:rPr>
              <a:t>)</a:t>
            </a:r>
            <a:endParaRPr lang="es-419" sz="950" noProof="0" dirty="0"/>
          </a:p>
        </p:txBody>
      </p:sp>
      <p:sp>
        <p:nvSpPr>
          <p:cNvPr id="13" name="Text 11"/>
          <p:cNvSpPr/>
          <p:nvPr/>
        </p:nvSpPr>
        <p:spPr>
          <a:xfrm>
            <a:off x="548640" y="235000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La LMK Key Block actual ya debe estar operativa (slot principal)</a:t>
            </a:r>
            <a:endParaRPr lang="es-419" sz="900" noProof="0" dirty="0"/>
          </a:p>
        </p:txBody>
      </p:sp>
      <p:sp>
        <p:nvSpPr>
          <p:cNvPr id="14" name="Text 12"/>
          <p:cNvSpPr/>
          <p:nvPr/>
        </p:nvSpPr>
        <p:spPr>
          <a:xfrm>
            <a:off x="548640" y="263347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Cargar la nueva LMK Key Block en Key Change Storage con comando LN</a:t>
            </a:r>
            <a:endParaRPr lang="es-419" sz="900" noProof="0" dirty="0"/>
          </a:p>
        </p:txBody>
      </p:sp>
      <p:sp>
        <p:nvSpPr>
          <p:cNvPr id="15" name="Text 13"/>
          <p:cNvSpPr/>
          <p:nvPr/>
        </p:nvSpPr>
        <p:spPr>
          <a:xfrm>
            <a:off x="548640" y="291693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Verificar con VT: Actual = Key Block, New = Key Block (nueva)</a:t>
            </a:r>
            <a:endParaRPr lang="es-419" sz="900" noProof="0" dirty="0"/>
          </a:p>
        </p:txBody>
      </p:sp>
      <p:sp>
        <p:nvSpPr>
          <p:cNvPr id="16" name="Shape 14"/>
          <p:cNvSpPr/>
          <p:nvPr/>
        </p:nvSpPr>
        <p:spPr>
          <a:xfrm>
            <a:off x="4617720" y="2029968"/>
            <a:ext cx="4023360" cy="1234440"/>
          </a:xfrm>
          <a:prstGeom prst="rect">
            <a:avLst/>
          </a:prstGeom>
          <a:solidFill>
            <a:srgbClr val="1A1A1A"/>
          </a:solidFill>
          <a:ln w="19050">
            <a:solidFill>
              <a:srgbClr val="C9940A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7" name="Shape 15"/>
          <p:cNvSpPr/>
          <p:nvPr/>
        </p:nvSpPr>
        <p:spPr>
          <a:xfrm>
            <a:off x="4617720" y="2029968"/>
            <a:ext cx="4023360" cy="274320"/>
          </a:xfrm>
          <a:prstGeom prst="rect">
            <a:avLst/>
          </a:prstGeom>
          <a:solidFill>
            <a:srgbClr val="C9940A"/>
          </a:solidFill>
          <a:ln w="12700">
            <a:solidFill>
              <a:srgbClr val="C9940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8" name="Text 16"/>
          <p:cNvSpPr/>
          <p:nvPr/>
        </p:nvSpPr>
        <p:spPr>
          <a:xfrm>
            <a:off x="4709160" y="20299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FFFFFF"/>
                </a:solidFill>
              </a:rPr>
              <a:t>PASO 2 · Inventario desde Oracle</a:t>
            </a:r>
            <a:endParaRPr lang="es-419" sz="950" noProof="0" dirty="0"/>
          </a:p>
        </p:txBody>
      </p:sp>
      <p:sp>
        <p:nvSpPr>
          <p:cNvPr id="19" name="Text 17"/>
          <p:cNvSpPr/>
          <p:nvPr/>
        </p:nvSpPr>
        <p:spPr>
          <a:xfrm>
            <a:off x="4754880" y="235000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Consultar Oracle: obtener todos los </a:t>
            </a:r>
            <a:r>
              <a:rPr lang="es-419" sz="900" noProof="0" dirty="0" err="1">
                <a:solidFill>
                  <a:srgbClr val="C8D0DC"/>
                </a:solidFill>
              </a:rPr>
              <a:t>key</a:t>
            </a:r>
            <a:r>
              <a:rPr lang="es-419" sz="900" noProof="0" dirty="0">
                <a:solidFill>
                  <a:srgbClr val="C8D0DC"/>
                </a:solidFill>
              </a:rPr>
              <a:t> blocks cifrados bajo LMK actual</a:t>
            </a:r>
            <a:endParaRPr lang="es-419" sz="900" noProof="0" dirty="0"/>
          </a:p>
        </p:txBody>
      </p:sp>
      <p:sp>
        <p:nvSpPr>
          <p:cNvPr id="20" name="Text 18"/>
          <p:cNvSpPr/>
          <p:nvPr/>
        </p:nvSpPr>
        <p:spPr>
          <a:xfrm>
            <a:off x="4754880" y="263347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Registrar KCV de cada </a:t>
            </a:r>
            <a:r>
              <a:rPr lang="es-419" sz="900" noProof="0" dirty="0" err="1">
                <a:solidFill>
                  <a:srgbClr val="C8D0DC"/>
                </a:solidFill>
              </a:rPr>
              <a:t>key</a:t>
            </a:r>
            <a:r>
              <a:rPr lang="es-419" sz="900" noProof="0" dirty="0">
                <a:solidFill>
                  <a:srgbClr val="C8D0DC"/>
                </a:solidFill>
              </a:rPr>
              <a:t> block como referencia de validación</a:t>
            </a:r>
            <a:endParaRPr lang="es-419" sz="900" noProof="0" dirty="0"/>
          </a:p>
        </p:txBody>
      </p:sp>
      <p:sp>
        <p:nvSpPr>
          <p:cNvPr id="21" name="Text 19"/>
          <p:cNvSpPr/>
          <p:nvPr/>
        </p:nvSpPr>
        <p:spPr>
          <a:xfrm>
            <a:off x="4754880" y="291693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El tipo y uso de cada clave están embebidos en la cabecera TR-31 del bloque</a:t>
            </a:r>
            <a:endParaRPr lang="es-419" sz="900" noProof="0" dirty="0"/>
          </a:p>
        </p:txBody>
      </p:sp>
      <p:sp>
        <p:nvSpPr>
          <p:cNvPr id="22" name="Shape 20"/>
          <p:cNvSpPr/>
          <p:nvPr/>
        </p:nvSpPr>
        <p:spPr>
          <a:xfrm>
            <a:off x="411480" y="3355848"/>
            <a:ext cx="4023360" cy="1234440"/>
          </a:xfrm>
          <a:prstGeom prst="rect">
            <a:avLst/>
          </a:prstGeom>
          <a:solidFill>
            <a:srgbClr val="1A1A1A"/>
          </a:solidFill>
          <a:ln w="19050">
            <a:solidFill>
              <a:srgbClr val="CC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3" name="Shape 21"/>
          <p:cNvSpPr/>
          <p:nvPr/>
        </p:nvSpPr>
        <p:spPr>
          <a:xfrm>
            <a:off x="411480" y="3355848"/>
            <a:ext cx="4023360" cy="2743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4" name="Text 22"/>
          <p:cNvSpPr/>
          <p:nvPr/>
        </p:nvSpPr>
        <p:spPr>
          <a:xfrm>
            <a:off x="502920" y="33558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FFFFFF"/>
                </a:solidFill>
              </a:rPr>
              <a:t>PASO 3 · Migración con BW (AIX)</a:t>
            </a:r>
            <a:endParaRPr lang="es-419" sz="950" noProof="0" dirty="0"/>
          </a:p>
        </p:txBody>
      </p:sp>
      <p:sp>
        <p:nvSpPr>
          <p:cNvPr id="25" name="Text 23"/>
          <p:cNvSpPr/>
          <p:nvPr/>
        </p:nvSpPr>
        <p:spPr>
          <a:xfrm>
            <a:off x="548640" y="367588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El utilitario envía el </a:t>
            </a:r>
            <a:r>
              <a:rPr lang="es-419" sz="900" noProof="0" dirty="0" err="1">
                <a:solidFill>
                  <a:srgbClr val="C8D0DC"/>
                </a:solidFill>
              </a:rPr>
              <a:t>key</a:t>
            </a:r>
            <a:r>
              <a:rPr lang="es-419" sz="900" noProof="0" dirty="0">
                <a:solidFill>
                  <a:srgbClr val="C8D0DC"/>
                </a:solidFill>
              </a:rPr>
              <a:t> block completo al HSM con el comando BW</a:t>
            </a:r>
            <a:endParaRPr lang="es-419" sz="900" noProof="0" dirty="0"/>
          </a:p>
        </p:txBody>
      </p:sp>
      <p:sp>
        <p:nvSpPr>
          <p:cNvPr id="26" name="Text 24"/>
          <p:cNvSpPr/>
          <p:nvPr/>
        </p:nvSpPr>
        <p:spPr>
          <a:xfrm>
            <a:off x="548640" y="395935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El HSM </a:t>
            </a:r>
            <a:r>
              <a:rPr lang="es-419" sz="900" noProof="0" dirty="0" err="1">
                <a:solidFill>
                  <a:srgbClr val="C8D0DC"/>
                </a:solidFill>
              </a:rPr>
              <a:t>re-cifra</a:t>
            </a:r>
            <a:r>
              <a:rPr lang="es-419" sz="900" noProof="0" dirty="0">
                <a:solidFill>
                  <a:srgbClr val="C8D0DC"/>
                </a:solidFill>
              </a:rPr>
              <a:t> el bloque bajo la nueva LMK preservando todos los metadatos</a:t>
            </a:r>
            <a:endParaRPr lang="es-419" sz="900" noProof="0" dirty="0"/>
          </a:p>
        </p:txBody>
      </p:sp>
      <p:sp>
        <p:nvSpPr>
          <p:cNvPr id="27" name="Text 25"/>
          <p:cNvSpPr/>
          <p:nvPr/>
        </p:nvSpPr>
        <p:spPr>
          <a:xfrm>
            <a:off x="548640" y="424281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Verificar KCV del </a:t>
            </a:r>
            <a:r>
              <a:rPr lang="es-419" sz="900" noProof="0" dirty="0" err="1">
                <a:solidFill>
                  <a:srgbClr val="C8D0DC"/>
                </a:solidFill>
              </a:rPr>
              <a:t>key</a:t>
            </a:r>
            <a:r>
              <a:rPr lang="es-419" sz="900" noProof="0" dirty="0">
                <a:solidFill>
                  <a:srgbClr val="C8D0DC"/>
                </a:solidFill>
              </a:rPr>
              <a:t> block retornado vs KCV registrado — deben ser iguales</a:t>
            </a:r>
            <a:endParaRPr lang="es-419" sz="900" noProof="0" dirty="0"/>
          </a:p>
        </p:txBody>
      </p:sp>
      <p:sp>
        <p:nvSpPr>
          <p:cNvPr id="28" name="Shape 26"/>
          <p:cNvSpPr/>
          <p:nvPr/>
        </p:nvSpPr>
        <p:spPr>
          <a:xfrm>
            <a:off x="4617720" y="3355848"/>
            <a:ext cx="4023360" cy="1234440"/>
          </a:xfrm>
          <a:prstGeom prst="rect">
            <a:avLst/>
          </a:prstGeom>
          <a:solidFill>
            <a:srgbClr val="1A1A1A"/>
          </a:solidFill>
          <a:ln w="19050">
            <a:solidFill>
              <a:srgbClr val="1FA84A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9" name="Shape 27"/>
          <p:cNvSpPr/>
          <p:nvPr/>
        </p:nvSpPr>
        <p:spPr>
          <a:xfrm>
            <a:off x="4617720" y="3355848"/>
            <a:ext cx="4023360" cy="274320"/>
          </a:xfrm>
          <a:prstGeom prst="rect">
            <a:avLst/>
          </a:prstGeom>
          <a:solidFill>
            <a:srgbClr val="1FA84A"/>
          </a:solidFill>
          <a:ln w="12700">
            <a:solidFill>
              <a:srgbClr val="1FA84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0" name="Text 28"/>
          <p:cNvSpPr/>
          <p:nvPr/>
        </p:nvSpPr>
        <p:spPr>
          <a:xfrm>
            <a:off x="4709160" y="33558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FFFFFF"/>
                </a:solidFill>
              </a:rPr>
              <a:t>PASO 4 · Cierre y validación</a:t>
            </a:r>
            <a:endParaRPr lang="es-419" sz="950" noProof="0" dirty="0"/>
          </a:p>
        </p:txBody>
      </p:sp>
      <p:sp>
        <p:nvSpPr>
          <p:cNvPr id="31" name="Text 29"/>
          <p:cNvSpPr/>
          <p:nvPr/>
        </p:nvSpPr>
        <p:spPr>
          <a:xfrm>
            <a:off x="4754880" y="367588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Actualizar Oracle con los nuevos </a:t>
            </a:r>
            <a:r>
              <a:rPr lang="es-419" sz="900" noProof="0" dirty="0" err="1">
                <a:solidFill>
                  <a:srgbClr val="C8D0DC"/>
                </a:solidFill>
              </a:rPr>
              <a:t>key</a:t>
            </a:r>
            <a:r>
              <a:rPr lang="es-419" sz="900" noProof="0" dirty="0">
                <a:solidFill>
                  <a:srgbClr val="C8D0DC"/>
                </a:solidFill>
              </a:rPr>
              <a:t> blocks bajo la nueva LMK Key Block</a:t>
            </a:r>
            <a:endParaRPr lang="es-419" sz="900" noProof="0" dirty="0"/>
          </a:p>
        </p:txBody>
      </p:sp>
      <p:sp>
        <p:nvSpPr>
          <p:cNvPr id="32" name="Text 30"/>
          <p:cNvSpPr/>
          <p:nvPr/>
        </p:nvSpPr>
        <p:spPr>
          <a:xfrm>
            <a:off x="4754880" y="395935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Ejecutar BS en consola para borrar el Key Change Storage</a:t>
            </a:r>
            <a:endParaRPr lang="es-419" sz="900" noProof="0" dirty="0"/>
          </a:p>
        </p:txBody>
      </p:sp>
      <p:sp>
        <p:nvSpPr>
          <p:cNvPr id="33" name="Text 31"/>
          <p:cNvSpPr/>
          <p:nvPr/>
        </p:nvSpPr>
        <p:spPr>
          <a:xfrm>
            <a:off x="4754880" y="424281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Ejecutar V para verificar integridad del LMK Store y correr certificación</a:t>
            </a:r>
            <a:endParaRPr lang="es-419" sz="900" noProof="0" dirty="0"/>
          </a:p>
        </p:txBody>
      </p:sp>
      <p:sp>
        <p:nvSpPr>
          <p:cNvPr id="34" name="Shape 3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Shape 1"/>
          <p:cNvSpPr/>
          <p:nvPr/>
        </p:nvSpPr>
        <p:spPr>
          <a:xfrm>
            <a:off x="411480" y="146304"/>
            <a:ext cx="2743200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" name="Text 2"/>
          <p:cNvSpPr/>
          <p:nvPr/>
        </p:nvSpPr>
        <p:spPr>
          <a:xfrm>
            <a:off x="411480" y="1463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50" b="1" noProof="0" dirty="0">
                <a:solidFill>
                  <a:srgbClr val="FFFFFF"/>
                </a:solidFill>
              </a:rPr>
              <a:t>08 · IMPLICANCIAS TÉCNICAS · AIX</a:t>
            </a:r>
            <a:endParaRPr lang="es-419" sz="950" noProof="0" dirty="0"/>
          </a:p>
        </p:txBody>
      </p:sp>
      <p:sp>
        <p:nvSpPr>
          <p:cNvPr id="5" name="Text 3"/>
          <p:cNvSpPr/>
          <p:nvPr/>
        </p:nvSpPr>
        <p:spPr>
          <a:xfrm>
            <a:off x="411480" y="52120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s-419" sz="2600" b="1" noProof="0" dirty="0">
                <a:solidFill>
                  <a:srgbClr val="FFFFFF"/>
                </a:solidFill>
              </a:rPr>
              <a:t>Implicancias Técnicas — Desarrollo en AIX</a:t>
            </a:r>
            <a:endParaRPr lang="es-419" sz="2600" noProof="0" dirty="0"/>
          </a:p>
        </p:txBody>
      </p:sp>
      <p:sp>
        <p:nvSpPr>
          <p:cNvPr id="6" name="Text 4"/>
          <p:cNvSpPr/>
          <p:nvPr/>
        </p:nvSpPr>
        <p:spPr>
          <a:xfrm>
            <a:off x="411480" y="12161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100" noProof="0" dirty="0">
                <a:solidFill>
                  <a:srgbClr val="8B9AB0"/>
                </a:solidFill>
              </a:rPr>
              <a:t>Nuevo utilitario en C requerido. Conexión TCP/IP al HSM. BD Oracle.</a:t>
            </a:r>
            <a:endParaRPr lang="es-419" sz="1100" noProof="0" dirty="0"/>
          </a:p>
        </p:txBody>
      </p:sp>
      <p:sp>
        <p:nvSpPr>
          <p:cNvPr id="7" name="Shape 5"/>
          <p:cNvSpPr/>
          <p:nvPr/>
        </p:nvSpPr>
        <p:spPr>
          <a:xfrm>
            <a:off x="411480" y="1527048"/>
            <a:ext cx="832104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8" name="Shape 6"/>
          <p:cNvSpPr/>
          <p:nvPr/>
        </p:nvSpPr>
        <p:spPr>
          <a:xfrm>
            <a:off x="411480" y="1664208"/>
            <a:ext cx="8321040" cy="274320"/>
          </a:xfrm>
          <a:prstGeom prst="rect">
            <a:avLst/>
          </a:prstGeom>
          <a:solidFill>
            <a:srgbClr val="120000"/>
          </a:solidFill>
          <a:ln w="1905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C8D0DC"/>
                </a:solidFill>
              </a:rPr>
              <a:t>No existe actualmente un utilitario en AIX que ejecute la migración de LMK en el HSM Thales. Debe desarrollarse un nuevo binario en C. El desarrollo está en curso.</a:t>
            </a:r>
            <a:endParaRPr lang="es-419" sz="950" noProof="0" dirty="0"/>
          </a:p>
        </p:txBody>
      </p:sp>
      <p:sp>
        <p:nvSpPr>
          <p:cNvPr id="10" name="Shape 8"/>
          <p:cNvSpPr/>
          <p:nvPr/>
        </p:nvSpPr>
        <p:spPr>
          <a:xfrm>
            <a:off x="411480" y="2029968"/>
            <a:ext cx="4023360" cy="1234440"/>
          </a:xfrm>
          <a:prstGeom prst="rect">
            <a:avLst/>
          </a:prstGeom>
          <a:solidFill>
            <a:srgbClr val="1A1A1A"/>
          </a:solidFill>
          <a:ln w="19050">
            <a:solidFill>
              <a:srgbClr val="CC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1" name="Shape 9"/>
          <p:cNvSpPr/>
          <p:nvPr/>
        </p:nvSpPr>
        <p:spPr>
          <a:xfrm>
            <a:off x="411480" y="2029968"/>
            <a:ext cx="4023360" cy="2743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2" name="Text 10"/>
          <p:cNvSpPr/>
          <p:nvPr/>
        </p:nvSpPr>
        <p:spPr>
          <a:xfrm>
            <a:off x="502920" y="20299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FFFFFF"/>
                </a:solidFill>
              </a:rPr>
              <a:t>Binario C para AIX</a:t>
            </a:r>
            <a:endParaRPr lang="es-419" sz="950" noProof="0" dirty="0"/>
          </a:p>
        </p:txBody>
      </p:sp>
      <p:sp>
        <p:nvSpPr>
          <p:cNvPr id="13" name="Text 11"/>
          <p:cNvSpPr/>
          <p:nvPr/>
        </p:nvSpPr>
        <p:spPr>
          <a:xfrm>
            <a:off x="548640" y="235000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Compilado nativamente para IBM AIX (arquitectura POWER)</a:t>
            </a:r>
            <a:endParaRPr lang="es-419" sz="900" noProof="0" dirty="0"/>
          </a:p>
        </p:txBody>
      </p:sp>
      <p:sp>
        <p:nvSpPr>
          <p:cNvPr id="14" name="Text 12"/>
          <p:cNvSpPr/>
          <p:nvPr/>
        </p:nvSpPr>
        <p:spPr>
          <a:xfrm>
            <a:off x="548640" y="258775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Socket TCP/IP: conecta al HSM Thales en el puerto configurado</a:t>
            </a:r>
            <a:endParaRPr lang="es-419" sz="900" noProof="0" dirty="0"/>
          </a:p>
        </p:txBody>
      </p:sp>
      <p:sp>
        <p:nvSpPr>
          <p:cNvPr id="15" name="Text 13"/>
          <p:cNvSpPr/>
          <p:nvPr/>
        </p:nvSpPr>
        <p:spPr>
          <a:xfrm>
            <a:off x="548640" y="282549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Implementa protocolo de mensajes del HSM (BW, A0, BS, L6, L8)</a:t>
            </a:r>
            <a:endParaRPr lang="es-419" sz="900" noProof="0" dirty="0"/>
          </a:p>
        </p:txBody>
      </p:sp>
      <p:sp>
        <p:nvSpPr>
          <p:cNvPr id="16" name="Text 14"/>
          <p:cNvSpPr/>
          <p:nvPr/>
        </p:nvSpPr>
        <p:spPr>
          <a:xfrm>
            <a:off x="548640" y="306324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Manejo seguro en memoria — claves nunca en logs ni en texto claro</a:t>
            </a:r>
            <a:endParaRPr lang="es-419" sz="900" noProof="0" dirty="0"/>
          </a:p>
        </p:txBody>
      </p:sp>
      <p:sp>
        <p:nvSpPr>
          <p:cNvPr id="17" name="Shape 15"/>
          <p:cNvSpPr/>
          <p:nvPr/>
        </p:nvSpPr>
        <p:spPr>
          <a:xfrm>
            <a:off x="4617720" y="2029968"/>
            <a:ext cx="4023360" cy="1234440"/>
          </a:xfrm>
          <a:prstGeom prst="rect">
            <a:avLst/>
          </a:prstGeom>
          <a:solidFill>
            <a:srgbClr val="1A1A1A"/>
          </a:solidFill>
          <a:ln w="19050">
            <a:solidFill>
              <a:srgbClr val="C9940A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8" name="Shape 16"/>
          <p:cNvSpPr/>
          <p:nvPr/>
        </p:nvSpPr>
        <p:spPr>
          <a:xfrm>
            <a:off x="4617720" y="2029968"/>
            <a:ext cx="4023360" cy="274320"/>
          </a:xfrm>
          <a:prstGeom prst="rect">
            <a:avLst/>
          </a:prstGeom>
          <a:solidFill>
            <a:srgbClr val="C9940A"/>
          </a:solidFill>
          <a:ln w="12700">
            <a:solidFill>
              <a:srgbClr val="C9940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9" name="Text 17"/>
          <p:cNvSpPr/>
          <p:nvPr/>
        </p:nvSpPr>
        <p:spPr>
          <a:xfrm>
            <a:off x="4709160" y="20299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FFFFFF"/>
                </a:solidFill>
              </a:rPr>
              <a:t>Integración Oracle </a:t>
            </a:r>
            <a:r>
              <a:rPr lang="es-419" sz="950" b="1" noProof="0" dirty="0" err="1">
                <a:solidFill>
                  <a:srgbClr val="FFFFFF"/>
                </a:solidFill>
              </a:rPr>
              <a:t>Database</a:t>
            </a:r>
            <a:endParaRPr lang="es-419" sz="950" noProof="0" dirty="0"/>
          </a:p>
        </p:txBody>
      </p:sp>
      <p:sp>
        <p:nvSpPr>
          <p:cNvPr id="20" name="Text 18"/>
          <p:cNvSpPr/>
          <p:nvPr/>
        </p:nvSpPr>
        <p:spPr>
          <a:xfrm>
            <a:off x="4754880" y="235000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Lee inventario de claves desde Oracle (tabla </a:t>
            </a:r>
            <a:r>
              <a:rPr lang="es-419" sz="900" noProof="0" dirty="0" err="1">
                <a:solidFill>
                  <a:srgbClr val="C8D0DC"/>
                </a:solidFill>
              </a:rPr>
              <a:t>claves_trabajo</a:t>
            </a:r>
            <a:r>
              <a:rPr lang="es-419" sz="900" noProof="0" dirty="0">
                <a:solidFill>
                  <a:srgbClr val="C8D0DC"/>
                </a:solidFill>
              </a:rPr>
              <a:t>)</a:t>
            </a:r>
            <a:endParaRPr lang="es-419" sz="900" noProof="0" dirty="0"/>
          </a:p>
        </p:txBody>
      </p:sp>
      <p:sp>
        <p:nvSpPr>
          <p:cNvPr id="21" name="Text 19"/>
          <p:cNvSpPr/>
          <p:nvPr/>
        </p:nvSpPr>
        <p:spPr>
          <a:xfrm>
            <a:off x="4754880" y="258775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Registra KCV de referencia </a:t>
            </a:r>
            <a:r>
              <a:rPr lang="es-419" sz="900" noProof="0" dirty="0" err="1">
                <a:solidFill>
                  <a:srgbClr val="C8D0DC"/>
                </a:solidFill>
              </a:rPr>
              <a:t>pre-migración</a:t>
            </a:r>
            <a:r>
              <a:rPr lang="es-419" sz="900" noProof="0" dirty="0">
                <a:solidFill>
                  <a:srgbClr val="C8D0DC"/>
                </a:solidFill>
              </a:rPr>
              <a:t> en tabla de auditoría</a:t>
            </a:r>
            <a:endParaRPr lang="es-419" sz="900" noProof="0" dirty="0"/>
          </a:p>
        </p:txBody>
      </p:sp>
      <p:sp>
        <p:nvSpPr>
          <p:cNvPr id="22" name="Text 20"/>
          <p:cNvSpPr/>
          <p:nvPr/>
        </p:nvSpPr>
        <p:spPr>
          <a:xfrm>
            <a:off x="4754880" y="282549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Actualiza Oracle solo si el KCV retornado por el HSM es válido</a:t>
            </a:r>
            <a:endParaRPr lang="es-419" sz="900" noProof="0" dirty="0"/>
          </a:p>
        </p:txBody>
      </p:sp>
      <p:sp>
        <p:nvSpPr>
          <p:cNvPr id="23" name="Text 21"/>
          <p:cNvSpPr/>
          <p:nvPr/>
        </p:nvSpPr>
        <p:spPr>
          <a:xfrm>
            <a:off x="4754880" y="306324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Log por clave: permite retomar la migración sin duplicar registros</a:t>
            </a:r>
            <a:endParaRPr lang="es-419" sz="900" noProof="0" dirty="0"/>
          </a:p>
        </p:txBody>
      </p:sp>
      <p:sp>
        <p:nvSpPr>
          <p:cNvPr id="24" name="Shape 22"/>
          <p:cNvSpPr/>
          <p:nvPr/>
        </p:nvSpPr>
        <p:spPr>
          <a:xfrm>
            <a:off x="411480" y="3355848"/>
            <a:ext cx="4023360" cy="1234440"/>
          </a:xfrm>
          <a:prstGeom prst="rect">
            <a:avLst/>
          </a:prstGeom>
          <a:solidFill>
            <a:srgbClr val="1A1A1A"/>
          </a:solidFill>
          <a:ln w="19050">
            <a:solidFill>
              <a:srgbClr val="2563A8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5" name="Shape 23"/>
          <p:cNvSpPr/>
          <p:nvPr/>
        </p:nvSpPr>
        <p:spPr>
          <a:xfrm>
            <a:off x="411480" y="3355848"/>
            <a:ext cx="4023360" cy="27432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6" name="Text 24"/>
          <p:cNvSpPr/>
          <p:nvPr/>
        </p:nvSpPr>
        <p:spPr>
          <a:xfrm>
            <a:off x="502920" y="33558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FFFFFF"/>
                </a:solidFill>
              </a:rPr>
              <a:t>Entregables del Proyecto</a:t>
            </a:r>
            <a:endParaRPr lang="es-419" sz="950" noProof="0" dirty="0"/>
          </a:p>
        </p:txBody>
      </p:sp>
      <p:sp>
        <p:nvSpPr>
          <p:cNvPr id="27" name="Text 25"/>
          <p:cNvSpPr/>
          <p:nvPr/>
        </p:nvSpPr>
        <p:spPr>
          <a:xfrm>
            <a:off x="548640" y="367588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Binario ejecutable: </a:t>
            </a:r>
            <a:r>
              <a:rPr lang="es-419" sz="900" noProof="0" dirty="0" err="1">
                <a:solidFill>
                  <a:srgbClr val="C8D0DC"/>
                </a:solidFill>
              </a:rPr>
              <a:t>migrar_lmk</a:t>
            </a:r>
            <a:r>
              <a:rPr lang="es-419" sz="900" noProof="0" dirty="0">
                <a:solidFill>
                  <a:srgbClr val="C8D0DC"/>
                </a:solidFill>
              </a:rPr>
              <a:t> (AIX, arquitectura POWER)</a:t>
            </a:r>
            <a:endParaRPr lang="es-419" sz="900" noProof="0" dirty="0"/>
          </a:p>
        </p:txBody>
      </p:sp>
      <p:sp>
        <p:nvSpPr>
          <p:cNvPr id="28" name="Text 26"/>
          <p:cNvSpPr/>
          <p:nvPr/>
        </p:nvSpPr>
        <p:spPr>
          <a:xfrm>
            <a:off x="548640" y="391363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Archivo de </a:t>
            </a:r>
            <a:r>
              <a:rPr lang="es-419" sz="900" noProof="0" dirty="0" err="1">
                <a:solidFill>
                  <a:srgbClr val="C8D0DC"/>
                </a:solidFill>
              </a:rPr>
              <a:t>config</a:t>
            </a:r>
            <a:r>
              <a:rPr lang="es-419" sz="900" noProof="0" dirty="0">
                <a:solidFill>
                  <a:srgbClr val="C8D0DC"/>
                </a:solidFill>
              </a:rPr>
              <a:t>: IP HSM, puerto TCP, LMK ID, conexión Oracle</a:t>
            </a:r>
            <a:endParaRPr lang="es-419" sz="900" noProof="0" dirty="0"/>
          </a:p>
        </p:txBody>
      </p:sp>
      <p:sp>
        <p:nvSpPr>
          <p:cNvPr id="29" name="Text 27"/>
          <p:cNvSpPr/>
          <p:nvPr/>
        </p:nvSpPr>
        <p:spPr>
          <a:xfrm>
            <a:off x="548640" y="415137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Script </a:t>
            </a:r>
            <a:r>
              <a:rPr lang="es-419" sz="900" noProof="0" dirty="0" err="1">
                <a:solidFill>
                  <a:srgbClr val="C8D0DC"/>
                </a:solidFill>
              </a:rPr>
              <a:t>pre-migración</a:t>
            </a:r>
            <a:r>
              <a:rPr lang="es-419" sz="900" noProof="0" dirty="0">
                <a:solidFill>
                  <a:srgbClr val="C8D0DC"/>
                </a:solidFill>
              </a:rPr>
              <a:t> (inventario KCV) y post (validación masiva)</a:t>
            </a:r>
            <a:endParaRPr lang="es-419" sz="900" noProof="0" dirty="0"/>
          </a:p>
        </p:txBody>
      </p:sp>
      <p:sp>
        <p:nvSpPr>
          <p:cNvPr id="30" name="Text 28"/>
          <p:cNvSpPr/>
          <p:nvPr/>
        </p:nvSpPr>
        <p:spPr>
          <a:xfrm>
            <a:off x="548640" y="43891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Manual de operación para el equipo de Seguridad e Infraestructura</a:t>
            </a:r>
            <a:endParaRPr lang="es-419" sz="900" noProof="0" dirty="0"/>
          </a:p>
        </p:txBody>
      </p:sp>
      <p:sp>
        <p:nvSpPr>
          <p:cNvPr id="31" name="Shape 29"/>
          <p:cNvSpPr/>
          <p:nvPr/>
        </p:nvSpPr>
        <p:spPr>
          <a:xfrm>
            <a:off x="4617720" y="3355848"/>
            <a:ext cx="4023360" cy="1234440"/>
          </a:xfrm>
          <a:prstGeom prst="rect">
            <a:avLst/>
          </a:prstGeom>
          <a:solidFill>
            <a:srgbClr val="1A1A1A"/>
          </a:solidFill>
          <a:ln w="1905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32" name="Shape 30"/>
          <p:cNvSpPr/>
          <p:nvPr/>
        </p:nvSpPr>
        <p:spPr>
          <a:xfrm>
            <a:off x="4617720" y="3355848"/>
            <a:ext cx="402336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3" name="Text 31"/>
          <p:cNvSpPr/>
          <p:nvPr/>
        </p:nvSpPr>
        <p:spPr>
          <a:xfrm>
            <a:off x="4709160" y="33558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FFFFFF"/>
                </a:solidFill>
              </a:rPr>
              <a:t>Consideraciones de Ejecución</a:t>
            </a:r>
            <a:endParaRPr lang="es-419" sz="950" noProof="0" dirty="0"/>
          </a:p>
        </p:txBody>
      </p:sp>
      <p:sp>
        <p:nvSpPr>
          <p:cNvPr id="34" name="Text 32"/>
          <p:cNvSpPr/>
          <p:nvPr/>
        </p:nvSpPr>
        <p:spPr>
          <a:xfrm>
            <a:off x="4754880" y="367588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Ejecución idempotente: puede correrse en etapas sin corromper datos</a:t>
            </a:r>
            <a:endParaRPr lang="es-419" sz="900" noProof="0" dirty="0"/>
          </a:p>
        </p:txBody>
      </p:sp>
      <p:sp>
        <p:nvSpPr>
          <p:cNvPr id="35" name="Text 33"/>
          <p:cNvSpPr/>
          <p:nvPr/>
        </p:nvSpPr>
        <p:spPr>
          <a:xfrm>
            <a:off x="4754880" y="391363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Tiempo proporcional al volumen de claves en Oracle</a:t>
            </a:r>
            <a:endParaRPr lang="es-419" sz="900" noProof="0" dirty="0"/>
          </a:p>
        </p:txBody>
      </p:sp>
      <p:sp>
        <p:nvSpPr>
          <p:cNvPr id="36" name="Text 34"/>
          <p:cNvSpPr/>
          <p:nvPr/>
        </p:nvSpPr>
        <p:spPr>
          <a:xfrm>
            <a:off x="4754880" y="415137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Pruebas obligatorias en HSM de QA/test antes de producción</a:t>
            </a:r>
            <a:endParaRPr lang="es-419" sz="900" noProof="0" dirty="0"/>
          </a:p>
        </p:txBody>
      </p:sp>
      <p:sp>
        <p:nvSpPr>
          <p:cNvPr id="37" name="Text 35"/>
          <p:cNvSpPr/>
          <p:nvPr/>
        </p:nvSpPr>
        <p:spPr>
          <a:xfrm>
            <a:off x="4754880" y="43891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C8D0DC"/>
                </a:solidFill>
              </a:rPr>
              <a:t>▸  Ventana de cambio coordinada con el frente AS400 (</a:t>
            </a:r>
            <a:r>
              <a:rPr lang="es-419" sz="900" noProof="0" dirty="0" err="1">
                <a:solidFill>
                  <a:srgbClr val="C8D0DC"/>
                </a:solidFill>
              </a:rPr>
              <a:t>AZCrypto</a:t>
            </a:r>
            <a:r>
              <a:rPr lang="es-419" sz="900" noProof="0" dirty="0">
                <a:solidFill>
                  <a:srgbClr val="C8D0DC"/>
                </a:solidFill>
              </a:rPr>
              <a:t>)</a:t>
            </a:r>
            <a:endParaRPr lang="es-419" sz="900" noProof="0" dirty="0"/>
          </a:p>
        </p:txBody>
      </p:sp>
      <p:sp>
        <p:nvSpPr>
          <p:cNvPr id="38" name="Shape 3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Shape 1"/>
          <p:cNvSpPr/>
          <p:nvPr/>
        </p:nvSpPr>
        <p:spPr>
          <a:xfrm>
            <a:off x="411480" y="146304"/>
            <a:ext cx="2743200" cy="292608"/>
          </a:xfrm>
          <a:prstGeom prst="rect">
            <a:avLst/>
          </a:prstGeom>
          <a:solidFill>
            <a:srgbClr val="C9940A"/>
          </a:solidFill>
          <a:ln w="12700">
            <a:solidFill>
              <a:srgbClr val="C9940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" name="Text 2"/>
          <p:cNvSpPr/>
          <p:nvPr/>
        </p:nvSpPr>
        <p:spPr>
          <a:xfrm>
            <a:off x="411480" y="1463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50" b="1" noProof="0" dirty="0">
                <a:solidFill>
                  <a:srgbClr val="FFFFFF"/>
                </a:solidFill>
              </a:rPr>
              <a:t>09 · FRENTE AS400 · MK</a:t>
            </a:r>
            <a:endParaRPr lang="es-419" sz="950" noProof="0" dirty="0"/>
          </a:p>
        </p:txBody>
      </p:sp>
      <p:sp>
        <p:nvSpPr>
          <p:cNvPr id="5" name="Text 3"/>
          <p:cNvSpPr/>
          <p:nvPr/>
        </p:nvSpPr>
        <p:spPr>
          <a:xfrm>
            <a:off x="411480" y="52120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s-419" sz="2600" b="1" noProof="0" dirty="0">
                <a:solidFill>
                  <a:srgbClr val="FFFFFF"/>
                </a:solidFill>
              </a:rPr>
              <a:t>Migración de MK — Tarjeta Criptográfica (AS400)</a:t>
            </a:r>
            <a:endParaRPr lang="es-419" sz="2600" noProof="0" dirty="0"/>
          </a:p>
        </p:txBody>
      </p:sp>
      <p:sp>
        <p:nvSpPr>
          <p:cNvPr id="6" name="Text 4"/>
          <p:cNvSpPr/>
          <p:nvPr/>
        </p:nvSpPr>
        <p:spPr>
          <a:xfrm>
            <a:off x="411480" y="12161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100" noProof="0" dirty="0">
                <a:solidFill>
                  <a:srgbClr val="8B9AB0"/>
                </a:solidFill>
              </a:rPr>
              <a:t>Proceso ya implementado con el utilitario </a:t>
            </a:r>
            <a:r>
              <a:rPr lang="es-419" sz="1100" noProof="0" dirty="0" err="1">
                <a:solidFill>
                  <a:srgbClr val="8B9AB0"/>
                </a:solidFill>
              </a:rPr>
              <a:t>AZCrypto</a:t>
            </a:r>
            <a:r>
              <a:rPr lang="es-419" sz="1100" noProof="0" dirty="0">
                <a:solidFill>
                  <a:srgbClr val="8B9AB0"/>
                </a:solidFill>
              </a:rPr>
              <a:t>. MK1 → MK2.</a:t>
            </a:r>
            <a:endParaRPr lang="es-419" sz="1100" noProof="0" dirty="0"/>
          </a:p>
        </p:txBody>
      </p:sp>
      <p:sp>
        <p:nvSpPr>
          <p:cNvPr id="7" name="Shape 5"/>
          <p:cNvSpPr/>
          <p:nvPr/>
        </p:nvSpPr>
        <p:spPr>
          <a:xfrm>
            <a:off x="411480" y="1527048"/>
            <a:ext cx="832104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8" name="Shape 6"/>
          <p:cNvSpPr/>
          <p:nvPr/>
        </p:nvSpPr>
        <p:spPr>
          <a:xfrm>
            <a:off x="411480" y="1664208"/>
            <a:ext cx="8321040" cy="292608"/>
          </a:xfrm>
          <a:prstGeom prst="rect">
            <a:avLst/>
          </a:prstGeom>
          <a:solidFill>
            <a:srgbClr val="001A00"/>
          </a:solidFill>
          <a:ln w="19050">
            <a:solidFill>
              <a:srgbClr val="1FA84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000" noProof="0" dirty="0">
                <a:solidFill>
                  <a:srgbClr val="1FA84A"/>
                </a:solidFill>
              </a:rPr>
              <a:t>✅  Este frente ya tiene un proceso y utilitario definidos. </a:t>
            </a:r>
            <a:r>
              <a:rPr lang="es-419" sz="1000" noProof="0" dirty="0" err="1">
                <a:solidFill>
                  <a:srgbClr val="1FA84A"/>
                </a:solidFill>
              </a:rPr>
              <a:t>AZCrypto</a:t>
            </a:r>
            <a:r>
              <a:rPr lang="es-419" sz="1000" noProof="0" dirty="0">
                <a:solidFill>
                  <a:srgbClr val="1FA84A"/>
                </a:solidFill>
              </a:rPr>
              <a:t> fue desarrollado y ejecutado para la migración Master Key 1 → Master Key 2. Se reutilizará el mismo procedimiento.</a:t>
            </a:r>
            <a:endParaRPr lang="es-419" sz="1000" noProof="0" dirty="0"/>
          </a:p>
        </p:txBody>
      </p:sp>
      <p:sp>
        <p:nvSpPr>
          <p:cNvPr id="10" name="Shape 8"/>
          <p:cNvSpPr/>
          <p:nvPr/>
        </p:nvSpPr>
        <p:spPr>
          <a:xfrm>
            <a:off x="411480" y="2048256"/>
            <a:ext cx="3931920" cy="2697480"/>
          </a:xfrm>
          <a:prstGeom prst="rect">
            <a:avLst/>
          </a:prstGeom>
          <a:solidFill>
            <a:srgbClr val="1A1A1A"/>
          </a:solidFill>
          <a:ln w="19050">
            <a:solidFill>
              <a:srgbClr val="C9940A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1" name="Shape 9"/>
          <p:cNvSpPr/>
          <p:nvPr/>
        </p:nvSpPr>
        <p:spPr>
          <a:xfrm>
            <a:off x="411480" y="2048256"/>
            <a:ext cx="3931920" cy="274320"/>
          </a:xfrm>
          <a:prstGeom prst="rect">
            <a:avLst/>
          </a:prstGeom>
          <a:solidFill>
            <a:srgbClr val="C9940A"/>
          </a:solidFill>
          <a:ln w="12700">
            <a:solidFill>
              <a:srgbClr val="C9940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2" name="Text 10"/>
          <p:cNvSpPr/>
          <p:nvPr/>
        </p:nvSpPr>
        <p:spPr>
          <a:xfrm>
            <a:off x="502920" y="204825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 err="1">
                <a:solidFill>
                  <a:srgbClr val="FFFFFF"/>
                </a:solidFill>
              </a:rPr>
              <a:t>AZCrypto</a:t>
            </a:r>
            <a:r>
              <a:rPr lang="es-419" sz="950" b="1" noProof="0" dirty="0">
                <a:solidFill>
                  <a:srgbClr val="FFFFFF"/>
                </a:solidFill>
              </a:rPr>
              <a:t> — ¿Qué es y qué hace?</a:t>
            </a:r>
            <a:endParaRPr lang="es-419" sz="950" noProof="0" dirty="0"/>
          </a:p>
        </p:txBody>
      </p:sp>
      <p:sp>
        <p:nvSpPr>
          <p:cNvPr id="13" name="Text 11"/>
          <p:cNvSpPr/>
          <p:nvPr/>
        </p:nvSpPr>
        <p:spPr>
          <a:xfrm>
            <a:off x="548640" y="2395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C8D0DC"/>
                </a:solidFill>
              </a:rPr>
              <a:t>Utilitario de migración de Master Key (MK) para la tarjeta criptográfica del servidor AS400 (</a:t>
            </a:r>
            <a:r>
              <a:rPr lang="es-419" sz="950" noProof="0" dirty="0" err="1">
                <a:solidFill>
                  <a:srgbClr val="C8D0DC"/>
                </a:solidFill>
              </a:rPr>
              <a:t>iSeries</a:t>
            </a:r>
            <a:r>
              <a:rPr lang="es-419" sz="950" noProof="0" dirty="0">
                <a:solidFill>
                  <a:srgbClr val="C8D0DC"/>
                </a:solidFill>
              </a:rPr>
              <a:t>).</a:t>
            </a:r>
            <a:endParaRPr lang="es-419" sz="950" noProof="0" dirty="0"/>
          </a:p>
        </p:txBody>
      </p:sp>
      <p:sp>
        <p:nvSpPr>
          <p:cNvPr id="14" name="Text 12"/>
          <p:cNvSpPr/>
          <p:nvPr/>
        </p:nvSpPr>
        <p:spPr>
          <a:xfrm>
            <a:off x="548640" y="28895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C8D0DC"/>
                </a:solidFill>
              </a:rPr>
              <a:t>Ejecuta la lógica de </a:t>
            </a:r>
            <a:r>
              <a:rPr lang="es-419" sz="950" noProof="0" dirty="0" err="1">
                <a:solidFill>
                  <a:srgbClr val="C8D0DC"/>
                </a:solidFill>
              </a:rPr>
              <a:t>re-cifrado</a:t>
            </a:r>
            <a:r>
              <a:rPr lang="es-419" sz="950" noProof="0" dirty="0">
                <a:solidFill>
                  <a:srgbClr val="C8D0DC"/>
                </a:solidFill>
              </a:rPr>
              <a:t> de claves bajo la nueva MK, equivalente conceptualmente al BW del HSM Thales, pero en el entorno AS400.</a:t>
            </a:r>
            <a:endParaRPr lang="es-419" sz="950" noProof="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C8D0DC"/>
                </a:solidFill>
              </a:rPr>
              <a:t>Proceso: Master Key 1 (MK1 — antigua) → Master Key 2 (MK2 — nueva).</a:t>
            </a:r>
            <a:endParaRPr lang="es-419" sz="950" noProof="0" dirty="0"/>
          </a:p>
        </p:txBody>
      </p:sp>
      <p:sp>
        <p:nvSpPr>
          <p:cNvPr id="16" name="Text 14"/>
          <p:cNvSpPr/>
          <p:nvPr/>
        </p:nvSpPr>
        <p:spPr>
          <a:xfrm>
            <a:off x="548640" y="3877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C8D0DC"/>
                </a:solidFill>
              </a:rPr>
              <a:t>Ya fue utilizado y validado en una migración anterior con éxito.</a:t>
            </a:r>
            <a:endParaRPr lang="es-419" sz="950" noProof="0" dirty="0"/>
          </a:p>
        </p:txBody>
      </p:sp>
      <p:sp>
        <p:nvSpPr>
          <p:cNvPr id="17" name="Shape 15"/>
          <p:cNvSpPr/>
          <p:nvPr/>
        </p:nvSpPr>
        <p:spPr>
          <a:xfrm>
            <a:off x="4572000" y="2048256"/>
            <a:ext cx="4160520" cy="2697480"/>
          </a:xfrm>
          <a:prstGeom prst="rect">
            <a:avLst/>
          </a:prstGeom>
          <a:solidFill>
            <a:srgbClr val="1A1A1A"/>
          </a:solidFill>
          <a:ln w="19050">
            <a:solidFill>
              <a:srgbClr val="CC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8" name="Shape 16"/>
          <p:cNvSpPr/>
          <p:nvPr/>
        </p:nvSpPr>
        <p:spPr>
          <a:xfrm>
            <a:off x="4572000" y="2048256"/>
            <a:ext cx="4160520" cy="2743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9" name="Text 17"/>
          <p:cNvSpPr/>
          <p:nvPr/>
        </p:nvSpPr>
        <p:spPr>
          <a:xfrm>
            <a:off x="4663440" y="20482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FFFFFF"/>
                </a:solidFill>
              </a:rPr>
              <a:t>PASOS DEL PROCESO </a:t>
            </a:r>
            <a:r>
              <a:rPr lang="es-419" sz="950" b="1" noProof="0" dirty="0" err="1">
                <a:solidFill>
                  <a:srgbClr val="FFFFFF"/>
                </a:solidFill>
              </a:rPr>
              <a:t>AZCrypto</a:t>
            </a:r>
            <a:endParaRPr lang="es-419" sz="950" noProof="0" dirty="0"/>
          </a:p>
        </p:txBody>
      </p:sp>
      <p:sp>
        <p:nvSpPr>
          <p:cNvPr id="20" name="Shape 18"/>
          <p:cNvSpPr/>
          <p:nvPr/>
        </p:nvSpPr>
        <p:spPr>
          <a:xfrm>
            <a:off x="4690872" y="2414016"/>
            <a:ext cx="237744" cy="23774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1" name="Text 19"/>
          <p:cNvSpPr/>
          <p:nvPr/>
        </p:nvSpPr>
        <p:spPr>
          <a:xfrm>
            <a:off x="4690872" y="24140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rgbClr val="FFFFFF"/>
                </a:solidFill>
              </a:rPr>
              <a:t>1</a:t>
            </a:r>
            <a:endParaRPr lang="es-419" sz="900" noProof="0" dirty="0"/>
          </a:p>
        </p:txBody>
      </p:sp>
      <p:sp>
        <p:nvSpPr>
          <p:cNvPr id="22" name="Text 20"/>
          <p:cNvSpPr/>
          <p:nvPr/>
        </p:nvSpPr>
        <p:spPr>
          <a:xfrm>
            <a:off x="4992624" y="241401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C8D0DC"/>
                </a:solidFill>
              </a:rPr>
              <a:t>Generar nueva Master Key (MK2) en la tarjeta criptográfica</a:t>
            </a:r>
            <a:endParaRPr lang="es-419" sz="950" noProof="0" dirty="0"/>
          </a:p>
        </p:txBody>
      </p:sp>
      <p:sp>
        <p:nvSpPr>
          <p:cNvPr id="23" name="Shape 21"/>
          <p:cNvSpPr/>
          <p:nvPr/>
        </p:nvSpPr>
        <p:spPr>
          <a:xfrm>
            <a:off x="4690872" y="2761488"/>
            <a:ext cx="237744" cy="23774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4" name="Text 22"/>
          <p:cNvSpPr/>
          <p:nvPr/>
        </p:nvSpPr>
        <p:spPr>
          <a:xfrm>
            <a:off x="4690872" y="27614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rgbClr val="FFFFFF"/>
                </a:solidFill>
              </a:rPr>
              <a:t>2</a:t>
            </a:r>
            <a:endParaRPr lang="es-419" sz="900" noProof="0" dirty="0"/>
          </a:p>
        </p:txBody>
      </p:sp>
      <p:sp>
        <p:nvSpPr>
          <p:cNvPr id="25" name="Text 23"/>
          <p:cNvSpPr/>
          <p:nvPr/>
        </p:nvSpPr>
        <p:spPr>
          <a:xfrm>
            <a:off x="4992624" y="27614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C8D0DC"/>
                </a:solidFill>
              </a:rPr>
              <a:t>Cargar MK2 en el entorno del servidor AS400</a:t>
            </a:r>
            <a:endParaRPr lang="es-419" sz="950" noProof="0" dirty="0"/>
          </a:p>
        </p:txBody>
      </p:sp>
      <p:sp>
        <p:nvSpPr>
          <p:cNvPr id="26" name="Shape 24"/>
          <p:cNvSpPr/>
          <p:nvPr/>
        </p:nvSpPr>
        <p:spPr>
          <a:xfrm>
            <a:off x="4690872" y="3108960"/>
            <a:ext cx="237744" cy="23774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7" name="Text 25"/>
          <p:cNvSpPr/>
          <p:nvPr/>
        </p:nvSpPr>
        <p:spPr>
          <a:xfrm>
            <a:off x="4690872" y="31089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rgbClr val="FFFFFF"/>
                </a:solidFill>
              </a:rPr>
              <a:t>3</a:t>
            </a:r>
            <a:endParaRPr lang="es-419" sz="900" noProof="0" dirty="0"/>
          </a:p>
        </p:txBody>
      </p:sp>
      <p:sp>
        <p:nvSpPr>
          <p:cNvPr id="28" name="Text 26"/>
          <p:cNvSpPr/>
          <p:nvPr/>
        </p:nvSpPr>
        <p:spPr>
          <a:xfrm>
            <a:off x="4992624" y="31089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C8D0DC"/>
                </a:solidFill>
              </a:rPr>
              <a:t>Ejecutar </a:t>
            </a:r>
            <a:r>
              <a:rPr lang="es-419" sz="950" noProof="0" dirty="0" err="1">
                <a:solidFill>
                  <a:srgbClr val="C8D0DC"/>
                </a:solidFill>
              </a:rPr>
              <a:t>AZCrypto</a:t>
            </a:r>
            <a:r>
              <a:rPr lang="es-419" sz="950" noProof="0" dirty="0">
                <a:solidFill>
                  <a:srgbClr val="C8D0DC"/>
                </a:solidFill>
              </a:rPr>
              <a:t> para </a:t>
            </a:r>
            <a:r>
              <a:rPr lang="es-419" sz="950" noProof="0" dirty="0" err="1">
                <a:solidFill>
                  <a:srgbClr val="C8D0DC"/>
                </a:solidFill>
              </a:rPr>
              <a:t>re-cifrar</a:t>
            </a:r>
            <a:r>
              <a:rPr lang="es-419" sz="950" noProof="0" dirty="0">
                <a:solidFill>
                  <a:srgbClr val="C8D0DC"/>
                </a:solidFill>
              </a:rPr>
              <a:t> todas las claves bajo MK2</a:t>
            </a:r>
            <a:endParaRPr lang="es-419" sz="950" noProof="0" dirty="0"/>
          </a:p>
        </p:txBody>
      </p:sp>
      <p:sp>
        <p:nvSpPr>
          <p:cNvPr id="29" name="Shape 27"/>
          <p:cNvSpPr/>
          <p:nvPr/>
        </p:nvSpPr>
        <p:spPr>
          <a:xfrm>
            <a:off x="4690872" y="3456432"/>
            <a:ext cx="237744" cy="23774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0" name="Text 28"/>
          <p:cNvSpPr/>
          <p:nvPr/>
        </p:nvSpPr>
        <p:spPr>
          <a:xfrm>
            <a:off x="4690872" y="34564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rgbClr val="FFFFFF"/>
                </a:solidFill>
              </a:rPr>
              <a:t>4</a:t>
            </a:r>
            <a:endParaRPr lang="es-419" sz="900" noProof="0" dirty="0"/>
          </a:p>
        </p:txBody>
      </p:sp>
      <p:sp>
        <p:nvSpPr>
          <p:cNvPr id="31" name="Text 29"/>
          <p:cNvSpPr/>
          <p:nvPr/>
        </p:nvSpPr>
        <p:spPr>
          <a:xfrm>
            <a:off x="4992624" y="34564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C8D0DC"/>
                </a:solidFill>
              </a:rPr>
              <a:t>Validar KCV antes y después de cada clave </a:t>
            </a:r>
            <a:r>
              <a:rPr lang="es-419" sz="950" noProof="0" dirty="0" err="1">
                <a:solidFill>
                  <a:srgbClr val="C8D0DC"/>
                </a:solidFill>
              </a:rPr>
              <a:t>re-cifrada</a:t>
            </a:r>
            <a:endParaRPr lang="es-419" sz="950" noProof="0" dirty="0"/>
          </a:p>
        </p:txBody>
      </p:sp>
      <p:sp>
        <p:nvSpPr>
          <p:cNvPr id="32" name="Shape 30"/>
          <p:cNvSpPr/>
          <p:nvPr/>
        </p:nvSpPr>
        <p:spPr>
          <a:xfrm>
            <a:off x="4690872" y="3803904"/>
            <a:ext cx="237744" cy="23774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3" name="Text 31"/>
          <p:cNvSpPr/>
          <p:nvPr/>
        </p:nvSpPr>
        <p:spPr>
          <a:xfrm>
            <a:off x="4690872" y="38039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rgbClr val="FFFFFF"/>
                </a:solidFill>
              </a:rPr>
              <a:t>5</a:t>
            </a:r>
            <a:endParaRPr lang="es-419" sz="900" noProof="0" dirty="0"/>
          </a:p>
        </p:txBody>
      </p:sp>
      <p:sp>
        <p:nvSpPr>
          <p:cNvPr id="34" name="Text 32"/>
          <p:cNvSpPr/>
          <p:nvPr/>
        </p:nvSpPr>
        <p:spPr>
          <a:xfrm>
            <a:off x="4992624" y="380390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C8D0DC"/>
                </a:solidFill>
              </a:rPr>
              <a:t>Actualizar registros en la BD interna del AS400</a:t>
            </a:r>
            <a:endParaRPr lang="es-419" sz="950" noProof="0" dirty="0"/>
          </a:p>
        </p:txBody>
      </p:sp>
      <p:sp>
        <p:nvSpPr>
          <p:cNvPr id="35" name="Shape 33"/>
          <p:cNvSpPr/>
          <p:nvPr/>
        </p:nvSpPr>
        <p:spPr>
          <a:xfrm>
            <a:off x="4690872" y="4151376"/>
            <a:ext cx="237744" cy="23774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6" name="Text 34"/>
          <p:cNvSpPr/>
          <p:nvPr/>
        </p:nvSpPr>
        <p:spPr>
          <a:xfrm>
            <a:off x="4690872" y="41513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rgbClr val="FFFFFF"/>
                </a:solidFill>
              </a:rPr>
              <a:t>6</a:t>
            </a:r>
            <a:endParaRPr lang="es-419" sz="900" noProof="0" dirty="0"/>
          </a:p>
        </p:txBody>
      </p:sp>
      <p:sp>
        <p:nvSpPr>
          <p:cNvPr id="37" name="Text 35"/>
          <p:cNvSpPr/>
          <p:nvPr/>
        </p:nvSpPr>
        <p:spPr>
          <a:xfrm>
            <a:off x="4992624" y="415137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C8D0DC"/>
                </a:solidFill>
              </a:rPr>
              <a:t>Verificar operaciones </a:t>
            </a:r>
            <a:r>
              <a:rPr lang="es-419" sz="950" noProof="0" dirty="0" err="1">
                <a:solidFill>
                  <a:srgbClr val="C8D0DC"/>
                </a:solidFill>
              </a:rPr>
              <a:t>end-to-end</a:t>
            </a:r>
            <a:r>
              <a:rPr lang="es-419" sz="950" noProof="0" dirty="0">
                <a:solidFill>
                  <a:srgbClr val="C8D0DC"/>
                </a:solidFill>
              </a:rPr>
              <a:t> en AS400 </a:t>
            </a:r>
            <a:r>
              <a:rPr lang="es-419" sz="950" noProof="0" dirty="0" err="1">
                <a:solidFill>
                  <a:srgbClr val="C8D0DC"/>
                </a:solidFill>
              </a:rPr>
              <a:t>post-migración</a:t>
            </a:r>
            <a:endParaRPr lang="es-419" sz="950" noProof="0" dirty="0"/>
          </a:p>
        </p:txBody>
      </p:sp>
      <p:sp>
        <p:nvSpPr>
          <p:cNvPr id="38" name="Shape 36"/>
          <p:cNvSpPr/>
          <p:nvPr/>
        </p:nvSpPr>
        <p:spPr>
          <a:xfrm>
            <a:off x="411480" y="4828032"/>
            <a:ext cx="8321040" cy="292608"/>
          </a:xfrm>
          <a:prstGeom prst="rect">
            <a:avLst/>
          </a:prstGeom>
          <a:solidFill>
            <a:srgbClr val="120000"/>
          </a:solidFill>
          <a:ln w="12700">
            <a:solidFill>
              <a:srgbClr val="C9940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9" name="Text 37"/>
          <p:cNvSpPr/>
          <p:nvPr/>
        </p:nvSpPr>
        <p:spPr>
          <a:xfrm>
            <a:off x="502920" y="4828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000" noProof="0" dirty="0">
                <a:solidFill>
                  <a:srgbClr val="C9940A"/>
                </a:solidFill>
              </a:rPr>
              <a:t>Diferencia clave: la MK de AS400 NO es una LMK del HSM Thales. Son entornos independientes. El KCV tiene el mismo rol validador en ambos frentes.</a:t>
            </a:r>
            <a:endParaRPr lang="es-419" sz="1000" noProof="0" dirty="0"/>
          </a:p>
        </p:txBody>
      </p:sp>
      <p:sp>
        <p:nvSpPr>
          <p:cNvPr id="40" name="Shape 38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C9940A"/>
          </a:solidFill>
          <a:ln w="12700">
            <a:solidFill>
              <a:srgbClr val="C9940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Shape 1"/>
          <p:cNvSpPr/>
          <p:nvPr/>
        </p:nvSpPr>
        <p:spPr>
          <a:xfrm>
            <a:off x="411480" y="146304"/>
            <a:ext cx="2743200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" name="Text 2"/>
          <p:cNvSpPr/>
          <p:nvPr/>
        </p:nvSpPr>
        <p:spPr>
          <a:xfrm>
            <a:off x="411480" y="1463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50" b="1" noProof="0" dirty="0">
                <a:solidFill>
                  <a:srgbClr val="FFFFFF"/>
                </a:solidFill>
              </a:rPr>
              <a:t>10 · SEGURIDAD</a:t>
            </a:r>
            <a:endParaRPr lang="es-419" sz="950" noProof="0" dirty="0"/>
          </a:p>
        </p:txBody>
      </p:sp>
      <p:sp>
        <p:nvSpPr>
          <p:cNvPr id="5" name="Text 3"/>
          <p:cNvSpPr/>
          <p:nvPr/>
        </p:nvSpPr>
        <p:spPr>
          <a:xfrm>
            <a:off x="411480" y="52120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s-419" sz="2600" b="1" noProof="0" dirty="0">
                <a:solidFill>
                  <a:srgbClr val="FFFFFF"/>
                </a:solidFill>
              </a:rPr>
              <a:t>Seguridad, Beneficios y Restricciones</a:t>
            </a:r>
            <a:endParaRPr lang="es-419" sz="2600" noProof="0" dirty="0"/>
          </a:p>
        </p:txBody>
      </p:sp>
      <p:sp>
        <p:nvSpPr>
          <p:cNvPr id="6" name="Text 4"/>
          <p:cNvSpPr/>
          <p:nvPr/>
        </p:nvSpPr>
        <p:spPr>
          <a:xfrm>
            <a:off x="411480" y="12161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100" noProof="0" dirty="0">
                <a:solidFill>
                  <a:srgbClr val="8B9AB0"/>
                </a:solidFill>
              </a:rPr>
              <a:t>Ambos frentes (LMK Thales y MK AS400) comparten los mismos principios de seguridad</a:t>
            </a:r>
            <a:endParaRPr lang="es-419" sz="1100" noProof="0" dirty="0"/>
          </a:p>
        </p:txBody>
      </p:sp>
      <p:sp>
        <p:nvSpPr>
          <p:cNvPr id="7" name="Shape 5"/>
          <p:cNvSpPr/>
          <p:nvPr/>
        </p:nvSpPr>
        <p:spPr>
          <a:xfrm>
            <a:off x="411480" y="1527048"/>
            <a:ext cx="832104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8" name="Shape 6"/>
          <p:cNvSpPr/>
          <p:nvPr/>
        </p:nvSpPr>
        <p:spPr>
          <a:xfrm>
            <a:off x="411480" y="1664208"/>
            <a:ext cx="8321040" cy="25603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9" name="Text 7"/>
          <p:cNvSpPr/>
          <p:nvPr/>
        </p:nvSpPr>
        <p:spPr>
          <a:xfrm>
            <a:off x="411480" y="16642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000" b="1" noProof="0" dirty="0">
                <a:solidFill>
                  <a:srgbClr val="FFFFFF"/>
                </a:solidFill>
              </a:rPr>
              <a:t>BENEFICIOS</a:t>
            </a:r>
            <a:endParaRPr lang="es-419" sz="1000" noProof="0" dirty="0"/>
          </a:p>
        </p:txBody>
      </p:sp>
      <p:sp>
        <p:nvSpPr>
          <p:cNvPr id="10" name="Shape 8"/>
          <p:cNvSpPr/>
          <p:nvPr/>
        </p:nvSpPr>
        <p:spPr>
          <a:xfrm>
            <a:off x="411480" y="1956816"/>
            <a:ext cx="1965960" cy="841248"/>
          </a:xfrm>
          <a:prstGeom prst="rect">
            <a:avLst/>
          </a:prstGeom>
          <a:solidFill>
            <a:srgbClr val="1A1A1A"/>
          </a:solidFill>
          <a:ln w="19050">
            <a:solidFill>
              <a:srgbClr val="CC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1" name="Text 9"/>
          <p:cNvSpPr/>
          <p:nvPr/>
        </p:nvSpPr>
        <p:spPr>
          <a:xfrm>
            <a:off x="502920" y="19842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050" b="1" noProof="0" dirty="0">
                <a:solidFill>
                  <a:srgbClr val="FFFFFF"/>
                </a:solidFill>
              </a:rPr>
              <a:t>🔒 Zero exposición</a:t>
            </a:r>
            <a:endParaRPr lang="es-419" sz="1050" noProof="0" dirty="0"/>
          </a:p>
        </p:txBody>
      </p:sp>
      <p:sp>
        <p:nvSpPr>
          <p:cNvPr id="12" name="Text 10"/>
          <p:cNvSpPr/>
          <p:nvPr/>
        </p:nvSpPr>
        <p:spPr>
          <a:xfrm>
            <a:off x="502920" y="2249424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8B9AB0"/>
                </a:solidFill>
              </a:rPr>
              <a:t>Las claves nunca salen en texto claro del HSM ni de la tarjeta criptográfica</a:t>
            </a:r>
            <a:endParaRPr lang="es-419" sz="900" noProof="0" dirty="0"/>
          </a:p>
        </p:txBody>
      </p:sp>
      <p:sp>
        <p:nvSpPr>
          <p:cNvPr id="13" name="Shape 11"/>
          <p:cNvSpPr/>
          <p:nvPr/>
        </p:nvSpPr>
        <p:spPr>
          <a:xfrm>
            <a:off x="2514600" y="1956816"/>
            <a:ext cx="1965960" cy="841248"/>
          </a:xfrm>
          <a:prstGeom prst="rect">
            <a:avLst/>
          </a:prstGeom>
          <a:solidFill>
            <a:srgbClr val="1A1A1A"/>
          </a:solidFill>
          <a:ln w="19050">
            <a:solidFill>
              <a:srgbClr val="CC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4" name="Text 12"/>
          <p:cNvSpPr/>
          <p:nvPr/>
        </p:nvSpPr>
        <p:spPr>
          <a:xfrm>
            <a:off x="2606040" y="19842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050" b="1" noProof="0" dirty="0">
                <a:solidFill>
                  <a:srgbClr val="FFFFFF"/>
                </a:solidFill>
              </a:rPr>
              <a:t>📋 Cumplimiento PCI</a:t>
            </a:r>
            <a:endParaRPr lang="es-419" sz="1050" noProof="0" dirty="0"/>
          </a:p>
        </p:txBody>
      </p:sp>
      <p:sp>
        <p:nvSpPr>
          <p:cNvPr id="15" name="Text 13"/>
          <p:cNvSpPr/>
          <p:nvPr/>
        </p:nvSpPr>
        <p:spPr>
          <a:xfrm>
            <a:off x="2606040" y="2249424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8B9AB0"/>
                </a:solidFill>
              </a:rPr>
              <a:t>Key Block exigido por PCI HSM v3. La migración es parte del cumplimiento normativo</a:t>
            </a:r>
            <a:endParaRPr lang="es-419" sz="900" noProof="0" dirty="0"/>
          </a:p>
        </p:txBody>
      </p:sp>
      <p:sp>
        <p:nvSpPr>
          <p:cNvPr id="16" name="Shape 14"/>
          <p:cNvSpPr/>
          <p:nvPr/>
        </p:nvSpPr>
        <p:spPr>
          <a:xfrm>
            <a:off x="4617720" y="1956816"/>
            <a:ext cx="1965960" cy="841248"/>
          </a:xfrm>
          <a:prstGeom prst="rect">
            <a:avLst/>
          </a:prstGeom>
          <a:solidFill>
            <a:srgbClr val="1A1A1A"/>
          </a:solidFill>
          <a:ln w="19050">
            <a:solidFill>
              <a:srgbClr val="CC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7" name="Text 15"/>
          <p:cNvSpPr/>
          <p:nvPr/>
        </p:nvSpPr>
        <p:spPr>
          <a:xfrm>
            <a:off x="4709160" y="19842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050" b="1" noProof="0" dirty="0">
                <a:solidFill>
                  <a:srgbClr val="FFFFFF"/>
                </a:solidFill>
              </a:rPr>
              <a:t>🛡 Uso controlado</a:t>
            </a:r>
            <a:endParaRPr lang="es-419" sz="1050" noProof="0" dirty="0"/>
          </a:p>
        </p:txBody>
      </p:sp>
      <p:sp>
        <p:nvSpPr>
          <p:cNvPr id="18" name="Text 16"/>
          <p:cNvSpPr/>
          <p:nvPr/>
        </p:nvSpPr>
        <p:spPr>
          <a:xfrm>
            <a:off x="4709160" y="2249424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8B9AB0"/>
                </a:solidFill>
              </a:rPr>
              <a:t>Key Block incluye metadatos que impiden el uso de una clave fuera de su propósito</a:t>
            </a:r>
            <a:endParaRPr lang="es-419" sz="900" noProof="0" dirty="0"/>
          </a:p>
        </p:txBody>
      </p:sp>
      <p:sp>
        <p:nvSpPr>
          <p:cNvPr id="19" name="Shape 17"/>
          <p:cNvSpPr/>
          <p:nvPr/>
        </p:nvSpPr>
        <p:spPr>
          <a:xfrm>
            <a:off x="6720840" y="1956816"/>
            <a:ext cx="1965960" cy="841248"/>
          </a:xfrm>
          <a:prstGeom prst="rect">
            <a:avLst/>
          </a:prstGeom>
          <a:solidFill>
            <a:srgbClr val="1A1A1A"/>
          </a:solidFill>
          <a:ln w="19050">
            <a:solidFill>
              <a:srgbClr val="CC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0" name="Text 18"/>
          <p:cNvSpPr/>
          <p:nvPr/>
        </p:nvSpPr>
        <p:spPr>
          <a:xfrm>
            <a:off x="6812280" y="19842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050" b="1" noProof="0" dirty="0">
                <a:solidFill>
                  <a:srgbClr val="FFFFFF"/>
                </a:solidFill>
              </a:rPr>
              <a:t>🔑 Mayor fortaleza</a:t>
            </a:r>
            <a:endParaRPr lang="es-419" sz="1050" noProof="0" dirty="0"/>
          </a:p>
        </p:txBody>
      </p:sp>
      <p:sp>
        <p:nvSpPr>
          <p:cNvPr id="21" name="Text 19"/>
          <p:cNvSpPr/>
          <p:nvPr/>
        </p:nvSpPr>
        <p:spPr>
          <a:xfrm>
            <a:off x="6812280" y="2249424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8B9AB0"/>
                </a:solidFill>
              </a:rPr>
              <a:t>Migración a AES-256 Key Block aumenta significativamente la resistencia criptográfica</a:t>
            </a:r>
            <a:endParaRPr lang="es-419" sz="900" noProof="0" dirty="0"/>
          </a:p>
        </p:txBody>
      </p:sp>
      <p:sp>
        <p:nvSpPr>
          <p:cNvPr id="22" name="Shape 20"/>
          <p:cNvSpPr/>
          <p:nvPr/>
        </p:nvSpPr>
        <p:spPr>
          <a:xfrm>
            <a:off x="411480" y="2871216"/>
            <a:ext cx="8321040" cy="256032"/>
          </a:xfrm>
          <a:prstGeom prst="rect">
            <a:avLst/>
          </a:prstGeom>
          <a:solidFill>
            <a:srgbClr val="280000"/>
          </a:solidFill>
          <a:ln w="12700">
            <a:solidFill>
              <a:srgbClr val="C9940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3" name="Text 21"/>
          <p:cNvSpPr/>
          <p:nvPr/>
        </p:nvSpPr>
        <p:spPr>
          <a:xfrm>
            <a:off x="411480" y="28712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000" b="1" noProof="0" dirty="0">
                <a:solidFill>
                  <a:srgbClr val="C9940A"/>
                </a:solidFill>
              </a:rPr>
              <a:t>RESTRICCIONES Y PUNTOS CRÍTICOS</a:t>
            </a:r>
            <a:endParaRPr lang="es-419" sz="1000" noProof="0" dirty="0"/>
          </a:p>
        </p:txBody>
      </p:sp>
      <p:sp>
        <p:nvSpPr>
          <p:cNvPr id="24" name="Shape 22"/>
          <p:cNvSpPr/>
          <p:nvPr/>
        </p:nvSpPr>
        <p:spPr>
          <a:xfrm>
            <a:off x="411480" y="3182112"/>
            <a:ext cx="2560320" cy="704088"/>
          </a:xfrm>
          <a:prstGeom prst="rect">
            <a:avLst/>
          </a:prstGeom>
          <a:solidFill>
            <a:srgbClr val="1A1A1A"/>
          </a:solidFill>
          <a:ln w="1905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5" name="Text 23"/>
          <p:cNvSpPr/>
          <p:nvPr/>
        </p:nvSpPr>
        <p:spPr>
          <a:xfrm>
            <a:off x="502920" y="32369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D97706"/>
                </a:solidFill>
              </a:rPr>
              <a:t>⛔ Single-DES no migra a Key Block</a:t>
            </a:r>
            <a:endParaRPr lang="es-419" sz="950" noProof="0" dirty="0"/>
          </a:p>
        </p:txBody>
      </p:sp>
      <p:sp>
        <p:nvSpPr>
          <p:cNvPr id="26" name="Text 24"/>
          <p:cNvSpPr/>
          <p:nvPr/>
        </p:nvSpPr>
        <p:spPr>
          <a:xfrm>
            <a:off x="502920" y="3474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8B9AB0"/>
                </a:solidFill>
              </a:rPr>
              <a:t>Deben reemplazarse por </a:t>
            </a:r>
            <a:r>
              <a:rPr lang="es-419" sz="900" noProof="0" dirty="0" err="1">
                <a:solidFill>
                  <a:srgbClr val="8B9AB0"/>
                </a:solidFill>
              </a:rPr>
              <a:t>Double</a:t>
            </a:r>
            <a:r>
              <a:rPr lang="es-419" sz="900" noProof="0" dirty="0">
                <a:solidFill>
                  <a:srgbClr val="8B9AB0"/>
                </a:solidFill>
              </a:rPr>
              <a:t>/Triple-DES antes de migrar.</a:t>
            </a:r>
            <a:endParaRPr lang="es-419" sz="900" noProof="0" dirty="0"/>
          </a:p>
        </p:txBody>
      </p:sp>
      <p:sp>
        <p:nvSpPr>
          <p:cNvPr id="27" name="Shape 25"/>
          <p:cNvSpPr/>
          <p:nvPr/>
        </p:nvSpPr>
        <p:spPr>
          <a:xfrm>
            <a:off x="3154680" y="3182112"/>
            <a:ext cx="2560320" cy="704088"/>
          </a:xfrm>
          <a:prstGeom prst="rect">
            <a:avLst/>
          </a:prstGeom>
          <a:solidFill>
            <a:srgbClr val="1A1A1A"/>
          </a:solidFill>
          <a:ln w="1905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8" name="Text 26"/>
          <p:cNvSpPr/>
          <p:nvPr/>
        </p:nvSpPr>
        <p:spPr>
          <a:xfrm>
            <a:off x="3246120" y="32369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D97706"/>
                </a:solidFill>
              </a:rPr>
              <a:t>🔁 Migración es irreversible</a:t>
            </a:r>
            <a:endParaRPr lang="es-419" sz="950" noProof="0" dirty="0"/>
          </a:p>
        </p:txBody>
      </p:sp>
      <p:sp>
        <p:nvSpPr>
          <p:cNvPr id="29" name="Text 27"/>
          <p:cNvSpPr/>
          <p:nvPr/>
        </p:nvSpPr>
        <p:spPr>
          <a:xfrm>
            <a:off x="3246120" y="3474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8B9AB0"/>
                </a:solidFill>
              </a:rPr>
              <a:t>No se puede volver de Key Block a </a:t>
            </a:r>
            <a:r>
              <a:rPr lang="es-419" sz="900" noProof="0" dirty="0" err="1">
                <a:solidFill>
                  <a:srgbClr val="8B9AB0"/>
                </a:solidFill>
              </a:rPr>
              <a:t>Variant</a:t>
            </a:r>
            <a:r>
              <a:rPr lang="es-419" sz="900" noProof="0" dirty="0">
                <a:solidFill>
                  <a:srgbClr val="8B9AB0"/>
                </a:solidFill>
              </a:rPr>
              <a:t> ni de AES a 3DES.</a:t>
            </a:r>
            <a:endParaRPr lang="es-419" sz="900" noProof="0" dirty="0"/>
          </a:p>
        </p:txBody>
      </p:sp>
      <p:sp>
        <p:nvSpPr>
          <p:cNvPr id="30" name="Shape 28"/>
          <p:cNvSpPr/>
          <p:nvPr/>
        </p:nvSpPr>
        <p:spPr>
          <a:xfrm>
            <a:off x="5897880" y="3182112"/>
            <a:ext cx="2560320" cy="704088"/>
          </a:xfrm>
          <a:prstGeom prst="rect">
            <a:avLst/>
          </a:prstGeom>
          <a:solidFill>
            <a:srgbClr val="1A1A1A"/>
          </a:solidFill>
          <a:ln w="19050">
            <a:solidFill>
              <a:srgbClr val="CC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31" name="Text 29"/>
          <p:cNvSpPr/>
          <p:nvPr/>
        </p:nvSpPr>
        <p:spPr>
          <a:xfrm>
            <a:off x="5989320" y="32369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CC0000"/>
                </a:solidFill>
              </a:rPr>
              <a:t>👮 Autorización formal requerida</a:t>
            </a:r>
            <a:endParaRPr lang="es-419" sz="950" noProof="0" dirty="0"/>
          </a:p>
        </p:txBody>
      </p:sp>
      <p:sp>
        <p:nvSpPr>
          <p:cNvPr id="32" name="Text 30"/>
          <p:cNvSpPr/>
          <p:nvPr/>
        </p:nvSpPr>
        <p:spPr>
          <a:xfrm>
            <a:off x="5989320" y="3474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8B9AB0"/>
                </a:solidFill>
              </a:rPr>
              <a:t>LO y LN requieren estado </a:t>
            </a:r>
            <a:r>
              <a:rPr lang="es-419" sz="900" noProof="0" dirty="0" err="1">
                <a:solidFill>
                  <a:srgbClr val="8B9AB0"/>
                </a:solidFill>
              </a:rPr>
              <a:t>Secure-Authorized</a:t>
            </a:r>
            <a:r>
              <a:rPr lang="es-419" sz="900" noProof="0" dirty="0">
                <a:solidFill>
                  <a:srgbClr val="8B9AB0"/>
                </a:solidFill>
              </a:rPr>
              <a:t> + </a:t>
            </a:r>
            <a:r>
              <a:rPr lang="es-419" sz="900" noProof="0" dirty="0" err="1">
                <a:solidFill>
                  <a:srgbClr val="8B9AB0"/>
                </a:solidFill>
              </a:rPr>
              <a:t>smartcards</a:t>
            </a:r>
            <a:r>
              <a:rPr lang="es-419" sz="900" noProof="0" dirty="0">
                <a:solidFill>
                  <a:srgbClr val="8B9AB0"/>
                </a:solidFill>
              </a:rPr>
              <a:t> de Oficial.</a:t>
            </a:r>
            <a:endParaRPr lang="es-419" sz="900" noProof="0" dirty="0"/>
          </a:p>
        </p:txBody>
      </p:sp>
      <p:sp>
        <p:nvSpPr>
          <p:cNvPr id="33" name="Shape 31"/>
          <p:cNvSpPr/>
          <p:nvPr/>
        </p:nvSpPr>
        <p:spPr>
          <a:xfrm>
            <a:off x="411480" y="3959352"/>
            <a:ext cx="2560320" cy="704088"/>
          </a:xfrm>
          <a:prstGeom prst="rect">
            <a:avLst/>
          </a:prstGeom>
          <a:solidFill>
            <a:srgbClr val="1A1A1A"/>
          </a:solidFill>
          <a:ln w="19050">
            <a:solidFill>
              <a:srgbClr val="1FA84A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34" name="Text 32"/>
          <p:cNvSpPr/>
          <p:nvPr/>
        </p:nvSpPr>
        <p:spPr>
          <a:xfrm>
            <a:off x="502920" y="40142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1FA84A"/>
                </a:solidFill>
              </a:rPr>
              <a:t>🔑 KCV como control de integridad</a:t>
            </a:r>
            <a:endParaRPr lang="es-419" sz="950" noProof="0" dirty="0"/>
          </a:p>
        </p:txBody>
      </p:sp>
      <p:sp>
        <p:nvSpPr>
          <p:cNvPr id="35" name="Text 33"/>
          <p:cNvSpPr/>
          <p:nvPr/>
        </p:nvSpPr>
        <p:spPr>
          <a:xfrm>
            <a:off x="502920" y="4251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8B9AB0"/>
                </a:solidFill>
              </a:rPr>
              <a:t>Idéntico antes y después en ambos frentes. Diferencia = error.</a:t>
            </a:r>
            <a:endParaRPr lang="es-419" sz="900" noProof="0" dirty="0"/>
          </a:p>
        </p:txBody>
      </p:sp>
      <p:sp>
        <p:nvSpPr>
          <p:cNvPr id="36" name="Shape 34"/>
          <p:cNvSpPr/>
          <p:nvPr/>
        </p:nvSpPr>
        <p:spPr>
          <a:xfrm>
            <a:off x="3154680" y="3959352"/>
            <a:ext cx="2560320" cy="704088"/>
          </a:xfrm>
          <a:prstGeom prst="rect">
            <a:avLst/>
          </a:prstGeom>
          <a:solidFill>
            <a:srgbClr val="1A1A1A"/>
          </a:solidFill>
          <a:ln w="19050">
            <a:solidFill>
              <a:srgbClr val="1FA84A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37" name="Text 35"/>
          <p:cNvSpPr/>
          <p:nvPr/>
        </p:nvSpPr>
        <p:spPr>
          <a:xfrm>
            <a:off x="3246120" y="40142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1FA84A"/>
                </a:solidFill>
              </a:rPr>
              <a:t>📝 Audit Log y trazabilidad</a:t>
            </a:r>
            <a:endParaRPr lang="es-419" sz="950" noProof="0" dirty="0"/>
          </a:p>
        </p:txBody>
      </p:sp>
      <p:sp>
        <p:nvSpPr>
          <p:cNvPr id="38" name="Text 36"/>
          <p:cNvSpPr/>
          <p:nvPr/>
        </p:nvSpPr>
        <p:spPr>
          <a:xfrm>
            <a:off x="3246120" y="4251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8B9AB0"/>
                </a:solidFill>
              </a:rPr>
              <a:t>Todas las operaciones quedan en el log del HSM. Requisito PCI DSS.</a:t>
            </a:r>
            <a:endParaRPr lang="es-419" sz="900" noProof="0" dirty="0"/>
          </a:p>
        </p:txBody>
      </p:sp>
      <p:sp>
        <p:nvSpPr>
          <p:cNvPr id="39" name="Shape 37"/>
          <p:cNvSpPr/>
          <p:nvPr/>
        </p:nvSpPr>
        <p:spPr>
          <a:xfrm>
            <a:off x="5897880" y="3959352"/>
            <a:ext cx="2560320" cy="704088"/>
          </a:xfrm>
          <a:prstGeom prst="rect">
            <a:avLst/>
          </a:prstGeom>
          <a:solidFill>
            <a:srgbClr val="1A1A1A"/>
          </a:solidFill>
          <a:ln w="19050">
            <a:solidFill>
              <a:srgbClr val="C9940A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40" name="Text 38"/>
          <p:cNvSpPr/>
          <p:nvPr/>
        </p:nvSpPr>
        <p:spPr>
          <a:xfrm>
            <a:off x="5989320" y="40142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C9940A"/>
                </a:solidFill>
              </a:rPr>
              <a:t>🔐 PKI (RSA) en flujo separado (Thales)</a:t>
            </a:r>
            <a:endParaRPr lang="es-419" sz="950" noProof="0" dirty="0"/>
          </a:p>
        </p:txBody>
      </p:sp>
      <p:sp>
        <p:nvSpPr>
          <p:cNvPr id="41" name="Text 39"/>
          <p:cNvSpPr/>
          <p:nvPr/>
        </p:nvSpPr>
        <p:spPr>
          <a:xfrm>
            <a:off x="5989320" y="4251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8B9AB0"/>
                </a:solidFill>
              </a:rPr>
              <a:t>Llaves RSA usan L6/L8 </a:t>
            </a:r>
            <a:r>
              <a:rPr lang="es-419" sz="900" noProof="0" dirty="0" err="1">
                <a:solidFill>
                  <a:srgbClr val="8B9AB0"/>
                </a:solidFill>
              </a:rPr>
              <a:t>via</a:t>
            </a:r>
            <a:r>
              <a:rPr lang="es-419" sz="900" noProof="0" dirty="0">
                <a:solidFill>
                  <a:srgbClr val="8B9AB0"/>
                </a:solidFill>
              </a:rPr>
              <a:t> ZMK. No pasan por el flujo BW.</a:t>
            </a:r>
            <a:endParaRPr lang="es-419" sz="900" noProof="0" dirty="0"/>
          </a:p>
        </p:txBody>
      </p:sp>
      <p:sp>
        <p:nvSpPr>
          <p:cNvPr id="42" name="Shape 4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Shape 1"/>
          <p:cNvSpPr/>
          <p:nvPr/>
        </p:nvSpPr>
        <p:spPr>
          <a:xfrm>
            <a:off x="411480" y="146304"/>
            <a:ext cx="2743200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" name="Text 2"/>
          <p:cNvSpPr/>
          <p:nvPr/>
        </p:nvSpPr>
        <p:spPr>
          <a:xfrm>
            <a:off x="411480" y="1463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50" b="1" noProof="0" dirty="0">
                <a:solidFill>
                  <a:srgbClr val="FFFFFF"/>
                </a:solidFill>
              </a:rPr>
              <a:t>11 · CERTIFICACIÓN</a:t>
            </a:r>
            <a:endParaRPr lang="es-419" sz="950" noProof="0" dirty="0"/>
          </a:p>
        </p:txBody>
      </p:sp>
      <p:sp>
        <p:nvSpPr>
          <p:cNvPr id="5" name="Text 3"/>
          <p:cNvSpPr/>
          <p:nvPr/>
        </p:nvSpPr>
        <p:spPr>
          <a:xfrm>
            <a:off x="411480" y="52120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s-419" sz="2600" b="1" noProof="0" dirty="0">
                <a:solidFill>
                  <a:srgbClr val="FFFFFF"/>
                </a:solidFill>
              </a:rPr>
              <a:t>Casos de Uso — Certificación Post-Migración</a:t>
            </a:r>
            <a:endParaRPr lang="es-419" sz="2600" noProof="0" dirty="0"/>
          </a:p>
        </p:txBody>
      </p:sp>
      <p:sp>
        <p:nvSpPr>
          <p:cNvPr id="6" name="Text 4"/>
          <p:cNvSpPr/>
          <p:nvPr/>
        </p:nvSpPr>
        <p:spPr>
          <a:xfrm>
            <a:off x="411480" y="12161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100" noProof="0" dirty="0">
                <a:solidFill>
                  <a:srgbClr val="8B9AB0"/>
                </a:solidFill>
              </a:rPr>
              <a:t>Aplica al frente HSM Thales (LMK). </a:t>
            </a:r>
            <a:r>
              <a:rPr lang="es-419" sz="1100" noProof="0" dirty="0" err="1">
                <a:solidFill>
                  <a:srgbClr val="8B9AB0"/>
                </a:solidFill>
              </a:rPr>
              <a:t>AZCrypto</a:t>
            </a:r>
            <a:r>
              <a:rPr lang="es-419" sz="1100" noProof="0" dirty="0">
                <a:solidFill>
                  <a:srgbClr val="8B9AB0"/>
                </a:solidFill>
              </a:rPr>
              <a:t> tiene su propio proceso de validación.</a:t>
            </a:r>
            <a:endParaRPr lang="es-419" sz="1100" noProof="0" dirty="0"/>
          </a:p>
        </p:txBody>
      </p:sp>
      <p:sp>
        <p:nvSpPr>
          <p:cNvPr id="7" name="Shape 5"/>
          <p:cNvSpPr/>
          <p:nvPr/>
        </p:nvSpPr>
        <p:spPr>
          <a:xfrm>
            <a:off x="411480" y="1527048"/>
            <a:ext cx="832104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8" name="Shape 6"/>
          <p:cNvSpPr/>
          <p:nvPr/>
        </p:nvSpPr>
        <p:spPr>
          <a:xfrm>
            <a:off x="411480" y="1783080"/>
            <a:ext cx="2560320" cy="1389888"/>
          </a:xfrm>
          <a:prstGeom prst="rect">
            <a:avLst/>
          </a:prstGeom>
          <a:solidFill>
            <a:srgbClr val="1A1A1A"/>
          </a:solidFill>
          <a:ln w="19050">
            <a:solidFill>
              <a:srgbClr val="CC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9" name="Shape 7"/>
          <p:cNvSpPr/>
          <p:nvPr/>
        </p:nvSpPr>
        <p:spPr>
          <a:xfrm>
            <a:off x="411480" y="1783080"/>
            <a:ext cx="621792" cy="2468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0" name="Text 8"/>
          <p:cNvSpPr/>
          <p:nvPr/>
        </p:nvSpPr>
        <p:spPr>
          <a:xfrm>
            <a:off x="411480" y="178308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rgbClr val="FFFFFF"/>
                </a:solidFill>
              </a:rPr>
              <a:t>CU-01</a:t>
            </a:r>
            <a:endParaRPr lang="es-419" sz="900" noProof="0" dirty="0"/>
          </a:p>
        </p:txBody>
      </p:sp>
      <p:sp>
        <p:nvSpPr>
          <p:cNvPr id="11" name="Text 9"/>
          <p:cNvSpPr/>
          <p:nvPr/>
        </p:nvSpPr>
        <p:spPr>
          <a:xfrm>
            <a:off x="502920" y="206654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000" b="1" noProof="0" dirty="0">
                <a:solidFill>
                  <a:srgbClr val="FFFFFF"/>
                </a:solidFill>
              </a:rPr>
              <a:t>Generación de Clave Nueva</a:t>
            </a:r>
            <a:endParaRPr lang="es-419" sz="1000" noProof="0" dirty="0"/>
          </a:p>
        </p:txBody>
      </p:sp>
      <p:sp>
        <p:nvSpPr>
          <p:cNvPr id="12" name="Text 10"/>
          <p:cNvSpPr/>
          <p:nvPr/>
        </p:nvSpPr>
        <p:spPr>
          <a:xfrm>
            <a:off x="502920" y="2340864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8B9AB0"/>
                </a:solidFill>
              </a:rPr>
              <a:t>Generar una nueva clave de trabajo bajo la nueva LMK.</a:t>
            </a:r>
            <a:endParaRPr lang="es-419" sz="900" noProof="0" dirty="0"/>
          </a:p>
          <a:p>
            <a:pPr marL="0" indent="0">
              <a:buNone/>
            </a:pPr>
            <a:r>
              <a:rPr lang="es-419" sz="900" noProof="0" dirty="0">
                <a:solidFill>
                  <a:srgbClr val="8B9AB0"/>
                </a:solidFill>
              </a:rPr>
              <a:t>Verificar que el KCV coincide con el valor esperado.</a:t>
            </a:r>
            <a:endParaRPr lang="es-419" sz="900" noProof="0" dirty="0"/>
          </a:p>
          <a:p>
            <a:pPr marL="0" indent="0">
              <a:buNone/>
            </a:pPr>
            <a:r>
              <a:rPr lang="es-419" sz="900" noProof="0" dirty="0">
                <a:solidFill>
                  <a:srgbClr val="8B9AB0"/>
                </a:solidFill>
              </a:rPr>
              <a:t>Confirmar que el tipo y uso de la clave son correctos.</a:t>
            </a:r>
            <a:endParaRPr lang="es-419" sz="900" noProof="0" dirty="0"/>
          </a:p>
        </p:txBody>
      </p:sp>
      <p:sp>
        <p:nvSpPr>
          <p:cNvPr id="13" name="Shape 11"/>
          <p:cNvSpPr/>
          <p:nvPr/>
        </p:nvSpPr>
        <p:spPr>
          <a:xfrm>
            <a:off x="3154680" y="1783080"/>
            <a:ext cx="2560320" cy="1389888"/>
          </a:xfrm>
          <a:prstGeom prst="rect">
            <a:avLst/>
          </a:prstGeom>
          <a:solidFill>
            <a:srgbClr val="1A1A1A"/>
          </a:solidFill>
          <a:ln w="19050">
            <a:solidFill>
              <a:srgbClr val="C9940A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4" name="Shape 12"/>
          <p:cNvSpPr/>
          <p:nvPr/>
        </p:nvSpPr>
        <p:spPr>
          <a:xfrm>
            <a:off x="3154680" y="1783080"/>
            <a:ext cx="621792" cy="246888"/>
          </a:xfrm>
          <a:prstGeom prst="rect">
            <a:avLst/>
          </a:prstGeom>
          <a:solidFill>
            <a:srgbClr val="C9940A"/>
          </a:solidFill>
          <a:ln w="12700">
            <a:solidFill>
              <a:srgbClr val="C9940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5" name="Text 13"/>
          <p:cNvSpPr/>
          <p:nvPr/>
        </p:nvSpPr>
        <p:spPr>
          <a:xfrm>
            <a:off x="3154680" y="178308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rgbClr val="FFFFFF"/>
                </a:solidFill>
              </a:rPr>
              <a:t>CU-02</a:t>
            </a:r>
            <a:endParaRPr lang="es-419" sz="900" noProof="0" dirty="0"/>
          </a:p>
        </p:txBody>
      </p:sp>
      <p:sp>
        <p:nvSpPr>
          <p:cNvPr id="16" name="Text 14"/>
          <p:cNvSpPr/>
          <p:nvPr/>
        </p:nvSpPr>
        <p:spPr>
          <a:xfrm>
            <a:off x="3246120" y="206654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000" b="1" noProof="0" dirty="0">
                <a:solidFill>
                  <a:srgbClr val="FFFFFF"/>
                </a:solidFill>
              </a:rPr>
              <a:t>Verificación Masiva de </a:t>
            </a:r>
            <a:r>
              <a:rPr lang="es-419" sz="1000" b="1" noProof="0" dirty="0" err="1">
                <a:solidFill>
                  <a:srgbClr val="FFFFFF"/>
                </a:solidFill>
              </a:rPr>
              <a:t>KCVs</a:t>
            </a:r>
            <a:endParaRPr lang="es-419" sz="1000" noProof="0" dirty="0"/>
          </a:p>
        </p:txBody>
      </p:sp>
      <p:sp>
        <p:nvSpPr>
          <p:cNvPr id="17" name="Text 15"/>
          <p:cNvSpPr/>
          <p:nvPr/>
        </p:nvSpPr>
        <p:spPr>
          <a:xfrm>
            <a:off x="3246120" y="2340864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8B9AB0"/>
                </a:solidFill>
              </a:rPr>
              <a:t>Calcular KCV de cada clave migrada en Oracle.</a:t>
            </a:r>
            <a:endParaRPr lang="es-419" sz="900" noProof="0" dirty="0"/>
          </a:p>
          <a:p>
            <a:pPr marL="0" indent="0">
              <a:buNone/>
            </a:pPr>
            <a:r>
              <a:rPr lang="es-419" sz="900" noProof="0" dirty="0">
                <a:solidFill>
                  <a:srgbClr val="8B9AB0"/>
                </a:solidFill>
              </a:rPr>
              <a:t>Comparar contra el KCV </a:t>
            </a:r>
            <a:r>
              <a:rPr lang="es-419" sz="900" noProof="0" dirty="0" err="1">
                <a:solidFill>
                  <a:srgbClr val="8B9AB0"/>
                </a:solidFill>
              </a:rPr>
              <a:t>pre-migración</a:t>
            </a:r>
            <a:r>
              <a:rPr lang="es-419" sz="900" noProof="0" dirty="0">
                <a:solidFill>
                  <a:srgbClr val="8B9AB0"/>
                </a:solidFill>
              </a:rPr>
              <a:t> registrado en BD.</a:t>
            </a:r>
            <a:endParaRPr lang="es-419" sz="900" noProof="0" dirty="0"/>
          </a:p>
          <a:p>
            <a:pPr marL="0" indent="0">
              <a:buNone/>
            </a:pPr>
            <a:r>
              <a:rPr lang="es-419" sz="900" noProof="0" dirty="0">
                <a:solidFill>
                  <a:srgbClr val="8B9AB0"/>
                </a:solidFill>
              </a:rPr>
              <a:t>Todas deben coincidir — cualquier diferencia es un error.</a:t>
            </a:r>
            <a:endParaRPr lang="es-419" sz="900" noProof="0" dirty="0"/>
          </a:p>
        </p:txBody>
      </p:sp>
      <p:sp>
        <p:nvSpPr>
          <p:cNvPr id="18" name="Shape 16"/>
          <p:cNvSpPr/>
          <p:nvPr/>
        </p:nvSpPr>
        <p:spPr>
          <a:xfrm>
            <a:off x="5897880" y="1783080"/>
            <a:ext cx="2560320" cy="1389888"/>
          </a:xfrm>
          <a:prstGeom prst="rect">
            <a:avLst/>
          </a:prstGeom>
          <a:solidFill>
            <a:srgbClr val="1A1A1A"/>
          </a:solidFill>
          <a:ln w="19050">
            <a:solidFill>
              <a:srgbClr val="CC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9" name="Shape 17"/>
          <p:cNvSpPr/>
          <p:nvPr/>
        </p:nvSpPr>
        <p:spPr>
          <a:xfrm>
            <a:off x="5897880" y="1783080"/>
            <a:ext cx="621792" cy="2468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0" name="Text 18"/>
          <p:cNvSpPr/>
          <p:nvPr/>
        </p:nvSpPr>
        <p:spPr>
          <a:xfrm>
            <a:off x="5897880" y="178308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rgbClr val="FFFFFF"/>
                </a:solidFill>
              </a:rPr>
              <a:t>CU-03</a:t>
            </a:r>
            <a:endParaRPr lang="es-419" sz="900" noProof="0" dirty="0"/>
          </a:p>
        </p:txBody>
      </p:sp>
      <p:sp>
        <p:nvSpPr>
          <p:cNvPr id="21" name="Text 19"/>
          <p:cNvSpPr/>
          <p:nvPr/>
        </p:nvSpPr>
        <p:spPr>
          <a:xfrm>
            <a:off x="5989320" y="206654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000" b="1" noProof="0" dirty="0">
                <a:solidFill>
                  <a:srgbClr val="FFFFFF"/>
                </a:solidFill>
              </a:rPr>
              <a:t>Exportar Clave Bajo ZMK</a:t>
            </a:r>
            <a:endParaRPr lang="es-419" sz="1000" noProof="0" dirty="0"/>
          </a:p>
        </p:txBody>
      </p:sp>
      <p:sp>
        <p:nvSpPr>
          <p:cNvPr id="22" name="Text 20"/>
          <p:cNvSpPr/>
          <p:nvPr/>
        </p:nvSpPr>
        <p:spPr>
          <a:xfrm>
            <a:off x="5989320" y="2340864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8B9AB0"/>
                </a:solidFill>
              </a:rPr>
              <a:t>Exportar una clave migrada para distribución externa.</a:t>
            </a:r>
            <a:endParaRPr lang="es-419" sz="900" noProof="0" dirty="0"/>
          </a:p>
          <a:p>
            <a:pPr marL="0" indent="0">
              <a:buNone/>
            </a:pPr>
            <a:r>
              <a:rPr lang="es-419" sz="900" noProof="0" dirty="0">
                <a:solidFill>
                  <a:srgbClr val="8B9AB0"/>
                </a:solidFill>
              </a:rPr>
              <a:t>Importarla en HSM destino y calcular su KCV.</a:t>
            </a:r>
            <a:endParaRPr lang="es-419" sz="900" noProof="0" dirty="0"/>
          </a:p>
          <a:p>
            <a:pPr marL="0" indent="0">
              <a:buNone/>
            </a:pPr>
            <a:r>
              <a:rPr lang="es-419" sz="900" noProof="0" dirty="0">
                <a:solidFill>
                  <a:srgbClr val="8B9AB0"/>
                </a:solidFill>
              </a:rPr>
              <a:t>Ambos </a:t>
            </a:r>
            <a:r>
              <a:rPr lang="es-419" sz="900" noProof="0" dirty="0" err="1">
                <a:solidFill>
                  <a:srgbClr val="8B9AB0"/>
                </a:solidFill>
              </a:rPr>
              <a:t>KCVs</a:t>
            </a:r>
            <a:r>
              <a:rPr lang="es-419" sz="900" noProof="0" dirty="0">
                <a:solidFill>
                  <a:srgbClr val="8B9AB0"/>
                </a:solidFill>
              </a:rPr>
              <a:t> deben ser exactamente iguales.</a:t>
            </a:r>
            <a:endParaRPr lang="es-419" sz="900" noProof="0" dirty="0"/>
          </a:p>
        </p:txBody>
      </p:sp>
      <p:sp>
        <p:nvSpPr>
          <p:cNvPr id="23" name="Shape 21"/>
          <p:cNvSpPr/>
          <p:nvPr/>
        </p:nvSpPr>
        <p:spPr>
          <a:xfrm>
            <a:off x="411480" y="3337560"/>
            <a:ext cx="2560320" cy="1389888"/>
          </a:xfrm>
          <a:prstGeom prst="rect">
            <a:avLst/>
          </a:prstGeom>
          <a:solidFill>
            <a:srgbClr val="1A1A1A"/>
          </a:solidFill>
          <a:ln w="19050">
            <a:solidFill>
              <a:srgbClr val="C9940A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4" name="Shape 22"/>
          <p:cNvSpPr/>
          <p:nvPr/>
        </p:nvSpPr>
        <p:spPr>
          <a:xfrm>
            <a:off x="411480" y="3337560"/>
            <a:ext cx="621792" cy="246888"/>
          </a:xfrm>
          <a:prstGeom prst="rect">
            <a:avLst/>
          </a:prstGeom>
          <a:solidFill>
            <a:srgbClr val="C9940A"/>
          </a:solidFill>
          <a:ln w="12700">
            <a:solidFill>
              <a:srgbClr val="C9940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5" name="Text 23"/>
          <p:cNvSpPr/>
          <p:nvPr/>
        </p:nvSpPr>
        <p:spPr>
          <a:xfrm>
            <a:off x="411480" y="333756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rgbClr val="FFFFFF"/>
                </a:solidFill>
              </a:rPr>
              <a:t>CU-04</a:t>
            </a:r>
            <a:endParaRPr lang="es-419" sz="900" noProof="0" dirty="0"/>
          </a:p>
        </p:txBody>
      </p:sp>
      <p:sp>
        <p:nvSpPr>
          <p:cNvPr id="26" name="Text 24"/>
          <p:cNvSpPr/>
          <p:nvPr/>
        </p:nvSpPr>
        <p:spPr>
          <a:xfrm>
            <a:off x="502920" y="362102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000" b="1" noProof="0" dirty="0">
                <a:solidFill>
                  <a:srgbClr val="FFFFFF"/>
                </a:solidFill>
              </a:rPr>
              <a:t>Operación PIN </a:t>
            </a:r>
            <a:r>
              <a:rPr lang="es-419" sz="1000" b="1" noProof="0" dirty="0" err="1">
                <a:solidFill>
                  <a:srgbClr val="FFFFFF"/>
                </a:solidFill>
              </a:rPr>
              <a:t>End-to-End</a:t>
            </a:r>
            <a:endParaRPr lang="es-419" sz="1000" noProof="0" dirty="0"/>
          </a:p>
        </p:txBody>
      </p:sp>
      <p:sp>
        <p:nvSpPr>
          <p:cNvPr id="27" name="Text 25"/>
          <p:cNvSpPr/>
          <p:nvPr/>
        </p:nvSpPr>
        <p:spPr>
          <a:xfrm>
            <a:off x="502920" y="3895344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8B9AB0"/>
                </a:solidFill>
              </a:rPr>
              <a:t>Simular transacción completa de PIN con clave migrada.</a:t>
            </a:r>
            <a:endParaRPr lang="es-419" sz="900" noProof="0" dirty="0"/>
          </a:p>
          <a:p>
            <a:pPr marL="0" indent="0">
              <a:buNone/>
            </a:pPr>
            <a:r>
              <a:rPr lang="es-419" sz="900" noProof="0" dirty="0">
                <a:solidFill>
                  <a:srgbClr val="8B9AB0"/>
                </a:solidFill>
              </a:rPr>
              <a:t>Verificar que el PIN puede autenticarse correctamente.</a:t>
            </a:r>
            <a:endParaRPr lang="es-419" sz="900" noProof="0" dirty="0"/>
          </a:p>
          <a:p>
            <a:pPr marL="0" indent="0">
              <a:buNone/>
            </a:pPr>
            <a:r>
              <a:rPr lang="es-419" sz="900" noProof="0" dirty="0">
                <a:solidFill>
                  <a:srgbClr val="8B9AB0"/>
                </a:solidFill>
              </a:rPr>
              <a:t>Resultado esperado: sin errores de autenticación.</a:t>
            </a:r>
            <a:endParaRPr lang="es-419" sz="900" noProof="0" dirty="0"/>
          </a:p>
        </p:txBody>
      </p:sp>
      <p:sp>
        <p:nvSpPr>
          <p:cNvPr id="28" name="Shape 26"/>
          <p:cNvSpPr/>
          <p:nvPr/>
        </p:nvSpPr>
        <p:spPr>
          <a:xfrm>
            <a:off x="3154680" y="3337560"/>
            <a:ext cx="2560320" cy="1389888"/>
          </a:xfrm>
          <a:prstGeom prst="rect">
            <a:avLst/>
          </a:prstGeom>
          <a:solidFill>
            <a:srgbClr val="1A1A1A"/>
          </a:solidFill>
          <a:ln w="19050">
            <a:solidFill>
              <a:srgbClr val="CC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9" name="Shape 27"/>
          <p:cNvSpPr/>
          <p:nvPr/>
        </p:nvSpPr>
        <p:spPr>
          <a:xfrm>
            <a:off x="3154680" y="3337560"/>
            <a:ext cx="621792" cy="2468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0" name="Text 28"/>
          <p:cNvSpPr/>
          <p:nvPr/>
        </p:nvSpPr>
        <p:spPr>
          <a:xfrm>
            <a:off x="3154680" y="333756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rgbClr val="FFFFFF"/>
                </a:solidFill>
              </a:rPr>
              <a:t>CU-05</a:t>
            </a:r>
            <a:endParaRPr lang="es-419" sz="900" noProof="0" dirty="0"/>
          </a:p>
        </p:txBody>
      </p:sp>
      <p:sp>
        <p:nvSpPr>
          <p:cNvPr id="31" name="Text 29"/>
          <p:cNvSpPr/>
          <p:nvPr/>
        </p:nvSpPr>
        <p:spPr>
          <a:xfrm>
            <a:off x="3246120" y="362102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000" b="1" noProof="0" dirty="0">
                <a:solidFill>
                  <a:srgbClr val="FFFFFF"/>
                </a:solidFill>
              </a:rPr>
              <a:t>Ciclo de Autorización</a:t>
            </a:r>
            <a:endParaRPr lang="es-419" sz="1000" noProof="0" dirty="0"/>
          </a:p>
        </p:txBody>
      </p:sp>
      <p:sp>
        <p:nvSpPr>
          <p:cNvPr id="32" name="Text 30"/>
          <p:cNvSpPr/>
          <p:nvPr/>
        </p:nvSpPr>
        <p:spPr>
          <a:xfrm>
            <a:off x="3246120" y="3895344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8B9AB0"/>
                </a:solidFill>
              </a:rPr>
              <a:t>Ejecutar flujo completo de autorización de transacción.</a:t>
            </a:r>
            <a:endParaRPr lang="es-419" sz="900" noProof="0" dirty="0"/>
          </a:p>
          <a:p>
            <a:pPr marL="0" indent="0">
              <a:buNone/>
            </a:pPr>
            <a:r>
              <a:rPr lang="es-419" sz="900" noProof="0" dirty="0">
                <a:solidFill>
                  <a:srgbClr val="8B9AB0"/>
                </a:solidFill>
              </a:rPr>
              <a:t>Usar claves BDK, ZPK, TMK migradas en el flujo.</a:t>
            </a:r>
            <a:endParaRPr lang="es-419" sz="900" noProof="0" dirty="0"/>
          </a:p>
          <a:p>
            <a:pPr marL="0" indent="0">
              <a:buNone/>
            </a:pPr>
            <a:r>
              <a:rPr lang="es-419" sz="900" noProof="0" dirty="0">
                <a:solidFill>
                  <a:srgbClr val="8B9AB0"/>
                </a:solidFill>
              </a:rPr>
              <a:t>Todos los pasos deben retornar código de error '00'.</a:t>
            </a:r>
            <a:endParaRPr lang="es-419" sz="900" noProof="0" dirty="0"/>
          </a:p>
        </p:txBody>
      </p:sp>
      <p:sp>
        <p:nvSpPr>
          <p:cNvPr id="33" name="Shape 31"/>
          <p:cNvSpPr/>
          <p:nvPr/>
        </p:nvSpPr>
        <p:spPr>
          <a:xfrm>
            <a:off x="5897880" y="3337560"/>
            <a:ext cx="2560320" cy="1389888"/>
          </a:xfrm>
          <a:prstGeom prst="rect">
            <a:avLst/>
          </a:prstGeom>
          <a:solidFill>
            <a:srgbClr val="1A1A1A"/>
          </a:solidFill>
          <a:ln w="19050">
            <a:solidFill>
              <a:srgbClr val="C9940A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34" name="Shape 32"/>
          <p:cNvSpPr/>
          <p:nvPr/>
        </p:nvSpPr>
        <p:spPr>
          <a:xfrm>
            <a:off x="5897880" y="3337560"/>
            <a:ext cx="621792" cy="246888"/>
          </a:xfrm>
          <a:prstGeom prst="rect">
            <a:avLst/>
          </a:prstGeom>
          <a:solidFill>
            <a:srgbClr val="C9940A"/>
          </a:solidFill>
          <a:ln w="12700">
            <a:solidFill>
              <a:srgbClr val="C9940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5" name="Text 33"/>
          <p:cNvSpPr/>
          <p:nvPr/>
        </p:nvSpPr>
        <p:spPr>
          <a:xfrm>
            <a:off x="5897880" y="333756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rgbClr val="FFFFFF"/>
                </a:solidFill>
              </a:rPr>
              <a:t>CU-06</a:t>
            </a:r>
            <a:endParaRPr lang="es-419" sz="900" noProof="0" dirty="0"/>
          </a:p>
        </p:txBody>
      </p:sp>
      <p:sp>
        <p:nvSpPr>
          <p:cNvPr id="36" name="Text 34"/>
          <p:cNvSpPr/>
          <p:nvPr/>
        </p:nvSpPr>
        <p:spPr>
          <a:xfrm>
            <a:off x="5989320" y="362102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000" b="1" noProof="0" dirty="0">
                <a:solidFill>
                  <a:srgbClr val="FFFFFF"/>
                </a:solidFill>
              </a:rPr>
              <a:t>Operaciones Criptográficas Gral.</a:t>
            </a:r>
            <a:endParaRPr lang="es-419" sz="1000" noProof="0" dirty="0"/>
          </a:p>
        </p:txBody>
      </p:sp>
      <p:sp>
        <p:nvSpPr>
          <p:cNvPr id="37" name="Text 35"/>
          <p:cNvSpPr/>
          <p:nvPr/>
        </p:nvSpPr>
        <p:spPr>
          <a:xfrm>
            <a:off x="5989320" y="3895344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8B9AB0"/>
                </a:solidFill>
              </a:rPr>
              <a:t>Generar, importar y exportar al menos una clave por tipo.</a:t>
            </a:r>
            <a:endParaRPr lang="es-419" sz="900" noProof="0" dirty="0"/>
          </a:p>
          <a:p>
            <a:pPr marL="0" indent="0">
              <a:buNone/>
            </a:pPr>
            <a:r>
              <a:rPr lang="es-419" sz="900" noProof="0" dirty="0">
                <a:solidFill>
                  <a:srgbClr val="8B9AB0"/>
                </a:solidFill>
              </a:rPr>
              <a:t>Verificar CVV/CVC con clave CVK migrada.</a:t>
            </a:r>
            <a:endParaRPr lang="es-419" sz="900" noProof="0" dirty="0"/>
          </a:p>
          <a:p>
            <a:pPr marL="0" indent="0">
              <a:buNone/>
            </a:pPr>
            <a:r>
              <a:rPr lang="es-419" sz="900" noProof="0" dirty="0">
                <a:solidFill>
                  <a:srgbClr val="8B9AB0"/>
                </a:solidFill>
              </a:rPr>
              <a:t>Comprobar MAC con clave TAK/ZAK migrada.</a:t>
            </a:r>
            <a:endParaRPr lang="es-419" sz="900" noProof="0" dirty="0"/>
          </a:p>
        </p:txBody>
      </p:sp>
      <p:sp>
        <p:nvSpPr>
          <p:cNvPr id="38" name="Shape 36"/>
          <p:cNvSpPr/>
          <p:nvPr/>
        </p:nvSpPr>
        <p:spPr>
          <a:xfrm>
            <a:off x="411480" y="4818888"/>
            <a:ext cx="8321040" cy="256032"/>
          </a:xfrm>
          <a:prstGeom prst="rect">
            <a:avLst/>
          </a:prstGeom>
          <a:solidFill>
            <a:srgbClr val="001500"/>
          </a:solidFill>
          <a:ln w="19050">
            <a:solidFill>
              <a:srgbClr val="1FA84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9" name="Text 37"/>
          <p:cNvSpPr/>
          <p:nvPr/>
        </p:nvSpPr>
        <p:spPr>
          <a:xfrm>
            <a:off x="502920" y="48188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000" noProof="0" dirty="0">
                <a:solidFill>
                  <a:srgbClr val="1FA84A"/>
                </a:solidFill>
              </a:rPr>
              <a:t>✅  Migración LMK certificada cuando CU-01 a CU-06 retornan error '00' y todos los </a:t>
            </a:r>
            <a:r>
              <a:rPr lang="es-419" sz="1000" noProof="0" dirty="0" err="1">
                <a:solidFill>
                  <a:srgbClr val="1FA84A"/>
                </a:solidFill>
              </a:rPr>
              <a:t>KCVs</a:t>
            </a:r>
            <a:r>
              <a:rPr lang="es-419" sz="1000" noProof="0" dirty="0">
                <a:solidFill>
                  <a:srgbClr val="1FA84A"/>
                </a:solidFill>
              </a:rPr>
              <a:t> de Oracle coinciden con los valores de referencia </a:t>
            </a:r>
            <a:r>
              <a:rPr lang="es-419" sz="1000" noProof="0" dirty="0" err="1">
                <a:solidFill>
                  <a:srgbClr val="1FA84A"/>
                </a:solidFill>
              </a:rPr>
              <a:t>pre-migración</a:t>
            </a:r>
            <a:r>
              <a:rPr lang="es-419" sz="1000" noProof="0" dirty="0">
                <a:solidFill>
                  <a:srgbClr val="1FA84A"/>
                </a:solidFill>
              </a:rPr>
              <a:t>.</a:t>
            </a:r>
            <a:endParaRPr lang="es-419" sz="1000" noProof="0" dirty="0"/>
          </a:p>
        </p:txBody>
      </p:sp>
      <p:sp>
        <p:nvSpPr>
          <p:cNvPr id="40" name="Shape 38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120000"/>
          </a:solidFill>
          <a:ln w="12700">
            <a:solidFill>
              <a:srgbClr val="12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" name="Shape 2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1097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200" b="1" kern="0" spc="700" noProof="0" dirty="0">
                <a:solidFill>
                  <a:srgbClr val="CC0000"/>
                </a:solidFill>
              </a:rPr>
              <a:t>SCOTIABANK</a:t>
            </a:r>
            <a:endParaRPr lang="es-419" sz="12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429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2600" b="1" noProof="0" dirty="0">
                <a:solidFill>
                  <a:srgbClr val="FFFFFF"/>
                </a:solidFill>
              </a:rPr>
              <a:t>Resumen Ejecutivo — Plan de Migración</a:t>
            </a:r>
            <a:endParaRPr lang="es-419" sz="2600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941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200" noProof="0" dirty="0">
                <a:solidFill>
                  <a:srgbClr val="8B9AB0"/>
                </a:solidFill>
              </a:rPr>
              <a:t>LMK (HSM Thales · AIX · Oracle)  +  MK (AS400 · </a:t>
            </a:r>
            <a:r>
              <a:rPr lang="es-419" sz="1200" noProof="0" dirty="0" err="1">
                <a:solidFill>
                  <a:srgbClr val="8B9AB0"/>
                </a:solidFill>
              </a:rPr>
              <a:t>AZCrypto</a:t>
            </a:r>
            <a:r>
              <a:rPr lang="es-419" sz="1200" noProof="0" dirty="0">
                <a:solidFill>
                  <a:srgbClr val="8B9AB0"/>
                </a:solidFill>
              </a:rPr>
              <a:t>)</a:t>
            </a:r>
            <a:endParaRPr lang="es-419" sz="1200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100" noProof="0" dirty="0">
                <a:solidFill>
                  <a:srgbClr val="C8D0DC"/>
                </a:solidFill>
              </a:rPr>
              <a:t>Proceso seguro y auditado — las claves nunca se exponen en texto claro en ninguno de los dos frentes.</a:t>
            </a:r>
            <a:endParaRPr lang="es-419" sz="1100" noProof="0" dirty="0"/>
          </a:p>
        </p:txBody>
      </p:sp>
      <p:sp>
        <p:nvSpPr>
          <p:cNvPr id="9" name="Shape 7"/>
          <p:cNvSpPr/>
          <p:nvPr/>
        </p:nvSpPr>
        <p:spPr>
          <a:xfrm>
            <a:off x="347472" y="1737360"/>
            <a:ext cx="3977640" cy="2743200"/>
          </a:xfrm>
          <a:prstGeom prst="rect">
            <a:avLst/>
          </a:prstGeom>
          <a:solidFill>
            <a:srgbClr val="1A1A1A"/>
          </a:solidFill>
          <a:ln w="19050">
            <a:solidFill>
              <a:srgbClr val="CC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0" name="Shape 8"/>
          <p:cNvSpPr/>
          <p:nvPr/>
        </p:nvSpPr>
        <p:spPr>
          <a:xfrm>
            <a:off x="347472" y="1737360"/>
            <a:ext cx="3977640" cy="32918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1" name="Text 9"/>
          <p:cNvSpPr/>
          <p:nvPr/>
        </p:nvSpPr>
        <p:spPr>
          <a:xfrm>
            <a:off x="438912" y="173736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000" b="1" noProof="0" dirty="0">
                <a:solidFill>
                  <a:srgbClr val="FFFFFF"/>
                </a:solidFill>
              </a:rPr>
              <a:t>LMK · HSM THALES · AIX · ORACLE</a:t>
            </a:r>
            <a:endParaRPr lang="es-419" sz="1000" noProof="0" dirty="0"/>
          </a:p>
        </p:txBody>
      </p:sp>
      <p:sp>
        <p:nvSpPr>
          <p:cNvPr id="12" name="Text 10"/>
          <p:cNvSpPr/>
          <p:nvPr/>
        </p:nvSpPr>
        <p:spPr>
          <a:xfrm>
            <a:off x="475488" y="213969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8B9AB0"/>
                </a:solidFill>
              </a:rPr>
              <a:t>Escenarios:</a:t>
            </a:r>
            <a:endParaRPr lang="es-419" sz="950" noProof="0" dirty="0"/>
          </a:p>
        </p:txBody>
      </p:sp>
      <p:sp>
        <p:nvSpPr>
          <p:cNvPr id="13" name="Text 11"/>
          <p:cNvSpPr/>
          <p:nvPr/>
        </p:nvSpPr>
        <p:spPr>
          <a:xfrm>
            <a:off x="1618488" y="213969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 err="1">
                <a:solidFill>
                  <a:srgbClr val="C8D0DC"/>
                </a:solidFill>
              </a:rPr>
              <a:t>Variant→Variant</a:t>
            </a:r>
            <a:r>
              <a:rPr lang="es-419" sz="950" noProof="0" dirty="0">
                <a:solidFill>
                  <a:srgbClr val="C8D0DC"/>
                </a:solidFill>
              </a:rPr>
              <a:t>  ·  </a:t>
            </a:r>
            <a:r>
              <a:rPr lang="es-419" sz="950" noProof="0" dirty="0" err="1">
                <a:solidFill>
                  <a:srgbClr val="C8D0DC"/>
                </a:solidFill>
              </a:rPr>
              <a:t>Variant→KeyBlock</a:t>
            </a:r>
            <a:r>
              <a:rPr lang="es-419" sz="950" noProof="0" dirty="0">
                <a:solidFill>
                  <a:srgbClr val="C8D0DC"/>
                </a:solidFill>
              </a:rPr>
              <a:t>  ·  KB→KB</a:t>
            </a:r>
            <a:endParaRPr lang="es-419" sz="950" noProof="0" dirty="0"/>
          </a:p>
        </p:txBody>
      </p:sp>
      <p:sp>
        <p:nvSpPr>
          <p:cNvPr id="14" name="Text 12"/>
          <p:cNvSpPr/>
          <p:nvPr/>
        </p:nvSpPr>
        <p:spPr>
          <a:xfrm>
            <a:off x="475488" y="248716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 err="1">
                <a:solidFill>
                  <a:srgbClr val="8B9AB0"/>
                </a:solidFill>
              </a:rPr>
              <a:t>Cmd</a:t>
            </a:r>
            <a:r>
              <a:rPr lang="es-419" sz="950" b="1" noProof="0" dirty="0">
                <a:solidFill>
                  <a:srgbClr val="8B9AB0"/>
                </a:solidFill>
              </a:rPr>
              <a:t> migración:</a:t>
            </a:r>
            <a:endParaRPr lang="es-419" sz="950" noProof="0" dirty="0"/>
          </a:p>
        </p:txBody>
      </p:sp>
      <p:sp>
        <p:nvSpPr>
          <p:cNvPr id="15" name="Text 13"/>
          <p:cNvSpPr/>
          <p:nvPr/>
        </p:nvSpPr>
        <p:spPr>
          <a:xfrm>
            <a:off x="1618488" y="248716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C8D0DC"/>
                </a:solidFill>
              </a:rPr>
              <a:t>BW (host </a:t>
            </a:r>
            <a:r>
              <a:rPr lang="es-419" sz="950" noProof="0" dirty="0" err="1">
                <a:solidFill>
                  <a:srgbClr val="C8D0DC"/>
                </a:solidFill>
              </a:rPr>
              <a:t>command</a:t>
            </a:r>
            <a:r>
              <a:rPr lang="es-419" sz="950" noProof="0" dirty="0">
                <a:solidFill>
                  <a:srgbClr val="C8D0DC"/>
                </a:solidFill>
              </a:rPr>
              <a:t> HSM)</a:t>
            </a:r>
            <a:endParaRPr lang="es-419" sz="950" noProof="0" dirty="0"/>
          </a:p>
        </p:txBody>
      </p:sp>
      <p:sp>
        <p:nvSpPr>
          <p:cNvPr id="16" name="Text 14"/>
          <p:cNvSpPr/>
          <p:nvPr/>
        </p:nvSpPr>
        <p:spPr>
          <a:xfrm>
            <a:off x="475488" y="28346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8B9AB0"/>
                </a:solidFill>
              </a:rPr>
              <a:t>KCV:</a:t>
            </a:r>
            <a:endParaRPr lang="es-419" sz="950" noProof="0" dirty="0"/>
          </a:p>
        </p:txBody>
      </p:sp>
      <p:sp>
        <p:nvSpPr>
          <p:cNvPr id="17" name="Text 15"/>
          <p:cNvSpPr/>
          <p:nvPr/>
        </p:nvSpPr>
        <p:spPr>
          <a:xfrm>
            <a:off x="1618488" y="2834640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C8D0DC"/>
                </a:solidFill>
              </a:rPr>
              <a:t>Idéntico antes y después — validación obligatoria</a:t>
            </a:r>
            <a:endParaRPr lang="es-419" sz="950" noProof="0" dirty="0"/>
          </a:p>
        </p:txBody>
      </p:sp>
      <p:sp>
        <p:nvSpPr>
          <p:cNvPr id="18" name="Text 16"/>
          <p:cNvSpPr/>
          <p:nvPr/>
        </p:nvSpPr>
        <p:spPr>
          <a:xfrm>
            <a:off x="475488" y="318211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8B9AB0"/>
                </a:solidFill>
              </a:rPr>
              <a:t>BD:</a:t>
            </a:r>
            <a:endParaRPr lang="es-419" sz="950" noProof="0" dirty="0"/>
          </a:p>
        </p:txBody>
      </p:sp>
      <p:sp>
        <p:nvSpPr>
          <p:cNvPr id="19" name="Text 17"/>
          <p:cNvSpPr/>
          <p:nvPr/>
        </p:nvSpPr>
        <p:spPr>
          <a:xfrm>
            <a:off x="1618488" y="3182112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C8D0DC"/>
                </a:solidFill>
              </a:rPr>
              <a:t>Oracle </a:t>
            </a:r>
            <a:r>
              <a:rPr lang="es-419" sz="950" noProof="0" dirty="0" err="1">
                <a:solidFill>
                  <a:srgbClr val="C8D0DC"/>
                </a:solidFill>
              </a:rPr>
              <a:t>Database</a:t>
            </a:r>
            <a:r>
              <a:rPr lang="es-419" sz="950" noProof="0" dirty="0">
                <a:solidFill>
                  <a:srgbClr val="C8D0DC"/>
                </a:solidFill>
              </a:rPr>
              <a:t> (AIX)</a:t>
            </a:r>
            <a:endParaRPr lang="es-419" sz="950" noProof="0" dirty="0"/>
          </a:p>
        </p:txBody>
      </p:sp>
      <p:sp>
        <p:nvSpPr>
          <p:cNvPr id="20" name="Text 18"/>
          <p:cNvSpPr/>
          <p:nvPr/>
        </p:nvSpPr>
        <p:spPr>
          <a:xfrm>
            <a:off x="475488" y="352958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8B9AB0"/>
                </a:solidFill>
              </a:rPr>
              <a:t>Utilitario:</a:t>
            </a:r>
            <a:endParaRPr lang="es-419" sz="950" noProof="0" dirty="0"/>
          </a:p>
        </p:txBody>
      </p:sp>
      <p:sp>
        <p:nvSpPr>
          <p:cNvPr id="21" name="Text 19"/>
          <p:cNvSpPr/>
          <p:nvPr/>
        </p:nvSpPr>
        <p:spPr>
          <a:xfrm>
            <a:off x="1618488" y="3529584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C8D0DC"/>
                </a:solidFill>
              </a:rPr>
              <a:t>Nuevo binario C — en desarrollo para AIX</a:t>
            </a:r>
            <a:endParaRPr lang="es-419" sz="950" noProof="0" dirty="0"/>
          </a:p>
        </p:txBody>
      </p:sp>
      <p:sp>
        <p:nvSpPr>
          <p:cNvPr id="22" name="Text 20"/>
          <p:cNvSpPr/>
          <p:nvPr/>
        </p:nvSpPr>
        <p:spPr>
          <a:xfrm>
            <a:off x="475488" y="387705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8B9AB0"/>
                </a:solidFill>
              </a:rPr>
              <a:t>Certifica:</a:t>
            </a:r>
            <a:endParaRPr lang="es-419" sz="950" noProof="0" dirty="0"/>
          </a:p>
        </p:txBody>
      </p:sp>
      <p:sp>
        <p:nvSpPr>
          <p:cNvPr id="23" name="Text 21"/>
          <p:cNvSpPr/>
          <p:nvPr/>
        </p:nvSpPr>
        <p:spPr>
          <a:xfrm>
            <a:off x="1618488" y="387705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C8D0DC"/>
                </a:solidFill>
              </a:rPr>
              <a:t>CU-01 a CU-06 · error 00 en todas</a:t>
            </a:r>
            <a:endParaRPr lang="es-419" sz="950" noProof="0" dirty="0"/>
          </a:p>
        </p:txBody>
      </p:sp>
      <p:sp>
        <p:nvSpPr>
          <p:cNvPr id="24" name="Shape 22"/>
          <p:cNvSpPr/>
          <p:nvPr/>
        </p:nvSpPr>
        <p:spPr>
          <a:xfrm>
            <a:off x="4818888" y="1737360"/>
            <a:ext cx="3977640" cy="2743200"/>
          </a:xfrm>
          <a:prstGeom prst="rect">
            <a:avLst/>
          </a:prstGeom>
          <a:solidFill>
            <a:srgbClr val="1A1A1A"/>
          </a:solidFill>
          <a:ln w="19050">
            <a:solidFill>
              <a:srgbClr val="C9940A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5" name="Shape 23"/>
          <p:cNvSpPr/>
          <p:nvPr/>
        </p:nvSpPr>
        <p:spPr>
          <a:xfrm>
            <a:off x="4818888" y="1737360"/>
            <a:ext cx="3977640" cy="329184"/>
          </a:xfrm>
          <a:prstGeom prst="rect">
            <a:avLst/>
          </a:prstGeom>
          <a:solidFill>
            <a:srgbClr val="C9940A"/>
          </a:solidFill>
          <a:ln w="12700">
            <a:solidFill>
              <a:srgbClr val="C9940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6" name="Text 24"/>
          <p:cNvSpPr/>
          <p:nvPr/>
        </p:nvSpPr>
        <p:spPr>
          <a:xfrm>
            <a:off x="4910328" y="173736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000" b="1" noProof="0" dirty="0">
                <a:solidFill>
                  <a:srgbClr val="FFFFFF"/>
                </a:solidFill>
              </a:rPr>
              <a:t>MK · TARJETA CRIPTOGRÁFICA · AS400</a:t>
            </a:r>
            <a:endParaRPr lang="es-419" sz="1000" noProof="0" dirty="0"/>
          </a:p>
        </p:txBody>
      </p:sp>
      <p:sp>
        <p:nvSpPr>
          <p:cNvPr id="27" name="Text 25"/>
          <p:cNvSpPr/>
          <p:nvPr/>
        </p:nvSpPr>
        <p:spPr>
          <a:xfrm>
            <a:off x="4956048" y="213969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8B9AB0"/>
                </a:solidFill>
              </a:rPr>
              <a:t>Proceso:</a:t>
            </a:r>
            <a:endParaRPr lang="es-419" sz="950" noProof="0" dirty="0"/>
          </a:p>
        </p:txBody>
      </p:sp>
      <p:sp>
        <p:nvSpPr>
          <p:cNvPr id="28" name="Text 26"/>
          <p:cNvSpPr/>
          <p:nvPr/>
        </p:nvSpPr>
        <p:spPr>
          <a:xfrm>
            <a:off x="6099048" y="21396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C8D0DC"/>
                </a:solidFill>
              </a:rPr>
              <a:t>Master Key 1 (MK1) → Master Key 2 (MK2)</a:t>
            </a:r>
            <a:endParaRPr lang="es-419" sz="950" noProof="0" dirty="0"/>
          </a:p>
        </p:txBody>
      </p:sp>
      <p:sp>
        <p:nvSpPr>
          <p:cNvPr id="29" name="Text 27"/>
          <p:cNvSpPr/>
          <p:nvPr/>
        </p:nvSpPr>
        <p:spPr>
          <a:xfrm>
            <a:off x="4956048" y="248716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8B9AB0"/>
                </a:solidFill>
              </a:rPr>
              <a:t>Utilitario:</a:t>
            </a:r>
            <a:endParaRPr lang="es-419" sz="950" noProof="0" dirty="0"/>
          </a:p>
        </p:txBody>
      </p:sp>
      <p:sp>
        <p:nvSpPr>
          <p:cNvPr id="30" name="Text 28"/>
          <p:cNvSpPr/>
          <p:nvPr/>
        </p:nvSpPr>
        <p:spPr>
          <a:xfrm>
            <a:off x="6099048" y="24871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 err="1">
                <a:solidFill>
                  <a:srgbClr val="C8D0DC"/>
                </a:solidFill>
              </a:rPr>
              <a:t>AZCrypto</a:t>
            </a:r>
            <a:r>
              <a:rPr lang="es-419" sz="950" noProof="0" dirty="0">
                <a:solidFill>
                  <a:srgbClr val="C8D0DC"/>
                </a:solidFill>
              </a:rPr>
              <a:t> (ya desarrollado y validado)</a:t>
            </a:r>
            <a:endParaRPr lang="es-419" sz="950" noProof="0" dirty="0"/>
          </a:p>
        </p:txBody>
      </p:sp>
      <p:sp>
        <p:nvSpPr>
          <p:cNvPr id="31" name="Text 29"/>
          <p:cNvSpPr/>
          <p:nvPr/>
        </p:nvSpPr>
        <p:spPr>
          <a:xfrm>
            <a:off x="4956048" y="28346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8B9AB0"/>
                </a:solidFill>
              </a:rPr>
              <a:t>KCV:</a:t>
            </a:r>
            <a:endParaRPr lang="es-419" sz="950" noProof="0" dirty="0"/>
          </a:p>
        </p:txBody>
      </p:sp>
      <p:sp>
        <p:nvSpPr>
          <p:cNvPr id="32" name="Text 30"/>
          <p:cNvSpPr/>
          <p:nvPr/>
        </p:nvSpPr>
        <p:spPr>
          <a:xfrm>
            <a:off x="6099048" y="28346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C8D0DC"/>
                </a:solidFill>
              </a:rPr>
              <a:t>Idéntico antes y después — mismo principio</a:t>
            </a:r>
            <a:endParaRPr lang="es-419" sz="950" noProof="0" dirty="0"/>
          </a:p>
        </p:txBody>
      </p:sp>
      <p:sp>
        <p:nvSpPr>
          <p:cNvPr id="33" name="Text 31"/>
          <p:cNvSpPr/>
          <p:nvPr/>
        </p:nvSpPr>
        <p:spPr>
          <a:xfrm>
            <a:off x="4956048" y="318211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8B9AB0"/>
                </a:solidFill>
              </a:rPr>
              <a:t>Servidor:</a:t>
            </a:r>
            <a:endParaRPr lang="es-419" sz="950" noProof="0" dirty="0"/>
          </a:p>
        </p:txBody>
      </p:sp>
      <p:sp>
        <p:nvSpPr>
          <p:cNvPr id="34" name="Text 32"/>
          <p:cNvSpPr/>
          <p:nvPr/>
        </p:nvSpPr>
        <p:spPr>
          <a:xfrm>
            <a:off x="6099048" y="318211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C8D0DC"/>
                </a:solidFill>
              </a:rPr>
              <a:t>IBM AS400 (</a:t>
            </a:r>
            <a:r>
              <a:rPr lang="es-419" sz="950" noProof="0" dirty="0" err="1">
                <a:solidFill>
                  <a:srgbClr val="C8D0DC"/>
                </a:solidFill>
              </a:rPr>
              <a:t>iSeries</a:t>
            </a:r>
            <a:r>
              <a:rPr lang="es-419" sz="950" noProof="0" dirty="0">
                <a:solidFill>
                  <a:srgbClr val="C8D0DC"/>
                </a:solidFill>
              </a:rPr>
              <a:t>)</a:t>
            </a:r>
            <a:endParaRPr lang="es-419" sz="950" noProof="0" dirty="0"/>
          </a:p>
        </p:txBody>
      </p:sp>
      <p:sp>
        <p:nvSpPr>
          <p:cNvPr id="35" name="Text 33"/>
          <p:cNvSpPr/>
          <p:nvPr/>
        </p:nvSpPr>
        <p:spPr>
          <a:xfrm>
            <a:off x="4956048" y="352958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8B9AB0"/>
                </a:solidFill>
              </a:rPr>
              <a:t>Estado:</a:t>
            </a:r>
            <a:endParaRPr lang="es-419" sz="950" noProof="0" dirty="0"/>
          </a:p>
        </p:txBody>
      </p:sp>
      <p:sp>
        <p:nvSpPr>
          <p:cNvPr id="36" name="Text 34"/>
          <p:cNvSpPr/>
          <p:nvPr/>
        </p:nvSpPr>
        <p:spPr>
          <a:xfrm>
            <a:off x="6099048" y="352958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C8D0DC"/>
                </a:solidFill>
              </a:rPr>
              <a:t>Proceso ya ejecutado anteriormente</a:t>
            </a:r>
            <a:endParaRPr lang="es-419" sz="950" noProof="0" dirty="0"/>
          </a:p>
        </p:txBody>
      </p:sp>
      <p:sp>
        <p:nvSpPr>
          <p:cNvPr id="37" name="Text 35"/>
          <p:cNvSpPr/>
          <p:nvPr/>
        </p:nvSpPr>
        <p:spPr>
          <a:xfrm>
            <a:off x="4956048" y="387705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8B9AB0"/>
                </a:solidFill>
              </a:rPr>
              <a:t>Acción:</a:t>
            </a:r>
            <a:endParaRPr lang="es-419" sz="950" noProof="0" dirty="0"/>
          </a:p>
        </p:txBody>
      </p:sp>
      <p:sp>
        <p:nvSpPr>
          <p:cNvPr id="38" name="Text 36"/>
          <p:cNvSpPr/>
          <p:nvPr/>
        </p:nvSpPr>
        <p:spPr>
          <a:xfrm>
            <a:off x="6099048" y="387705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C8D0DC"/>
                </a:solidFill>
              </a:rPr>
              <a:t>Reutilizar procedimiento y utilitario existente</a:t>
            </a:r>
            <a:endParaRPr lang="es-419" sz="950" noProof="0" dirty="0"/>
          </a:p>
        </p:txBody>
      </p:sp>
      <p:sp>
        <p:nvSpPr>
          <p:cNvPr id="39" name="Shape 37"/>
          <p:cNvSpPr/>
          <p:nvPr/>
        </p:nvSpPr>
        <p:spPr>
          <a:xfrm>
            <a:off x="347472" y="4572000"/>
            <a:ext cx="8449056" cy="0"/>
          </a:xfrm>
          <a:prstGeom prst="rect">
            <a:avLst/>
          </a:prstGeom>
          <a:solidFill>
            <a:srgbClr val="C9940A"/>
          </a:solidFill>
          <a:ln w="12700">
            <a:solidFill>
              <a:srgbClr val="C9940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0" name="Text 38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100" noProof="0" dirty="0">
                <a:solidFill>
                  <a:srgbClr val="FFFFFF"/>
                </a:solidFill>
              </a:rPr>
              <a:t>Infraestructura HSM  ·  Sistemas de Pago  ·  Seguridad Bancaria  ·  Scotiabank</a:t>
            </a:r>
            <a:endParaRPr lang="es-419" sz="11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2737</Words>
  <Application>Microsoft Office PowerPoint</Application>
  <PresentationFormat>Presentación en pantalla (16:9)</PresentationFormat>
  <Paragraphs>352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Migración de Claves Criptográficas – Scotiabank</dc:title>
  <dc:subject>PptxGenJS Presentation</dc:subject>
  <dc:creator>PptxGenJS</dc:creator>
  <cp:lastModifiedBy>Diego Noriega Vela</cp:lastModifiedBy>
  <cp:revision>2</cp:revision>
  <dcterms:created xsi:type="dcterms:W3CDTF">2026-02-25T19:28:07Z</dcterms:created>
  <dcterms:modified xsi:type="dcterms:W3CDTF">2026-02-26T01:58:46Z</dcterms:modified>
</cp:coreProperties>
</file>