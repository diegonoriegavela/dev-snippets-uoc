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· Seguridad · Sistemas de Pago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Thales payShield 10K  ·  IBM Coprocessor 4767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 de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Criptográficas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4114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9626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frentes coordinados: HSM Thales + IBM i 4767 CCA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3931920" cy="1005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" y="3493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3749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Thales payShield 10K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En desarrollo — nuevo proceso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3429000"/>
            <a:ext cx="3931920" cy="10058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3493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0016" y="3749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Coprocessor 4767 CCA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0016" y="4023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Ciclo funcional y validado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8289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  ·  Scotiabank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75488" cy="6858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43000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1106424"/>
            <a:ext cx="3255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Criptográfico del Banco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55648"/>
            <a:ext cx="475488" cy="6858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938528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" y="1901952"/>
            <a:ext cx="3255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 — Master Key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551176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51176"/>
            <a:ext cx="475488" cy="6858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734056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2697480"/>
            <a:ext cx="3255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CURRENT / OLD / NEW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346704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46704"/>
            <a:ext cx="475488" cy="6858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529584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" y="3493008"/>
            <a:ext cx="3255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LMK — Thales payShield 10K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4142232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142232"/>
            <a:ext cx="475488" cy="6858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4325112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9536" y="4288536"/>
            <a:ext cx="3255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MK — IBM Coprocessor 4767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960120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960120"/>
            <a:ext cx="475488" cy="6858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143000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0096" y="1106424"/>
            <a:ext cx="3255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General de Migración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1755648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755648"/>
            <a:ext cx="475488" cy="6858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938528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0096" y="1901952"/>
            <a:ext cx="3255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Estrategias: Opción LO vs LN (Thales)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2551176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551176"/>
            <a:ext cx="475488" cy="6858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734056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0096" y="2697480"/>
            <a:ext cx="3255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Variant→Variant · Variant→KB · KB→KB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3346704"/>
            <a:ext cx="3931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346704"/>
            <a:ext cx="475488" cy="6858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529584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40096" y="3493008"/>
            <a:ext cx="32552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Post-Migración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ECOSISTEMA CRIPTOGRÁFICO DEL BANCO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" y="694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frentes independientes. Cada uno con su propio HSM y proceso de migración.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024128"/>
            <a:ext cx="4114800" cy="38404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24128"/>
            <a:ext cx="411480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06984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1 · HSM Thales payShield 10K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" y="156362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36776" y="1563624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Thales payShield 10K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993392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" y="20482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36776" y="2048256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(host → HSM)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78024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" y="25328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proteg.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36776" y="253288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LMK (Local Master Key)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62656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" y="3017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36776" y="301752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(DES) · Key Block (TR-31 / AES)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447288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" y="350215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migración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36776" y="350215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 (Block-cipher key Re-encipher)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31920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" y="398678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36776" y="3986784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desarrollo (servidor → HSM)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361688"/>
            <a:ext cx="3931920" cy="38404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" y="4389120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Estado: Pendiente — nuevo proceso en desarrollo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1024128"/>
            <a:ext cx="4114800" cy="38404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1024128"/>
            <a:ext cx="411480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4910328" y="106984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2 · IBM Coprocessor 4767 CCA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92040" y="1508760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Text 32"/>
          <p:cNvSpPr/>
          <p:nvPr/>
        </p:nvSpPr>
        <p:spPr>
          <a:xfrm>
            <a:off x="4946904" y="156362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08776" y="1563624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4767 PCIe Cryptographic Coprocessor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92040" y="1993392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7" name="Text 35"/>
          <p:cNvSpPr/>
          <p:nvPr/>
        </p:nvSpPr>
        <p:spPr>
          <a:xfrm>
            <a:off x="4946904" y="20482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08776" y="2048256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(integrado en servidor IBM i)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2478024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0" name="Text 38"/>
          <p:cNvSpPr/>
          <p:nvPr/>
        </p:nvSpPr>
        <p:spPr>
          <a:xfrm>
            <a:off x="4946904" y="25328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proteg.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08776" y="253288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 — Master Key CCA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92040" y="2962656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3" name="Text 41"/>
          <p:cNvSpPr/>
          <p:nvPr/>
        </p:nvSpPr>
        <p:spPr>
          <a:xfrm>
            <a:off x="4946904" y="3017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08776" y="301752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· PKA · AES (keystores DB2/QSYS)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92040" y="3447288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6" name="Text 44"/>
          <p:cNvSpPr/>
          <p:nvPr/>
        </p:nvSpPr>
        <p:spPr>
          <a:xfrm>
            <a:off x="4946904" y="350215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migración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08776" y="350215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Key_Token_Change (CSNBKTC / CSNDKTC)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92040" y="3931920"/>
            <a:ext cx="3931920" cy="42062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9" name="Text 47"/>
          <p:cNvSpPr/>
          <p:nvPr/>
        </p:nvSpPr>
        <p:spPr>
          <a:xfrm>
            <a:off x="4946904" y="398678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Utilitario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08776" y="3986784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IBM i — Master Key Process (BLASPROD)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92040" y="4361688"/>
            <a:ext cx="393192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2" name="Text 50"/>
          <p:cNvSpPr/>
          <p:nvPr/>
        </p:nvSpPr>
        <p:spPr>
          <a:xfrm>
            <a:off x="4946904" y="4389120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Estado: Ciclo funcional y validado anteriormente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Ambos frentes: la MK cifra todas las claves operativas · KCV es el control de integridad · claves nunca en texto claro.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MK — MASTER KEY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" y="694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raíz de todo el ecosistema de pagos. Nunca sale del HSM en texto claro.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20624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4206240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1069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MK?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463040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clave raíz del HSM. Nunca existe fuera del módulo en texto claro.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2084832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claves operativas (ZMK, ZPK, BDK, CVK, TMK, ZAK, TAK…) están cifradas bajo la MK.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270662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MK activa, el HSM no puede descifrar ninguna clave operativa.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3328416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Thales se llama LMK (Local Master Key). En IBM CCA simplemente Master Key (MK).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3950208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Variant (DES/3DES) o Key Block (TR-31, requerido por PCI HSM v3 desde 2025).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024128"/>
            <a:ext cx="4206240" cy="37947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24128"/>
            <a:ext cx="4206240" cy="3474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4791456" y="1069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Claves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1481328"/>
            <a:ext cx="3474720" cy="685800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15361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 / LMK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828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· vive en el HSM · nunca en texto claro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01968" y="2194560"/>
            <a:ext cx="54864" cy="1554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66360" y="2350008"/>
            <a:ext cx="3200400" cy="68580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57800" y="24048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ZMK — Zone Master Key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697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Cifrada bajo MK · distribuye claves entre zonas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01968" y="3063240"/>
            <a:ext cx="54864" cy="1554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6" name="Shape 24"/>
          <p:cNvSpPr/>
          <p:nvPr/>
        </p:nvSpPr>
        <p:spPr>
          <a:xfrm>
            <a:off x="5303520" y="3218688"/>
            <a:ext cx="2926080" cy="685800"/>
          </a:xfrm>
          <a:prstGeom prst="rect">
            <a:avLst/>
          </a:prstGeom>
          <a:solidFill>
            <a:srgbClr val="666666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94960" y="32735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ZPK · TMK · BDK · CVK · TAK · ZAK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3566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de trabajo · cifradas bajo MK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CC0000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477316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Migrar la MK = re-cifrar todas las claves operativas. KCV idéntico antes y después = migración exitosa.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SLOTS CURRENT / OLD / NEW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" y="694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universal — terminología diferente entre Thales y IBM CCA, misma lógica de ciclo de vida.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834640" cy="385876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2834640" cy="47548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424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CURRENT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" y="1554480"/>
            <a:ext cx="2688336" cy="475488"/>
          </a:xfrm>
          <a:prstGeom prst="rect">
            <a:avLst/>
          </a:prstGeom>
          <a:solidFill>
            <a:srgbClr val="43A047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57276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Thales: Live Storage  (cmd LK)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76479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IBM:     Current MK Register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1214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MK activa en producción en tiempo real.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5786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Todas las claves operativas están cifradas bajo esta MK.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0358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El HSM/coprocessor la usa en cada operación criptográfica.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4930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Solo existe una MK current activa a la vez.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18688" y="1005840"/>
            <a:ext cx="2834640" cy="3858768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1005840"/>
            <a:ext cx="2834640" cy="47548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310128" y="10424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OLD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91840" y="1554480"/>
            <a:ext cx="2688336" cy="475488"/>
          </a:xfrm>
          <a:prstGeom prst="rect">
            <a:avLst/>
          </a:prstGeom>
          <a:solidFill>
            <a:srgbClr val="990000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28416" y="157276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Thales: Key Change Storage OLD  (cmd LO)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28416" y="176479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IBM:     Old MK Register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28416" y="21214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MK anterior, retenida durante la migración.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28416" y="25786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Permite re-descifrar claves cifradas bajo la MK antigua.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28416" y="30358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puede procesar transacciones de producción.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28416" y="34930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Limpiar SOLO tras re-cifrar el 100% de las claves.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1005840"/>
            <a:ext cx="2834640" cy="3858768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1005840"/>
            <a:ext cx="2834640" cy="4754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10424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NEW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36208" y="1554480"/>
            <a:ext cx="2688336" cy="475488"/>
          </a:xfrm>
          <a:prstGeom prst="rect">
            <a:avLst/>
          </a:prstGeom>
          <a:solidFill>
            <a:srgbClr val="333333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272784" y="157276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Thales: Key Change Storage NEW  (cmd LN)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72784" y="176479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IBM:     New MK Register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72784" y="21214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MK nueva cargada durante el proceso de migración.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72784" y="25786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Claves re-cifradas hacia aquí aún NO son operativas.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72784" y="30358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Pasa a ser CURRENT tras el switch/SET final.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72784" y="349300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 presencia no interrumpe producción.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CC0000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Ciclo:  NEW cargado  →  Re-cifrado de claves  →  Switch: NEW pasa a CURRENT  →  OLD se limpia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MIGRACIÓN LMK — THALES payShield 10K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" y="694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20 LMK IDs simultáneas (sujeto a licencia). Cada LMK tiene su propio Live Storage y Key Change Storage (OLD/NEW).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8631936" cy="3931920"/>
          </a:xfrm>
          <a:prstGeom prst="rect">
            <a:avLst/>
          </a:prstGeom>
          <a:solidFill>
            <a:srgbClr val="2A2A2A"/>
          </a:solidFill>
          <a:ln w="1905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05840"/>
            <a:ext cx="8631936" cy="3474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 Thales payShield 10K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051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20 LMK IDs  ·  Licencia por slots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1993392" cy="3291840"/>
          </a:xfrm>
          <a:prstGeom prst="rect">
            <a:avLst/>
          </a:prstGeom>
          <a:solidFill>
            <a:srgbClr val="1A1A1A"/>
          </a:solidFill>
          <a:ln w="254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463040"/>
            <a:ext cx="1993392" cy="32918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49047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LMK_00  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819656"/>
            <a:ext cx="1901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139696"/>
            <a:ext cx="1810512" cy="7498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1762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Storage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" y="24140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cmd: LK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280160" y="2377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2990088"/>
            <a:ext cx="1810512" cy="74980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02666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OLD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" y="32644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cmd: LO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80160" y="32278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1810512" cy="7498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87705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NEW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776" y="4114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cmd: LN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280160" y="40782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496312" y="1463040"/>
            <a:ext cx="1993392" cy="3291840"/>
          </a:xfrm>
          <a:prstGeom prst="rect">
            <a:avLst/>
          </a:prstGeom>
          <a:solidFill>
            <a:srgbClr val="333333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96312" y="1463040"/>
            <a:ext cx="1993392" cy="32918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Text 27"/>
          <p:cNvSpPr/>
          <p:nvPr/>
        </p:nvSpPr>
        <p:spPr>
          <a:xfrm>
            <a:off x="2542032" y="149047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LMK_01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42032" y="1819656"/>
            <a:ext cx="1901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Block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87752" y="2139696"/>
            <a:ext cx="1810512" cy="7498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4328" y="21762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Storage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24328" y="24140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cmd: LK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410712" y="2377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87752" y="2990088"/>
            <a:ext cx="1810512" cy="74980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24328" y="302666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OLD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624328" y="32644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cmd: LO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410712" y="32278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87752" y="3840480"/>
            <a:ext cx="1810512" cy="7498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24328" y="387705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NEW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624328" y="4114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cmd: LN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410712" y="40782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626864" y="1463040"/>
            <a:ext cx="1993392" cy="3291840"/>
          </a:xfrm>
          <a:prstGeom prst="rect">
            <a:avLst/>
          </a:prstGeom>
          <a:solidFill>
            <a:srgbClr val="333333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26864" y="1463040"/>
            <a:ext cx="1993392" cy="32918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5" name="Text 43"/>
          <p:cNvSpPr/>
          <p:nvPr/>
        </p:nvSpPr>
        <p:spPr>
          <a:xfrm>
            <a:off x="4672584" y="149047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LMK_02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72584" y="1819656"/>
            <a:ext cx="1901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Block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18304" y="2139696"/>
            <a:ext cx="1810512" cy="7498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1762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Storage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54880" y="24140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cmd: LK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541264" y="23774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18304" y="2990088"/>
            <a:ext cx="1810512" cy="74980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02666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OLD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54880" y="326440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cmd: LO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541264" y="32278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18304" y="3840480"/>
            <a:ext cx="1810512" cy="7498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87705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NEW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54880" y="4114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cmd: LN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541264" y="40782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757416" y="1463040"/>
            <a:ext cx="1993392" cy="3291840"/>
          </a:xfrm>
          <a:prstGeom prst="rect">
            <a:avLst/>
          </a:prstGeom>
          <a:solidFill>
            <a:srgbClr val="333333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757416" y="1463040"/>
            <a:ext cx="1993392" cy="32918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1" name="Text 59"/>
          <p:cNvSpPr/>
          <p:nvPr/>
        </p:nvSpPr>
        <p:spPr>
          <a:xfrm>
            <a:off x="6803136" y="149047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803136" y="1819656"/>
            <a:ext cx="1901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ID 19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803136" y="2194560"/>
            <a:ext cx="19019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···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···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···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MIGRACIÓN MK — IBM COPROCESSOR 4767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" y="694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140-2 Level 4. Una sola MK (no múltiples slots). Tres registros internos: New · Current · Old. Ciclo ya ejecutado y validado.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3200400" cy="37947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320040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69848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4767 CCA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463040"/>
            <a:ext cx="2980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Cryptographic Coprocessor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2336" y="1792224"/>
            <a:ext cx="2944368" cy="82296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" y="18562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MK Register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" y="213055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las partes de la nueva MK (split knowledge). No cifra producción. Permanece hasta el SET.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2336" y="2798064"/>
            <a:ext cx="2944368" cy="822960"/>
          </a:xfrm>
          <a:prstGeom prst="rect">
            <a:avLst/>
          </a:prstGeom>
          <a:solidFill>
            <a:srgbClr val="43A047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" y="28620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MK Register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" y="313639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 activa. Cifra todas las claves en keystores DES/PKA/AES. Al SET: New → Current.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" y="3803904"/>
            <a:ext cx="2944368" cy="822960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" y="38679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MK Register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" y="414223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 MK anterior post-SET. Permite Key_Token_Change. Si vacío → RC12 RSN764.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1024128"/>
            <a:ext cx="52120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0" y="1024128"/>
            <a:ext cx="521208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3767328" y="1069848"/>
            <a:ext cx="4992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— Master Key Process (BLASPROD)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67328" y="1499616"/>
            <a:ext cx="36576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Text 22"/>
          <p:cNvSpPr/>
          <p:nvPr/>
        </p:nvSpPr>
        <p:spPr>
          <a:xfrm>
            <a:off x="3767328" y="15910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87952" y="15270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87952" y="17373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New MK Register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67328" y="2066544"/>
            <a:ext cx="36576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/>
          <p:nvPr/>
        </p:nvSpPr>
        <p:spPr>
          <a:xfrm>
            <a:off x="3767328" y="2157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87952" y="20939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Opcs 4·5·6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87952" y="23042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partes de nueva MK (split knowledge)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67328" y="2633472"/>
            <a:ext cx="365760" cy="45720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3767328" y="27249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87952" y="26609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7 — SET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87952" y="28712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 Current  ·  Current → Old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67328" y="3200400"/>
            <a:ext cx="365760" cy="4572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6" name="Text 34"/>
          <p:cNvSpPr/>
          <p:nvPr/>
        </p:nvSpPr>
        <p:spPr>
          <a:xfrm>
            <a:off x="3767328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87952" y="32278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87952" y="34381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Key_Token_Change: re-cifrar keystores (DES·PKA·AES)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67328" y="3767328"/>
            <a:ext cx="36576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0" name="Text 38"/>
          <p:cNvSpPr/>
          <p:nvPr/>
        </p:nvSpPr>
        <p:spPr>
          <a:xfrm>
            <a:off x="3767328" y="38587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187952" y="37947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87952" y="40050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Old Register — SOLO tras 100% re-cifrado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767328" y="4343400"/>
            <a:ext cx="4992624" cy="274320"/>
          </a:xfrm>
          <a:prstGeom prst="rect">
            <a:avLst/>
          </a:prstGeom>
          <a:solidFill>
            <a:srgbClr val="CC0000">
              <a:alpha val="1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803904" y="4370832"/>
            <a:ext cx="4919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 Old MK Register está vacío al llamar Key_Token_Change → RC12 RSN764. Re-cifrar siempre antes de limpiar Old.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767328" y="4663440"/>
            <a:ext cx="4992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CSNBMKP · CSNBKTC · CSNDKTC (PKA)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67328" y="4846320"/>
            <a:ext cx="4992624" cy="201168"/>
          </a:xfrm>
          <a:prstGeom prst="rect">
            <a:avLst/>
          </a:prstGeom>
          <a:solidFill>
            <a:srgbClr val="2E7D32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803904" y="4855464"/>
            <a:ext cx="4919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Ciclo funcional — ya ejecutado y validado anteriormente en producción.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FLUJO GENERAL DE MIGRACIÓN LMK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" y="694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todos los escenarios. BW re-cifra clave a clave. KCV es el control de integridad obligatorio.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502920" cy="50292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1591056"/>
            <a:ext cx="1371600" cy="1417320"/>
          </a:xfrm>
          <a:prstGeom prst="rect">
            <a:avLst/>
          </a:prstGeom>
          <a:solidFill>
            <a:srgbClr val="CC0000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" y="16367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HSM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" y="2084832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Secure-Auth.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 · LO / LN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3090672"/>
            <a:ext cx="1371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3090672"/>
            <a:ext cx="54864" cy="1691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3145536"/>
            <a:ext cx="124358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la nueva LMK en Live o KCS. Requiere smartcards de Oficial de Seguridad.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27632" y="214884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93976" y="1005840"/>
            <a:ext cx="502920" cy="5029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2093976" y="1051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09928" y="1591056"/>
            <a:ext cx="1371600" cy="141732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64792" y="16367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Claves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64792" y="2084832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BD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KCVs ref.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709928" y="3090672"/>
            <a:ext cx="1371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709928" y="3090672"/>
            <a:ext cx="54864" cy="16916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1801368" y="3145536"/>
            <a:ext cx="124358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todas las claves a migrar. Registrar KCV pre-migración por clave.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81528" y="214884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47872" y="1005840"/>
            <a:ext cx="502920" cy="50292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/>
          <p:nvPr/>
        </p:nvSpPr>
        <p:spPr>
          <a:xfrm>
            <a:off x="3547872" y="1051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163824" y="1591056"/>
            <a:ext cx="1371600" cy="141732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18688" y="16367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18688" y="2084832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BW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Re-cifrado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63824" y="3090672"/>
            <a:ext cx="1371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63824" y="3090672"/>
            <a:ext cx="54864" cy="1691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2" name="Text 30"/>
          <p:cNvSpPr/>
          <p:nvPr/>
        </p:nvSpPr>
        <p:spPr>
          <a:xfrm>
            <a:off x="3255264" y="3145536"/>
            <a:ext cx="124358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 re-descifra con OLD y re-cifra con la nueva LMK. Clave a clave.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35424" y="214884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01768" y="1005840"/>
            <a:ext cx="502920" cy="50292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35" name="Text 33"/>
          <p:cNvSpPr/>
          <p:nvPr/>
        </p:nvSpPr>
        <p:spPr>
          <a:xfrm>
            <a:off x="5001768" y="1051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17720" y="1591056"/>
            <a:ext cx="1371600" cy="1417320"/>
          </a:xfrm>
          <a:prstGeom prst="rect">
            <a:avLst/>
          </a:prstGeom>
          <a:solidFill>
            <a:srgbClr val="43A047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72584" y="16367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KCV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72584" y="2084832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KCV retornado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KCV ref.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3090672"/>
            <a:ext cx="1371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3090672"/>
            <a:ext cx="54864" cy="169164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3145536"/>
            <a:ext cx="124358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clave: KCV retornado por HSM debe ser idéntico al pre-migración. Si difiere → error.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89320" y="214884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55664" y="1005840"/>
            <a:ext cx="502920" cy="50292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4" name="Text 42"/>
          <p:cNvSpPr/>
          <p:nvPr/>
        </p:nvSpPr>
        <p:spPr>
          <a:xfrm>
            <a:off x="6455664" y="1051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071616" y="1591056"/>
            <a:ext cx="1371600" cy="141732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126480" y="16367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BD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26480" y="2084832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KCV OK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071616" y="3090672"/>
            <a:ext cx="1371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71616" y="3090672"/>
            <a:ext cx="54864" cy="16916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0" name="Text 48"/>
          <p:cNvSpPr/>
          <p:nvPr/>
        </p:nvSpPr>
        <p:spPr>
          <a:xfrm>
            <a:off x="6163056" y="3145536"/>
            <a:ext cx="124358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la clave re-cifrada y el nuevo KCV. Log de auditoría por clave.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443216" y="214884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909560" y="1005840"/>
            <a:ext cx="502920" cy="502920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7909560" y="1051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525512" y="1591056"/>
            <a:ext cx="1371600" cy="1417320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580376" y="1636776"/>
            <a:ext cx="1261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580376" y="2084832"/>
            <a:ext cx="12618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/ BS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525512" y="3090672"/>
            <a:ext cx="13716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525512" y="3090672"/>
            <a:ext cx="54864" cy="169164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7616952" y="3145536"/>
            <a:ext cx="124358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KCS. Ejecutar certificación post-migración con transacciones de prueba.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74320" y="480974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BW: entrada = clave bajo OLD LMK + KCV de referencia · HSM re-descifra, re-cifra, retorna KCV · UPDATE BD solo si KCV coincide · log por clave.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ESTRATEGIAS DE MIGRACIÓN — LO vs LN (Thales)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" y="694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Host Programmers Manual (cap. 10): 2 formas de asignar LMKs al Live Storage y Key Change Storage.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60704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 — Comando LO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508760"/>
            <a:ext cx="1783080" cy="594360"/>
          </a:xfrm>
          <a:prstGeom prst="rect">
            <a:avLst/>
          </a:prstGeom>
          <a:solidFill>
            <a:srgbClr val="43A047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5087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LMK NUEVA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31136" y="1508760"/>
            <a:ext cx="2011680" cy="594360"/>
          </a:xfrm>
          <a:prstGeom prst="rect">
            <a:avLst/>
          </a:prstGeom>
          <a:solidFill>
            <a:srgbClr val="990000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31136" y="1508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OLD  (cmd LO)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🔙 LMK ANTIGUA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231136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 LMK NUEVA se carga en Live Storage (cmd LK).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743200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 LMK ANTIGUA se mueve a KCS OLD (cmd LO).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3255264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Durante la migración, el HSM NO puede procesar transacciones (la nueva LMK aún no tiene claves migradas).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3767328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Ventaja: al finalizar, el HSM está listo de inmediato para producción — la nueva LMK ya está en Live.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4279392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Escenario ideal cuando se usa un HSM dedicado a la migración.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20624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05840"/>
            <a:ext cx="4206240" cy="384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10607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B — Comando LN  (más reciente)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1508760"/>
            <a:ext cx="1920240" cy="594360"/>
          </a:xfrm>
          <a:prstGeom prst="rect">
            <a:avLst/>
          </a:prstGeom>
          <a:solidFill>
            <a:srgbClr val="43A047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73168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🔙 LMK ANTIGUA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84848" y="1508760"/>
            <a:ext cx="1920240" cy="594360"/>
          </a:xfrm>
          <a:prstGeom prst="rect">
            <a:avLst/>
          </a:prstGeom>
          <a:solidFill>
            <a:srgbClr val="333333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84848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NEW  (cmd LN)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LMK NUEVA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73168" y="2231136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 LMK ANTIGUA permanece en Live Storage — sigue procesando producción.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2743200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 LMK NUEVA se carga en KCS NEW (cmd LN).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3255264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El HSM puede procesar transacciones Y migrar claves en paralelo — sin downtime durante la migración.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3767328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Desventaja: al finalizar, la nueva LMK debe cargarse en Live antes de poder operar (corte final breve).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4279392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Escenario ideal para ambientes de producción crítica.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097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Thales payShield 10K Host Programmers Manual, cap. 10 — "LMK Migration Process Overview"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ESTRATEGIAS DE MIGRACIÓN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" y="694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Variant→Variant / KB→KB: usa KCS NEW (mismo slot). Variant→Key Block: usa KCS OLD + nuevo LMK ID KB (slot separado).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83464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987552"/>
            <a:ext cx="2834640" cy="4754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02412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→ Variant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" y="12618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periódica sin cambio de formato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" y="1517904"/>
            <a:ext cx="2688336" cy="457200"/>
          </a:xfrm>
          <a:prstGeom prst="rect">
            <a:avLst/>
          </a:prstGeom>
          <a:solidFill>
            <a:srgbClr val="333333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3619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KCS OLD (LO)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171907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Slot: Mismo LMK 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" y="2029968"/>
            <a:ext cx="2688336" cy="2560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05740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Comandos: LK + LO + BW + DO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235915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Variant → Live Storage (LK)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8346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Antigua Variant → KCS OLD (LO)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33101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 re-cifra hacia nueva LMK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378561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borra KCS OLD tras 100% KCVs 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" y="4325112"/>
            <a:ext cx="2688336" cy="457200"/>
          </a:xfrm>
          <a:prstGeom prst="rect">
            <a:avLst/>
          </a:prstGeom>
          <a:solidFill>
            <a:srgbClr val="333333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352544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Requiere ventana de mantenimiento.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18688" y="987552"/>
            <a:ext cx="283464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987552"/>
            <a:ext cx="283464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3310128" y="102412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→ Key Block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10128" y="12618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TR-31 — PCI HSM v3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1517904"/>
            <a:ext cx="2688336" cy="457200"/>
          </a:xfrm>
          <a:prstGeom prst="rect">
            <a:avLst/>
          </a:prstGeom>
          <a:solidFill>
            <a:srgbClr val="990000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28416" y="153619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KCS OLD (LO) + nuevo slot KB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28416" y="171907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Slot: LMK ID nuevo (KB)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91840" y="2029968"/>
            <a:ext cx="2688336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3328416" y="205740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Comandos: LK + LO + BW + DO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10128" y="235915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nuevo LMK ID con KB en Live Storage (LK)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10128" y="28346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Antigua Variant → KCS OLD del nuevo slot (LO)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10128" y="33101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 re-cifra produciendo key blocks TR-31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10128" y="378561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borra KCS OLD · Single-DES NO puede migrar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4325112"/>
            <a:ext cx="2688336" cy="457200"/>
          </a:xfrm>
          <a:prstGeom prst="rect">
            <a:avLst/>
          </a:prstGeom>
          <a:solidFill>
            <a:srgbClr val="CC0000">
              <a:alpha val="8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328416" y="4352544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IRREVERSIBLE. Single-DES debe reemplazarse antes.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81344" y="987552"/>
            <a:ext cx="283464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81344" y="987552"/>
            <a:ext cx="2834640" cy="4754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Text 37"/>
          <p:cNvSpPr/>
          <p:nvPr/>
        </p:nvSpPr>
        <p:spPr>
          <a:xfrm>
            <a:off x="6272784" y="102412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Block → Key Block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72784" y="12618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KB (ej: 3DES KB → AES-256 KB)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54496" y="1517904"/>
            <a:ext cx="2688336" cy="457200"/>
          </a:xfrm>
          <a:prstGeom prst="rect">
            <a:avLst/>
          </a:prstGeom>
          <a:solidFill>
            <a:srgbClr val="333333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291072" y="153619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KCS NEW (LN)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91072" y="171907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Slot: Mismo LMK ID o slot separado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54496" y="2029968"/>
            <a:ext cx="2688336" cy="2560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5" name="Text 43"/>
          <p:cNvSpPr/>
          <p:nvPr/>
        </p:nvSpPr>
        <p:spPr>
          <a:xfrm>
            <a:off x="6291072" y="205740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Comandos: LN + BW + switch + BS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72784" y="235915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KB → KCS NEW (LN) · producción continúa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72784" y="28346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 re-cifra hacia KCS NEW · aún no operativas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72784" y="33101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100% KCVs — CRÍTICO antes del switch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72784" y="378561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KCS NEW → Live Storage · activación final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54496" y="4325112"/>
            <a:ext cx="2688336" cy="457200"/>
          </a:xfrm>
          <a:prstGeom prst="rect">
            <a:avLst/>
          </a:prstGeom>
          <a:solidFill>
            <a:srgbClr val="CC0000">
              <a:alpha val="8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291072" y="4352544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Switch es punto crítico sin rollback. Validar TODO antes.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CERTIFICACIÓN POST-MIGRACIÓN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7472" y="694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certificada cuando todos los casos de uso retornan error '00' y KCVs de BD coinciden con valores de referencia pre-migración.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8346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2834640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4241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Masiva de KCVs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1572768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KCV de cada clave migrada en BD. Comparar contra el KCV pre-migración registrado. Todos deben coincidir — cualquier diferencia es un error de migración.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005840"/>
            <a:ext cx="28346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005840"/>
            <a:ext cx="2834640" cy="4754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04241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0128" y="126187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Autorización End-to-End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46704" y="1572768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flujo completo de autorización de transacción usando BDK, ZPK, TMK migrados. Todos los pasos deben retornar código '00'. Verificar CVV/CVC con CVK y MAC con TAK/ZAK.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63056" y="1005840"/>
            <a:ext cx="28346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005840"/>
            <a:ext cx="2834640" cy="475488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04241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54496" y="126187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Criptográficas Generales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91072" y="1572768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Generar, importar y exportar al menos una clave por tipo (ZMK, ZPK, BDK, CVK, TAK, ZAK). Verificar que el tipo, uso y KCV de cada clave son correctos post-migración.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617720"/>
            <a:ext cx="8595360" cy="29260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46451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4767: validación equivalente via Key_Token_Change (opción 8) — re-cifrado de keystores DES·PKA·AES y verificación de KCV post-SET.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solidFill>
            <a:srgbClr val="2E7D32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4928616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Migración certificada: CU-01 a CU-03 con error '00'  ·  KCVs de BD == valores pre-migración  ·  Log de auditoría completo.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COMPARATIVA DE ESTRATEGIAS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1920240" cy="3474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" y="7680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76272" y="749808"/>
            <a:ext cx="1719072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2221992" y="76809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→ Variant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95344" y="749808"/>
            <a:ext cx="1783080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941064" y="76809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→ Key Block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78424" y="749808"/>
            <a:ext cx="1719072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724144" y="76809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→ KB (KCS NEW)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97496" y="749808"/>
            <a:ext cx="1719072" cy="34747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43216" y="76809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→ KB (Slots sep.)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097280"/>
            <a:ext cx="1920240" cy="484632"/>
          </a:xfrm>
          <a:prstGeom prst="rect">
            <a:avLst/>
          </a:prstGeom>
          <a:solidFill>
            <a:srgbClr val="F0F0F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1795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usado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76272" y="1097280"/>
            <a:ext cx="1719072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21992" y="1179576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OLD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95344" y="1097280"/>
            <a:ext cx="1783080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41064" y="117957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OLD + slot KB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78424" y="1097280"/>
            <a:ext cx="1719072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4144" y="1179576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 NEW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97496" y="1097280"/>
            <a:ext cx="1719072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3216" y="1179576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1627632"/>
            <a:ext cx="1920240" cy="484632"/>
          </a:xfrm>
          <a:prstGeom prst="rect">
            <a:avLst/>
          </a:prstGeom>
          <a:solidFill>
            <a:srgbClr val="F0F0F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17099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76272" y="1627632"/>
            <a:ext cx="1719072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21992" y="1709928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Interrumpida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95344" y="1627632"/>
            <a:ext cx="1783080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41064" y="170992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Interrumpida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78424" y="1627632"/>
            <a:ext cx="1719072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24144" y="1709928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Ininterrumpida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97496" y="1627632"/>
            <a:ext cx="1719072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1709928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Ininterrumpida 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2157984"/>
            <a:ext cx="1920240" cy="484632"/>
          </a:xfrm>
          <a:prstGeom prst="rect">
            <a:avLst/>
          </a:prstGeom>
          <a:solidFill>
            <a:srgbClr val="F0F0F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22402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76272" y="2157984"/>
            <a:ext cx="1719072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21992" y="2240280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LK+LO+BW+DO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95344" y="2157984"/>
            <a:ext cx="1783080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1064" y="224028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LK+LO+BW+DO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78424" y="2157984"/>
            <a:ext cx="1719072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24144" y="2240280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LN+BW+switch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97496" y="2157984"/>
            <a:ext cx="1719072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3216" y="2240280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LK+BW (2 slots)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" y="2688336"/>
            <a:ext cx="1920240" cy="484632"/>
          </a:xfrm>
          <a:prstGeom prst="rect">
            <a:avLst/>
          </a:prstGeom>
          <a:solidFill>
            <a:srgbClr val="F0F0F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7706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176272" y="2688336"/>
            <a:ext cx="1719072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21992" y="2770632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95344" y="2688336"/>
            <a:ext cx="1783080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41064" y="277063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⚠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78424" y="2688336"/>
            <a:ext cx="1719072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24144" y="2770632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post-switch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397496" y="2688336"/>
            <a:ext cx="1719072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43216" y="2770632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✓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6032" y="3218688"/>
            <a:ext cx="1920240" cy="484632"/>
          </a:xfrm>
          <a:prstGeom prst="rect">
            <a:avLst/>
          </a:prstGeom>
          <a:solidFill>
            <a:srgbClr val="F0F0F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" y="33009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slot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176272" y="3218688"/>
            <a:ext cx="1719072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21992" y="3300984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slot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895344" y="3218688"/>
            <a:ext cx="1783080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41064" y="330098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slots (var+kb)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678424" y="3218688"/>
            <a:ext cx="1719072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24144" y="3300984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slot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397496" y="3218688"/>
            <a:ext cx="1719072" cy="4846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43216" y="3300984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2 slots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56032" y="3749040"/>
            <a:ext cx="1920240" cy="484632"/>
          </a:xfrm>
          <a:prstGeom prst="rect">
            <a:avLst/>
          </a:prstGeom>
          <a:solidFill>
            <a:srgbClr val="F0F0F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1752" y="38313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Single-DES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176272" y="3749040"/>
            <a:ext cx="1719072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21992" y="3831336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 OK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895344" y="3749040"/>
            <a:ext cx="1783080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41064" y="383133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migra ⚠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78424" y="3749040"/>
            <a:ext cx="1719072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24144" y="3831336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 OK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397496" y="3749040"/>
            <a:ext cx="1719072" cy="4846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43216" y="3831336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 OK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56032" y="4279392"/>
            <a:ext cx="1920240" cy="484632"/>
          </a:xfrm>
          <a:prstGeom prst="rect">
            <a:avLst/>
          </a:prstGeom>
          <a:solidFill>
            <a:srgbClr val="F0F0F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" y="43616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ideal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176272" y="4279392"/>
            <a:ext cx="1719072" cy="484632"/>
          </a:xfrm>
          <a:prstGeom prst="rect">
            <a:avLst/>
          </a:prstGeom>
          <a:solidFill>
            <a:srgbClr val="E8F5E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21992" y="4361688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periódica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895344" y="4279392"/>
            <a:ext cx="1783080" cy="484632"/>
          </a:xfrm>
          <a:prstGeom prst="rect">
            <a:avLst/>
          </a:prstGeom>
          <a:solidFill>
            <a:srgbClr val="E8F5E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41064" y="436168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PCI HSM v3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678424" y="4279392"/>
            <a:ext cx="1719072" cy="484632"/>
          </a:xfrm>
          <a:prstGeom prst="rect">
            <a:avLst/>
          </a:prstGeom>
          <a:solidFill>
            <a:srgbClr val="E8F5E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24144" y="4361688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slots libres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397496" y="4279392"/>
            <a:ext cx="1719072" cy="484632"/>
          </a:xfrm>
          <a:prstGeom prst="rect">
            <a:avLst/>
          </a:prstGeom>
          <a:solidFill>
            <a:srgbClr val="E8F5E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43216" y="4361688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crítica ✓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274320" y="482803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KCV idéntico antes y después en TODAS las estrategias. LMK Store = terminología oficial Thales.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621792"/>
            <a:ext cx="8942832" cy="365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694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 de Claves Criptográficas — HSM Thales + IBM Coprocessor 4767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42416"/>
            <a:ext cx="4251960" cy="3547872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42416"/>
            <a:ext cx="42519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881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LMK · HSM THALES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4813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91056" y="148132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Variant→Variant · Variant→KeyBlock · KB→KB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9110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migración: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91056" y="1911096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 (Block cipher key Re-encipher)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3408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KCV: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91056" y="2340864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Idéntico antes y después — obligatorio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770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Utilitario: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91056" y="2770632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proceso — servidor via TCP/IP al HSM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LMK: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91056" y="320040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 / LO / LN / DO / BS / VT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6301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91056" y="36301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CU-01 a CU-03 · error 00 en todas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4114800"/>
            <a:ext cx="4023360" cy="31089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4133088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 — pendiente de ejecucion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042416"/>
            <a:ext cx="4251960" cy="3547872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042416"/>
            <a:ext cx="4251960" cy="3657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10881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 · IBM 4767 CCA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8888" y="14813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25896" y="148132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Master Key Process — 8 opciones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18888" y="19110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25896" y="1911096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7: New MK → Current · Current → Old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18888" y="23408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Re-cifrado: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25896" y="2340864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8: Key_Token_Change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18888" y="2770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Keystores: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25896" y="2770632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· PKA · AES (DB2/QSYS)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18888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25896" y="320040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CSNBMKP · CSNBKTC · CSNDKTC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18888" y="36301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25896" y="3630168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KCV post-SET · FIPS 140-2 Level 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18888" y="4114800"/>
            <a:ext cx="4023360" cy="31089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4855464" y="4133088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funcional — ya ejecutado y validado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709160"/>
            <a:ext cx="8595360" cy="310896"/>
          </a:xfrm>
          <a:prstGeom prst="rect">
            <a:avLst/>
          </a:prstGeom>
          <a:solidFill>
            <a:srgbClr val="CC0000">
              <a:alpha val="7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" y="4727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Ambos frentes: MK cifra todas las claves operativas · KCV = control de integridad obligatorio · Claves nunca en texto claro.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Migración de Claves Criptográficas</dc:title>
  <dc:subject>PptxGenJS Presentation</dc:subject>
  <dc:creator>PptxGenJS</dc:creator>
  <cp:lastModifiedBy>PptxGenJS</cp:lastModifiedBy>
  <cp:revision>1</cp:revision>
  <dcterms:created xsi:type="dcterms:W3CDTF">2026-02-27T17:31:32Z</dcterms:created>
  <dcterms:modified xsi:type="dcterms:W3CDTF">2026-02-27T17:31:32Z</dcterms:modified>
</cp:coreProperties>
</file>