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C0000"/>
          </a:solidFill>
          <a:ln/>
        </p:spPr>
      </p:sp>
      <p:sp>
        <p:nvSpPr>
          <p:cNvPr id="3" name="Shape 1"/>
          <p:cNvSpPr/>
          <p:nvPr/>
        </p:nvSpPr>
        <p:spPr>
          <a:xfrm>
            <a:off x="201168" y="621792"/>
            <a:ext cx="8942832" cy="36576"/>
          </a:xfrm>
          <a:prstGeom prst="rect">
            <a:avLst/>
          </a:prstGeom>
          <a:solidFill>
            <a:srgbClr val="CC0000"/>
          </a:solidFill>
          <a:ln/>
        </p:spPr>
      </p:sp>
      <p:sp>
        <p:nvSpPr>
          <p:cNvPr id="4" name="Text 2"/>
          <p:cNvSpPr/>
          <p:nvPr/>
        </p:nvSpPr>
        <p:spPr>
          <a:xfrm>
            <a:off x="365760" y="274320"/>
            <a:ext cx="8229600" cy="274320"/>
          </a:xfrm>
          <a:prstGeom prst="rect">
            <a:avLst/>
          </a:prstGeom>
          <a:noFill/>
          <a:ln/>
        </p:spPr>
        <p:txBody>
          <a:bodyPr wrap="square" rtlCol="0" anchor="ctr"/>
          <a:lstStyle/>
          <a:p>
            <a:pPr indent="0" marL="0">
              <a:buNone/>
            </a:pPr>
            <a:r>
              <a:rPr lang="en-US" sz="1100" dirty="0">
                <a:solidFill>
                  <a:srgbClr val="AAAAAA"/>
                </a:solidFill>
                <a:latin typeface="Calibri" pitchFamily="34" charset="0"/>
                <a:ea typeface="Calibri" pitchFamily="34" charset="-122"/>
                <a:cs typeface="Calibri" pitchFamily="34" charset="-120"/>
              </a:rPr>
              <a:t>Seguridad Bancaria · Sistemas de Pago</a:t>
            </a:r>
            <a:endParaRPr lang="en-US" sz="1100" dirty="0"/>
          </a:p>
        </p:txBody>
      </p:sp>
      <p:sp>
        <p:nvSpPr>
          <p:cNvPr id="5" name="Text 3"/>
          <p:cNvSpPr/>
          <p:nvPr/>
        </p:nvSpPr>
        <p:spPr>
          <a:xfrm>
            <a:off x="365760" y="566928"/>
            <a:ext cx="8229600" cy="256032"/>
          </a:xfrm>
          <a:prstGeom prst="rect">
            <a:avLst/>
          </a:prstGeom>
          <a:noFill/>
          <a:ln/>
        </p:spPr>
        <p:txBody>
          <a:bodyPr wrap="square" rtlCol="0" anchor="ctr"/>
          <a:lstStyle/>
          <a:p>
            <a:pPr indent="0" marL="0">
              <a:buNone/>
            </a:pPr>
            <a:r>
              <a:rPr lang="en-US" sz="1100" i="1" dirty="0">
                <a:solidFill>
                  <a:srgbClr val="E30000"/>
                </a:solidFill>
                <a:latin typeface="Calibri" pitchFamily="34" charset="0"/>
                <a:ea typeface="Calibri" pitchFamily="34" charset="-122"/>
                <a:cs typeface="Calibri" pitchFamily="34" charset="-120"/>
              </a:rPr>
              <a:t>Visión Ejecutiva del Proyecto</a:t>
            </a:r>
            <a:endParaRPr lang="en-US" sz="1100" dirty="0"/>
          </a:p>
        </p:txBody>
      </p:sp>
      <p:sp>
        <p:nvSpPr>
          <p:cNvPr id="6" name="Text 4"/>
          <p:cNvSpPr/>
          <p:nvPr/>
        </p:nvSpPr>
        <p:spPr>
          <a:xfrm>
            <a:off x="365760" y="1005840"/>
            <a:ext cx="8229600" cy="182880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Migración de</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Claves Criptográficas</a:t>
            </a:r>
            <a:endParaRPr lang="en-US" sz="4600" dirty="0"/>
          </a:p>
        </p:txBody>
      </p:sp>
      <p:sp>
        <p:nvSpPr>
          <p:cNvPr id="7" name="Shape 5"/>
          <p:cNvSpPr/>
          <p:nvPr/>
        </p:nvSpPr>
        <p:spPr>
          <a:xfrm>
            <a:off x="365760" y="2834640"/>
            <a:ext cx="3657600" cy="45720"/>
          </a:xfrm>
          <a:prstGeom prst="rect">
            <a:avLst/>
          </a:prstGeom>
          <a:solidFill>
            <a:srgbClr val="CC0000"/>
          </a:solidFill>
          <a:ln/>
        </p:spPr>
      </p:sp>
      <p:sp>
        <p:nvSpPr>
          <p:cNvPr id="8" name="Text 6"/>
          <p:cNvSpPr/>
          <p:nvPr/>
        </p:nvSpPr>
        <p:spPr>
          <a:xfrm>
            <a:off x="365760" y="2944368"/>
            <a:ext cx="8229600" cy="640080"/>
          </a:xfrm>
          <a:prstGeom prst="rect">
            <a:avLst/>
          </a:prstGeom>
          <a:noFill/>
          <a:ln/>
        </p:spPr>
        <p:txBody>
          <a:bodyPr wrap="square" rtlCol="0" anchor="ctr"/>
          <a:lstStyle/>
          <a:p>
            <a:pPr indent="0" marL="0">
              <a:buNone/>
            </a:pPr>
            <a:r>
              <a:rPr lang="en-US" sz="1500" dirty="0">
                <a:solidFill>
                  <a:srgbClr val="DDDDDD"/>
                </a:solidFill>
                <a:latin typeface="Calibri" pitchFamily="34" charset="0"/>
                <a:ea typeface="Calibri" pitchFamily="34" charset="-122"/>
                <a:cs typeface="Calibri" pitchFamily="34" charset="-120"/>
              </a:rPr>
              <a:t>Renovación de la raíz de seguridad criptográfica del banco.</a:t>
            </a:r>
            <a:endParaRPr lang="en-US" sz="1500" dirty="0"/>
          </a:p>
          <a:p>
            <a:pPr indent="0" marL="0">
              <a:buNone/>
            </a:pPr>
            <a:r>
              <a:rPr lang="en-US" sz="1500" dirty="0">
                <a:solidFill>
                  <a:srgbClr val="DDDDDD"/>
                </a:solidFill>
                <a:latin typeface="Calibri" pitchFamily="34" charset="0"/>
                <a:ea typeface="Calibri" pitchFamily="34" charset="-122"/>
                <a:cs typeface="Calibri" pitchFamily="34" charset="-120"/>
              </a:rPr>
              <a:t>Cumplimiento con estándares internacionales PCI HSM.</a:t>
            </a:r>
            <a:endParaRPr lang="en-US" sz="1500" dirty="0"/>
          </a:p>
        </p:txBody>
      </p:sp>
      <p:sp>
        <p:nvSpPr>
          <p:cNvPr id="9" name="Shape 7"/>
          <p:cNvSpPr/>
          <p:nvPr/>
        </p:nvSpPr>
        <p:spPr>
          <a:xfrm>
            <a:off x="365760" y="3730752"/>
            <a:ext cx="3977640" cy="1005840"/>
          </a:xfrm>
          <a:prstGeom prst="rect">
            <a:avLst/>
          </a:prstGeom>
          <a:solidFill>
            <a:srgbClr val="CC0000"/>
          </a:solidFill>
          <a:ln/>
          <a:effectLst>
            <a:outerShdw sx="100000" sy="100000" kx="0" ky="0" algn="bl" rotWithShape="0" blurRad="76200" dist="25400" dir="8100000">
              <a:srgbClr val="000000">
                <a:alpha val="30000"/>
              </a:srgbClr>
            </a:outerShdw>
          </a:effectLst>
        </p:spPr>
      </p:sp>
      <p:sp>
        <p:nvSpPr>
          <p:cNvPr id="10" name="Shape 8"/>
          <p:cNvSpPr/>
          <p:nvPr/>
        </p:nvSpPr>
        <p:spPr>
          <a:xfrm>
            <a:off x="365760" y="3730752"/>
            <a:ext cx="3977640" cy="36576"/>
          </a:xfrm>
          <a:prstGeom prst="rect">
            <a:avLst/>
          </a:prstGeom>
          <a:solidFill>
            <a:srgbClr val="CC0000"/>
          </a:solidFill>
          <a:ln/>
        </p:spPr>
      </p:sp>
      <p:sp>
        <p:nvSpPr>
          <p:cNvPr id="11" name="Text 9"/>
          <p:cNvSpPr/>
          <p:nvPr/>
        </p:nvSpPr>
        <p:spPr>
          <a:xfrm>
            <a:off x="493776" y="3785616"/>
            <a:ext cx="3749040" cy="237744"/>
          </a:xfrm>
          <a:prstGeom prst="rect">
            <a:avLst/>
          </a:prstGeom>
          <a:noFill/>
          <a:ln/>
        </p:spPr>
        <p:txBody>
          <a:bodyPr wrap="square" rtlCol="0" anchor="ctr"/>
          <a:lstStyle/>
          <a:p>
            <a:pPr indent="0" marL="0">
              <a:buNone/>
            </a:pPr>
            <a:r>
              <a:rPr lang="en-US" sz="1000" b="1" spc="100" kern="0" dirty="0">
                <a:solidFill>
                  <a:srgbClr val="DDDDDD"/>
                </a:solidFill>
                <a:latin typeface="Calibri" pitchFamily="34" charset="0"/>
                <a:ea typeface="Calibri" pitchFamily="34" charset="-122"/>
                <a:cs typeface="Calibri" pitchFamily="34" charset="-120"/>
              </a:rPr>
              <a:t>PROYECTO NUEVO</a:t>
            </a:r>
            <a:endParaRPr lang="en-US" sz="1000" dirty="0"/>
          </a:p>
        </p:txBody>
      </p:sp>
      <p:sp>
        <p:nvSpPr>
          <p:cNvPr id="12" name="Text 10"/>
          <p:cNvSpPr/>
          <p:nvPr/>
        </p:nvSpPr>
        <p:spPr>
          <a:xfrm>
            <a:off x="493776" y="4041648"/>
            <a:ext cx="374904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Thales payShield 10K</a:t>
            </a:r>
            <a:endParaRPr lang="en-US" sz="1400" dirty="0"/>
          </a:p>
        </p:txBody>
      </p:sp>
      <p:sp>
        <p:nvSpPr>
          <p:cNvPr id="13" name="Text 11"/>
          <p:cNvSpPr/>
          <p:nvPr/>
        </p:nvSpPr>
        <p:spPr>
          <a:xfrm>
            <a:off x="493776" y="4352544"/>
            <a:ext cx="3749040" cy="237744"/>
          </a:xfrm>
          <a:prstGeom prst="rect">
            <a:avLst/>
          </a:prstGeom>
          <a:noFill/>
          <a:ln/>
        </p:spPr>
        <p:txBody>
          <a:bodyPr wrap="square" rtlCol="0" anchor="ctr"/>
          <a:lstStyle/>
          <a:p>
            <a:pPr indent="0" marL="0">
              <a:buNone/>
            </a:pPr>
            <a:r>
              <a:rPr lang="en-US" sz="1000" i="1" dirty="0">
                <a:solidFill>
                  <a:srgbClr val="AAAAAA"/>
                </a:solidFill>
                <a:latin typeface="Calibri" pitchFamily="34" charset="0"/>
                <a:ea typeface="Calibri" pitchFamily="34" charset="-122"/>
                <a:cs typeface="Calibri" pitchFamily="34" charset="-120"/>
              </a:rPr>
              <a:t>Desarrollo de utilitario de migración</a:t>
            </a:r>
            <a:endParaRPr lang="en-US" sz="1000" dirty="0"/>
          </a:p>
        </p:txBody>
      </p:sp>
      <p:sp>
        <p:nvSpPr>
          <p:cNvPr id="14" name="Shape 12"/>
          <p:cNvSpPr/>
          <p:nvPr/>
        </p:nvSpPr>
        <p:spPr>
          <a:xfrm>
            <a:off x="4663440" y="3730752"/>
            <a:ext cx="3977640" cy="1005840"/>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15" name="Shape 13"/>
          <p:cNvSpPr/>
          <p:nvPr/>
        </p:nvSpPr>
        <p:spPr>
          <a:xfrm>
            <a:off x="4663440" y="3730752"/>
            <a:ext cx="3977640" cy="36576"/>
          </a:xfrm>
          <a:prstGeom prst="rect">
            <a:avLst/>
          </a:prstGeom>
          <a:solidFill>
            <a:srgbClr val="CC0000"/>
          </a:solidFill>
          <a:ln/>
        </p:spPr>
      </p:sp>
      <p:sp>
        <p:nvSpPr>
          <p:cNvPr id="16" name="Text 14"/>
          <p:cNvSpPr/>
          <p:nvPr/>
        </p:nvSpPr>
        <p:spPr>
          <a:xfrm>
            <a:off x="4791456" y="3785616"/>
            <a:ext cx="3749040" cy="237744"/>
          </a:xfrm>
          <a:prstGeom prst="rect">
            <a:avLst/>
          </a:prstGeom>
          <a:noFill/>
          <a:ln/>
        </p:spPr>
        <p:txBody>
          <a:bodyPr wrap="square" rtlCol="0" anchor="ctr"/>
          <a:lstStyle/>
          <a:p>
            <a:pPr indent="0" marL="0">
              <a:buNone/>
            </a:pPr>
            <a:r>
              <a:rPr lang="en-US" sz="1000" b="1" spc="100" kern="0" dirty="0">
                <a:solidFill>
                  <a:srgbClr val="DDDDDD"/>
                </a:solidFill>
                <a:latin typeface="Calibri" pitchFamily="34" charset="0"/>
                <a:ea typeface="Calibri" pitchFamily="34" charset="-122"/>
                <a:cs typeface="Calibri" pitchFamily="34" charset="-120"/>
              </a:rPr>
              <a:t>CICLO VALIDADO</a:t>
            </a:r>
            <a:endParaRPr lang="en-US" sz="1000" dirty="0"/>
          </a:p>
        </p:txBody>
      </p:sp>
      <p:sp>
        <p:nvSpPr>
          <p:cNvPr id="17" name="Text 15"/>
          <p:cNvSpPr/>
          <p:nvPr/>
        </p:nvSpPr>
        <p:spPr>
          <a:xfrm>
            <a:off x="4791456" y="4041648"/>
            <a:ext cx="3749040" cy="2743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IBM Coprocessor 4767</a:t>
            </a:r>
            <a:endParaRPr lang="en-US" sz="1400" dirty="0"/>
          </a:p>
        </p:txBody>
      </p:sp>
      <p:sp>
        <p:nvSpPr>
          <p:cNvPr id="18" name="Text 16"/>
          <p:cNvSpPr/>
          <p:nvPr/>
        </p:nvSpPr>
        <p:spPr>
          <a:xfrm>
            <a:off x="4791456" y="4352544"/>
            <a:ext cx="3749040" cy="237744"/>
          </a:xfrm>
          <a:prstGeom prst="rect">
            <a:avLst/>
          </a:prstGeom>
          <a:noFill/>
          <a:ln/>
        </p:spPr>
        <p:txBody>
          <a:bodyPr wrap="square" rtlCol="0" anchor="ctr"/>
          <a:lstStyle/>
          <a:p>
            <a:pPr indent="0" marL="0">
              <a:buNone/>
            </a:pPr>
            <a:r>
              <a:rPr lang="en-US" sz="1000" i="1" dirty="0">
                <a:solidFill>
                  <a:srgbClr val="AAAAAA"/>
                </a:solidFill>
                <a:latin typeface="Calibri" pitchFamily="34" charset="0"/>
                <a:ea typeface="Calibri" pitchFamily="34" charset="-122"/>
                <a:cs typeface="Calibri" pitchFamily="34" charset="-120"/>
              </a:rPr>
              <a:t>Proceso ya ejecutado anteriormente</a:t>
            </a:r>
            <a:endParaRPr lang="en-US" sz="1000" dirty="0"/>
          </a:p>
        </p:txBody>
      </p:sp>
      <p:sp>
        <p:nvSpPr>
          <p:cNvPr id="19" name="Shape 17"/>
          <p:cNvSpPr/>
          <p:nvPr/>
        </p:nvSpPr>
        <p:spPr>
          <a:xfrm>
            <a:off x="0" y="4882896"/>
            <a:ext cx="9144000" cy="260604"/>
          </a:xfrm>
          <a:prstGeom prst="rect">
            <a:avLst/>
          </a:prstGeom>
          <a:solidFill>
            <a:srgbClr val="000000">
              <a:alpha val="75000"/>
            </a:srgbClr>
          </a:solidFill>
          <a:ln/>
        </p:spPr>
      </p:sp>
      <p:sp>
        <p:nvSpPr>
          <p:cNvPr id="20" name="Text 18"/>
          <p:cNvSpPr/>
          <p:nvPr/>
        </p:nvSpPr>
        <p:spPr>
          <a:xfrm>
            <a:off x="365760" y="4910328"/>
            <a:ext cx="8412480" cy="219456"/>
          </a:xfrm>
          <a:prstGeom prst="rect">
            <a:avLst/>
          </a:prstGeom>
          <a:noFill/>
          <a:ln/>
        </p:spPr>
        <p:txBody>
          <a:bodyPr wrap="square" rtlCol="0" anchor="ctr"/>
          <a:lstStyle/>
          <a:p>
            <a:pPr indent="0" marL="0">
              <a:buNone/>
            </a:pPr>
            <a:r>
              <a:rPr lang="en-US" sz="1000" dirty="0">
                <a:solidFill>
                  <a:srgbClr val="666666"/>
                </a:solidFill>
                <a:latin typeface="Calibri" pitchFamily="34" charset="0"/>
                <a:ea typeface="Calibri" pitchFamily="34" charset="-122"/>
                <a:cs typeface="Calibri" pitchFamily="34" charset="-120"/>
              </a:rPr>
              <a:t>CONFIDENCIAL — Uso Interno  ·  Scotiabank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¿POR QUÉ ESTE PROYECTO?</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El banco opera con claves criptográficas que protegen cada transacción. Renovarlas es una obligación regulatoria y de seguridad.</a:t>
            </a:r>
            <a:endParaRPr lang="en-US" sz="1050" dirty="0"/>
          </a:p>
        </p:txBody>
      </p:sp>
      <p:sp>
        <p:nvSpPr>
          <p:cNvPr id="7" name="Shape 5"/>
          <p:cNvSpPr/>
          <p:nvPr/>
        </p:nvSpPr>
        <p:spPr>
          <a:xfrm>
            <a:off x="274320" y="1005840"/>
            <a:ext cx="2834640" cy="385876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8" name="Shape 6"/>
          <p:cNvSpPr/>
          <p:nvPr/>
        </p:nvSpPr>
        <p:spPr>
          <a:xfrm>
            <a:off x="274320" y="1005840"/>
            <a:ext cx="2834640" cy="512064"/>
          </a:xfrm>
          <a:prstGeom prst="rect">
            <a:avLst/>
          </a:prstGeom>
          <a:solidFill>
            <a:srgbClr val="CC0000"/>
          </a:solidFill>
          <a:ln/>
        </p:spPr>
      </p:sp>
      <p:sp>
        <p:nvSpPr>
          <p:cNvPr id="9" name="Text 7"/>
          <p:cNvSpPr/>
          <p:nvPr/>
        </p:nvSpPr>
        <p:spPr>
          <a:xfrm>
            <a:off x="365760" y="1042416"/>
            <a:ext cx="26517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Exigencia de Marcas</a:t>
            </a:r>
            <a:endParaRPr lang="en-US" sz="1300" dirty="0"/>
          </a:p>
        </p:txBody>
      </p:sp>
      <p:sp>
        <p:nvSpPr>
          <p:cNvPr id="10" name="Text 8"/>
          <p:cNvSpPr/>
          <p:nvPr/>
        </p:nvSpPr>
        <p:spPr>
          <a:xfrm>
            <a:off x="402336" y="1609344"/>
            <a:ext cx="2578608" cy="2578608"/>
          </a:xfrm>
          <a:prstGeom prst="rect">
            <a:avLst/>
          </a:prstGeom>
          <a:noFill/>
          <a:ln/>
        </p:spPr>
        <p:txBody>
          <a:bodyPr wrap="square" rtlCol="0" anchor="ctr"/>
          <a:lstStyle/>
          <a:p>
            <a:pPr indent="0" marL="0">
              <a:buNone/>
            </a:pPr>
            <a:r>
              <a:rPr lang="en-US" sz="1100" dirty="0">
                <a:solidFill>
                  <a:srgbClr val="111111"/>
                </a:solidFill>
                <a:latin typeface="Calibri" pitchFamily="34" charset="0"/>
                <a:ea typeface="Calibri" pitchFamily="34" charset="-122"/>
                <a:cs typeface="Calibri" pitchFamily="34" charset="-120"/>
              </a:rPr>
              <a:t>Visa, Mastercard y otras marcas de tarjetas exigen cambiar las claves maestras cada 2 años.</a:t>
            </a:r>
            <a:endParaRPr lang="en-US" sz="1100" dirty="0"/>
          </a:p>
          <a:p>
            <a:pPr indent="0" marL="0">
              <a:buNone/>
            </a:pPr>
            <a:endParaRPr lang="en-US" sz="1100" dirty="0"/>
          </a:p>
          <a:p>
            <a:pPr indent="0" marL="0">
              <a:buNone/>
            </a:pPr>
            <a:r>
              <a:rPr lang="en-US" sz="1100" dirty="0">
                <a:solidFill>
                  <a:srgbClr val="111111"/>
                </a:solidFill>
                <a:latin typeface="Calibri" pitchFamily="34" charset="0"/>
                <a:ea typeface="Calibri" pitchFamily="34" charset="-122"/>
                <a:cs typeface="Calibri" pitchFamily="34" charset="-120"/>
              </a:rPr>
              <a:t>No cumplir implica riesgo de sanciones y pérdida de certificaciones de procesamiento.</a:t>
            </a:r>
            <a:endParaRPr lang="en-US" sz="1100" dirty="0"/>
          </a:p>
        </p:txBody>
      </p:sp>
      <p:sp>
        <p:nvSpPr>
          <p:cNvPr id="11" name="Shape 9"/>
          <p:cNvSpPr/>
          <p:nvPr/>
        </p:nvSpPr>
        <p:spPr>
          <a:xfrm>
            <a:off x="347472" y="4206240"/>
            <a:ext cx="2688336" cy="548640"/>
          </a:xfrm>
          <a:prstGeom prst="rect">
            <a:avLst/>
          </a:prstGeom>
          <a:solidFill>
            <a:srgbClr val="CC0000">
              <a:alpha val="12000"/>
            </a:srgbClr>
          </a:solidFill>
          <a:ln/>
        </p:spPr>
      </p:sp>
      <p:sp>
        <p:nvSpPr>
          <p:cNvPr id="12" name="Text 10"/>
          <p:cNvSpPr/>
          <p:nvPr/>
        </p:nvSpPr>
        <p:spPr>
          <a:xfrm>
            <a:off x="402336" y="4251960"/>
            <a:ext cx="2578608" cy="457200"/>
          </a:xfrm>
          <a:prstGeom prst="rect">
            <a:avLst/>
          </a:prstGeom>
          <a:noFill/>
          <a:ln/>
        </p:spPr>
        <p:txBody>
          <a:bodyPr wrap="square" rtlCol="0" anchor="ctr"/>
          <a:lstStyle/>
          <a:p>
            <a:pPr indent="0" marL="0">
              <a:buNone/>
            </a:pPr>
            <a:r>
              <a:rPr lang="en-US" sz="850" i="1" dirty="0">
                <a:solidFill>
                  <a:srgbClr val="666666"/>
                </a:solidFill>
                <a:latin typeface="Calibri" pitchFamily="34" charset="0"/>
                <a:ea typeface="Calibri" pitchFamily="34" charset="-122"/>
                <a:cs typeface="Calibri" pitchFamily="34" charset="-120"/>
              </a:rPr>
              <a:t>Fuente: Thales payShield 10K Host Programmers Manual, cap. 10</a:t>
            </a:r>
            <a:endParaRPr lang="en-US" sz="850" dirty="0"/>
          </a:p>
        </p:txBody>
      </p:sp>
      <p:sp>
        <p:nvSpPr>
          <p:cNvPr id="13" name="Shape 11"/>
          <p:cNvSpPr/>
          <p:nvPr/>
        </p:nvSpPr>
        <p:spPr>
          <a:xfrm>
            <a:off x="3218688" y="1005840"/>
            <a:ext cx="2834640" cy="385876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14" name="Shape 12"/>
          <p:cNvSpPr/>
          <p:nvPr/>
        </p:nvSpPr>
        <p:spPr>
          <a:xfrm>
            <a:off x="3218688" y="1005840"/>
            <a:ext cx="2834640" cy="512064"/>
          </a:xfrm>
          <a:prstGeom prst="rect">
            <a:avLst/>
          </a:prstGeom>
          <a:solidFill>
            <a:srgbClr val="111111"/>
          </a:solidFill>
          <a:ln/>
        </p:spPr>
      </p:sp>
      <p:sp>
        <p:nvSpPr>
          <p:cNvPr id="15" name="Text 13"/>
          <p:cNvSpPr/>
          <p:nvPr/>
        </p:nvSpPr>
        <p:spPr>
          <a:xfrm>
            <a:off x="3310128" y="1042416"/>
            <a:ext cx="26517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Estándar PCI HSM v3</a:t>
            </a:r>
            <a:endParaRPr lang="en-US" sz="1300" dirty="0"/>
          </a:p>
        </p:txBody>
      </p:sp>
      <p:sp>
        <p:nvSpPr>
          <p:cNvPr id="16" name="Text 14"/>
          <p:cNvSpPr/>
          <p:nvPr/>
        </p:nvSpPr>
        <p:spPr>
          <a:xfrm>
            <a:off x="3346704" y="1609344"/>
            <a:ext cx="2578608" cy="2578608"/>
          </a:xfrm>
          <a:prstGeom prst="rect">
            <a:avLst/>
          </a:prstGeom>
          <a:noFill/>
          <a:ln/>
        </p:spPr>
        <p:txBody>
          <a:bodyPr wrap="square" rtlCol="0" anchor="ctr"/>
          <a:lstStyle/>
          <a:p>
            <a:pPr indent="0" marL="0">
              <a:buNone/>
            </a:pPr>
            <a:r>
              <a:rPr lang="en-US" sz="1100" dirty="0">
                <a:solidFill>
                  <a:srgbClr val="111111"/>
                </a:solidFill>
                <a:latin typeface="Calibri" pitchFamily="34" charset="0"/>
                <a:ea typeface="Calibri" pitchFamily="34" charset="-122"/>
                <a:cs typeface="Calibri" pitchFamily="34" charset="-120"/>
              </a:rPr>
              <a:t>El estándar global PCI HSM v3 exige migrar al formato Key Block (TR-31) que reemplaza al formato Variant (DES) obsoleto.</a:t>
            </a:r>
            <a:endParaRPr lang="en-US" sz="1100" dirty="0"/>
          </a:p>
          <a:p>
            <a:pPr indent="0" marL="0">
              <a:buNone/>
            </a:pPr>
            <a:endParaRPr lang="en-US" sz="1100" dirty="0"/>
          </a:p>
          <a:p>
            <a:pPr indent="0" marL="0">
              <a:buNone/>
            </a:pPr>
            <a:r>
              <a:rPr lang="en-US" sz="1100" dirty="0">
                <a:solidFill>
                  <a:srgbClr val="111111"/>
                </a:solidFill>
                <a:latin typeface="Calibri" pitchFamily="34" charset="0"/>
                <a:ea typeface="Calibri" pitchFamily="34" charset="-122"/>
                <a:cs typeface="Calibri" pitchFamily="34" charset="-120"/>
              </a:rPr>
              <a:t>Key Block incluye metadatos de uso que impiden el mal uso de las claves.</a:t>
            </a:r>
            <a:endParaRPr lang="en-US" sz="1100" dirty="0"/>
          </a:p>
        </p:txBody>
      </p:sp>
      <p:sp>
        <p:nvSpPr>
          <p:cNvPr id="17" name="Shape 15"/>
          <p:cNvSpPr/>
          <p:nvPr/>
        </p:nvSpPr>
        <p:spPr>
          <a:xfrm>
            <a:off x="3291840" y="4206240"/>
            <a:ext cx="2688336" cy="548640"/>
          </a:xfrm>
          <a:prstGeom prst="rect">
            <a:avLst/>
          </a:prstGeom>
          <a:solidFill>
            <a:srgbClr val="111111">
              <a:alpha val="12000"/>
            </a:srgbClr>
          </a:solidFill>
          <a:ln/>
        </p:spPr>
      </p:sp>
      <p:sp>
        <p:nvSpPr>
          <p:cNvPr id="18" name="Text 16"/>
          <p:cNvSpPr/>
          <p:nvPr/>
        </p:nvSpPr>
        <p:spPr>
          <a:xfrm>
            <a:off x="3346704" y="4251960"/>
            <a:ext cx="2578608" cy="457200"/>
          </a:xfrm>
          <a:prstGeom prst="rect">
            <a:avLst/>
          </a:prstGeom>
          <a:noFill/>
          <a:ln/>
        </p:spPr>
        <p:txBody>
          <a:bodyPr wrap="square" rtlCol="0" anchor="ctr"/>
          <a:lstStyle/>
          <a:p>
            <a:pPr indent="0" marL="0">
              <a:buNone/>
            </a:pPr>
            <a:r>
              <a:rPr lang="en-US" sz="850" i="1" dirty="0">
                <a:solidFill>
                  <a:srgbClr val="666666"/>
                </a:solidFill>
                <a:latin typeface="Calibri" pitchFamily="34" charset="0"/>
                <a:ea typeface="Calibri" pitchFamily="34" charset="-122"/>
                <a:cs typeface="Calibri" pitchFamily="34" charset="-120"/>
              </a:rPr>
              <a:t>Requerimiento activo desde 2025</a:t>
            </a:r>
            <a:endParaRPr lang="en-US" sz="850" dirty="0"/>
          </a:p>
        </p:txBody>
      </p:sp>
      <p:sp>
        <p:nvSpPr>
          <p:cNvPr id="19" name="Shape 17"/>
          <p:cNvSpPr/>
          <p:nvPr/>
        </p:nvSpPr>
        <p:spPr>
          <a:xfrm>
            <a:off x="6163056" y="1005840"/>
            <a:ext cx="2834640" cy="385876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20" name="Shape 18"/>
          <p:cNvSpPr/>
          <p:nvPr/>
        </p:nvSpPr>
        <p:spPr>
          <a:xfrm>
            <a:off x="6163056" y="1005840"/>
            <a:ext cx="2834640" cy="512064"/>
          </a:xfrm>
          <a:prstGeom prst="rect">
            <a:avLst/>
          </a:prstGeom>
          <a:solidFill>
            <a:srgbClr val="333333"/>
          </a:solidFill>
          <a:ln/>
        </p:spPr>
      </p:sp>
      <p:sp>
        <p:nvSpPr>
          <p:cNvPr id="21" name="Text 19"/>
          <p:cNvSpPr/>
          <p:nvPr/>
        </p:nvSpPr>
        <p:spPr>
          <a:xfrm>
            <a:off x="6254496" y="1042416"/>
            <a:ext cx="265176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Fortaleza Criptográfica</a:t>
            </a:r>
            <a:endParaRPr lang="en-US" sz="1300" dirty="0"/>
          </a:p>
        </p:txBody>
      </p:sp>
      <p:sp>
        <p:nvSpPr>
          <p:cNvPr id="22" name="Text 20"/>
          <p:cNvSpPr/>
          <p:nvPr/>
        </p:nvSpPr>
        <p:spPr>
          <a:xfrm>
            <a:off x="6291072" y="1609344"/>
            <a:ext cx="2578608" cy="2578608"/>
          </a:xfrm>
          <a:prstGeom prst="rect">
            <a:avLst/>
          </a:prstGeom>
          <a:noFill/>
          <a:ln/>
        </p:spPr>
        <p:txBody>
          <a:bodyPr wrap="square" rtlCol="0" anchor="ctr"/>
          <a:lstStyle/>
          <a:p>
            <a:pPr indent="0" marL="0">
              <a:buNone/>
            </a:pPr>
            <a:r>
              <a:rPr lang="en-US" sz="1100" dirty="0">
                <a:solidFill>
                  <a:srgbClr val="111111"/>
                </a:solidFill>
                <a:latin typeface="Calibri" pitchFamily="34" charset="0"/>
                <a:ea typeface="Calibri" pitchFamily="34" charset="-122"/>
                <a:cs typeface="Calibri" pitchFamily="34" charset="-120"/>
              </a:rPr>
              <a:t>El algoritmo DES (Variant) ha quedado técnicamente obsoleto. La migración a AES-256 con Key Block eleva significativamente la resistencia ante ataques modernos.</a:t>
            </a:r>
            <a:endParaRPr lang="en-US" sz="1100" dirty="0"/>
          </a:p>
        </p:txBody>
      </p:sp>
      <p:sp>
        <p:nvSpPr>
          <p:cNvPr id="23" name="Shape 21"/>
          <p:cNvSpPr/>
          <p:nvPr/>
        </p:nvSpPr>
        <p:spPr>
          <a:xfrm>
            <a:off x="6236208" y="4206240"/>
            <a:ext cx="2688336" cy="548640"/>
          </a:xfrm>
          <a:prstGeom prst="rect">
            <a:avLst/>
          </a:prstGeom>
          <a:solidFill>
            <a:srgbClr val="333333">
              <a:alpha val="12000"/>
            </a:srgbClr>
          </a:solidFill>
          <a:ln/>
        </p:spPr>
      </p:sp>
      <p:sp>
        <p:nvSpPr>
          <p:cNvPr id="24" name="Text 22"/>
          <p:cNvSpPr/>
          <p:nvPr/>
        </p:nvSpPr>
        <p:spPr>
          <a:xfrm>
            <a:off x="6291072" y="4251960"/>
            <a:ext cx="2578608" cy="457200"/>
          </a:xfrm>
          <a:prstGeom prst="rect">
            <a:avLst/>
          </a:prstGeom>
          <a:noFill/>
          <a:ln/>
        </p:spPr>
        <p:txBody>
          <a:bodyPr wrap="square" rtlCol="0" anchor="ctr"/>
          <a:lstStyle/>
          <a:p>
            <a:pPr indent="0" marL="0">
              <a:buNone/>
            </a:pPr>
            <a:r>
              <a:rPr lang="en-US" sz="850" i="1" dirty="0">
                <a:solidFill>
                  <a:srgbClr val="666666"/>
                </a:solidFill>
                <a:latin typeface="Calibri" pitchFamily="34" charset="0"/>
                <a:ea typeface="Calibri" pitchFamily="34" charset="-122"/>
                <a:cs typeface="Calibri" pitchFamily="34" charset="-120"/>
              </a:rPr>
              <a:t>Mejora de postura de seguridad bancaria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¿QUÉ SON LAS CLAVES CRIPTOGRÁFICAS?</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Explicación simplificada: cómo protegen las transacciones del banco y por qué la clave maestra es tan crítica.</a:t>
            </a:r>
            <a:endParaRPr lang="en-US" sz="1050" dirty="0"/>
          </a:p>
        </p:txBody>
      </p:sp>
      <p:sp>
        <p:nvSpPr>
          <p:cNvPr id="7" name="Shape 5"/>
          <p:cNvSpPr/>
          <p:nvPr/>
        </p:nvSpPr>
        <p:spPr>
          <a:xfrm>
            <a:off x="274320" y="1005840"/>
            <a:ext cx="4114800" cy="3858768"/>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8" name="Shape 6"/>
          <p:cNvSpPr/>
          <p:nvPr/>
        </p:nvSpPr>
        <p:spPr>
          <a:xfrm>
            <a:off x="274320" y="1005840"/>
            <a:ext cx="4114800" cy="384048"/>
          </a:xfrm>
          <a:prstGeom prst="rect">
            <a:avLst/>
          </a:prstGeom>
          <a:solidFill>
            <a:srgbClr val="CC0000"/>
          </a:solidFill>
          <a:ln/>
        </p:spPr>
      </p:sp>
      <p:sp>
        <p:nvSpPr>
          <p:cNvPr id="9" name="Text 7"/>
          <p:cNvSpPr/>
          <p:nvPr/>
        </p:nvSpPr>
        <p:spPr>
          <a:xfrm>
            <a:off x="402336" y="1060704"/>
            <a:ext cx="3858768"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 analogía de la caja fuerte</a:t>
            </a:r>
            <a:endParaRPr lang="en-US" sz="1200" dirty="0"/>
          </a:p>
        </p:txBody>
      </p:sp>
      <p:sp>
        <p:nvSpPr>
          <p:cNvPr id="10" name="Text 8"/>
          <p:cNvSpPr/>
          <p:nvPr/>
        </p:nvSpPr>
        <p:spPr>
          <a:xfrm>
            <a:off x="384048" y="1554480"/>
            <a:ext cx="365760" cy="54864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804672" y="1554480"/>
            <a:ext cx="3438144" cy="219456"/>
          </a:xfrm>
          <a:prstGeom prst="rect">
            <a:avLst/>
          </a:prstGeom>
          <a:noFill/>
          <a:ln/>
        </p:spPr>
        <p:txBody>
          <a:bodyPr wrap="square" rtlCol="0" anchor="ctr"/>
          <a:lstStyle/>
          <a:p>
            <a:pPr indent="0" marL="0">
              <a:buNone/>
            </a:pPr>
            <a:r>
              <a:rPr lang="en-US" sz="1000" b="1" dirty="0">
                <a:solidFill>
                  <a:srgbClr val="E30000"/>
                </a:solidFill>
                <a:latin typeface="Calibri" pitchFamily="34" charset="0"/>
                <a:ea typeface="Calibri" pitchFamily="34" charset="-122"/>
                <a:cs typeface="Calibri" pitchFamily="34" charset="-120"/>
              </a:rPr>
              <a:t>El HSM (Hardware Security Module)</a:t>
            </a:r>
            <a:endParaRPr lang="en-US" sz="1000" dirty="0"/>
          </a:p>
        </p:txBody>
      </p:sp>
      <p:sp>
        <p:nvSpPr>
          <p:cNvPr id="12" name="Text 10"/>
          <p:cNvSpPr/>
          <p:nvPr/>
        </p:nvSpPr>
        <p:spPr>
          <a:xfrm>
            <a:off x="804672" y="1792224"/>
            <a:ext cx="3438144" cy="475488"/>
          </a:xfrm>
          <a:prstGeom prst="rect">
            <a:avLst/>
          </a:prstGeom>
          <a:noFill/>
          <a:ln/>
        </p:spPr>
        <p:txBody>
          <a:bodyPr wrap="square" rtlCol="0" anchor="ctr"/>
          <a:lstStyle/>
          <a:p>
            <a:pPr indent="0" marL="0">
              <a:buNone/>
            </a:pPr>
            <a:r>
              <a:rPr lang="en-US" sz="950" dirty="0">
                <a:solidFill>
                  <a:srgbClr val="DDDDDD"/>
                </a:solidFill>
                <a:latin typeface="Calibri" pitchFamily="34" charset="0"/>
                <a:ea typeface="Calibri" pitchFamily="34" charset="-122"/>
                <a:cs typeface="Calibri" pitchFamily="34" charset="-120"/>
              </a:rPr>
              <a:t>es la caja fuerte inviolable del banco. Nadie puede abrir sus datos sin la llave maestra.</a:t>
            </a:r>
            <a:endParaRPr lang="en-US" sz="950" dirty="0"/>
          </a:p>
        </p:txBody>
      </p:sp>
      <p:sp>
        <p:nvSpPr>
          <p:cNvPr id="13" name="Text 11"/>
          <p:cNvSpPr/>
          <p:nvPr/>
        </p:nvSpPr>
        <p:spPr>
          <a:xfrm>
            <a:off x="384048" y="2359152"/>
            <a:ext cx="365760" cy="54864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804672" y="2359152"/>
            <a:ext cx="3438144" cy="219456"/>
          </a:xfrm>
          <a:prstGeom prst="rect">
            <a:avLst/>
          </a:prstGeom>
          <a:noFill/>
          <a:ln/>
        </p:spPr>
        <p:txBody>
          <a:bodyPr wrap="square" rtlCol="0" anchor="ctr"/>
          <a:lstStyle/>
          <a:p>
            <a:pPr indent="0" marL="0">
              <a:buNone/>
            </a:pPr>
            <a:r>
              <a:rPr lang="en-US" sz="1000" b="1" dirty="0">
                <a:solidFill>
                  <a:srgbClr val="E30000"/>
                </a:solidFill>
                <a:latin typeface="Calibri" pitchFamily="34" charset="0"/>
                <a:ea typeface="Calibri" pitchFamily="34" charset="-122"/>
                <a:cs typeface="Calibri" pitchFamily="34" charset="-120"/>
              </a:rPr>
              <a:t>La Clave Maestra (MK / LMK)</a:t>
            </a:r>
            <a:endParaRPr lang="en-US" sz="1000" dirty="0"/>
          </a:p>
        </p:txBody>
      </p:sp>
      <p:sp>
        <p:nvSpPr>
          <p:cNvPr id="15" name="Text 13"/>
          <p:cNvSpPr/>
          <p:nvPr/>
        </p:nvSpPr>
        <p:spPr>
          <a:xfrm>
            <a:off x="804672" y="2596896"/>
            <a:ext cx="3438144" cy="475488"/>
          </a:xfrm>
          <a:prstGeom prst="rect">
            <a:avLst/>
          </a:prstGeom>
          <a:noFill/>
          <a:ln/>
        </p:spPr>
        <p:txBody>
          <a:bodyPr wrap="square" rtlCol="0" anchor="ctr"/>
          <a:lstStyle/>
          <a:p>
            <a:pPr indent="0" marL="0">
              <a:buNone/>
            </a:pPr>
            <a:r>
              <a:rPr lang="en-US" sz="950" dirty="0">
                <a:solidFill>
                  <a:srgbClr val="DDDDDD"/>
                </a:solidFill>
                <a:latin typeface="Calibri" pitchFamily="34" charset="0"/>
                <a:ea typeface="Calibri" pitchFamily="34" charset="-122"/>
                <a:cs typeface="Calibri" pitchFamily="34" charset="-120"/>
              </a:rPr>
              <a:t>es la llave principal. Protege todas las demás claves operativas del banco dentro del HSM.</a:t>
            </a:r>
            <a:endParaRPr lang="en-US" sz="950" dirty="0"/>
          </a:p>
        </p:txBody>
      </p:sp>
      <p:sp>
        <p:nvSpPr>
          <p:cNvPr id="16" name="Text 14"/>
          <p:cNvSpPr/>
          <p:nvPr/>
        </p:nvSpPr>
        <p:spPr>
          <a:xfrm>
            <a:off x="384048" y="3163824"/>
            <a:ext cx="365760" cy="54864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804672" y="3163824"/>
            <a:ext cx="3438144" cy="219456"/>
          </a:xfrm>
          <a:prstGeom prst="rect">
            <a:avLst/>
          </a:prstGeom>
          <a:noFill/>
          <a:ln/>
        </p:spPr>
        <p:txBody>
          <a:bodyPr wrap="square" rtlCol="0" anchor="ctr"/>
          <a:lstStyle/>
          <a:p>
            <a:pPr indent="0" marL="0">
              <a:buNone/>
            </a:pPr>
            <a:r>
              <a:rPr lang="en-US" sz="1000" b="1" dirty="0">
                <a:solidFill>
                  <a:srgbClr val="E30000"/>
                </a:solidFill>
                <a:latin typeface="Calibri" pitchFamily="34" charset="0"/>
                <a:ea typeface="Calibri" pitchFamily="34" charset="-122"/>
                <a:cs typeface="Calibri" pitchFamily="34" charset="-120"/>
              </a:rPr>
              <a:t>Las claves operativas (ZPK, BDK…)</a:t>
            </a:r>
            <a:endParaRPr lang="en-US" sz="1000" dirty="0"/>
          </a:p>
        </p:txBody>
      </p:sp>
      <p:sp>
        <p:nvSpPr>
          <p:cNvPr id="18" name="Text 16"/>
          <p:cNvSpPr/>
          <p:nvPr/>
        </p:nvSpPr>
        <p:spPr>
          <a:xfrm>
            <a:off x="804672" y="3401568"/>
            <a:ext cx="3438144" cy="475488"/>
          </a:xfrm>
          <a:prstGeom prst="rect">
            <a:avLst/>
          </a:prstGeom>
          <a:noFill/>
          <a:ln/>
        </p:spPr>
        <p:txBody>
          <a:bodyPr wrap="square" rtlCol="0" anchor="ctr"/>
          <a:lstStyle/>
          <a:p>
            <a:pPr indent="0" marL="0">
              <a:buNone/>
            </a:pPr>
            <a:r>
              <a:rPr lang="en-US" sz="950" dirty="0">
                <a:solidFill>
                  <a:srgbClr val="DDDDDD"/>
                </a:solidFill>
                <a:latin typeface="Calibri" pitchFamily="34" charset="0"/>
                <a:ea typeface="Calibri" pitchFamily="34" charset="-122"/>
                <a:cs typeface="Calibri" pitchFamily="34" charset="-120"/>
              </a:rPr>
              <a:t>son las llaves secundarias. Protegen cada transacción con tarjeta: PINs, autorizaciones, CVV.</a:t>
            </a:r>
            <a:endParaRPr lang="en-US" sz="950" dirty="0"/>
          </a:p>
        </p:txBody>
      </p:sp>
      <p:sp>
        <p:nvSpPr>
          <p:cNvPr id="19" name="Text 17"/>
          <p:cNvSpPr/>
          <p:nvPr/>
        </p:nvSpPr>
        <p:spPr>
          <a:xfrm>
            <a:off x="384048" y="3968496"/>
            <a:ext cx="365760" cy="548640"/>
          </a:xfrm>
          <a:prstGeom prst="rect">
            <a:avLst/>
          </a:prstGeom>
          <a:noFill/>
          <a:ln/>
        </p:spPr>
        <p:txBody>
          <a:bodyPr wrap="square" rtlCol="0" anchor="ctr"/>
          <a:lstStyle/>
          <a:p>
            <a:pPr algn="ctr" indent="0" marL="0">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804672" y="3968496"/>
            <a:ext cx="3438144" cy="219456"/>
          </a:xfrm>
          <a:prstGeom prst="rect">
            <a:avLst/>
          </a:prstGeom>
          <a:noFill/>
          <a:ln/>
        </p:spPr>
        <p:txBody>
          <a:bodyPr wrap="square" rtlCol="0" anchor="ctr"/>
          <a:lstStyle/>
          <a:p>
            <a:pPr indent="0" marL="0">
              <a:buNone/>
            </a:pPr>
            <a:r>
              <a:rPr lang="en-US" sz="1000" b="1" dirty="0">
                <a:solidFill>
                  <a:srgbClr val="E30000"/>
                </a:solidFill>
                <a:latin typeface="Calibri" pitchFamily="34" charset="0"/>
                <a:ea typeface="Calibri" pitchFamily="34" charset="-122"/>
                <a:cs typeface="Calibri" pitchFamily="34" charset="-120"/>
              </a:rPr>
              <a:t>Migrar la clave maestra</a:t>
            </a:r>
            <a:endParaRPr lang="en-US" sz="1000" dirty="0"/>
          </a:p>
        </p:txBody>
      </p:sp>
      <p:sp>
        <p:nvSpPr>
          <p:cNvPr id="21" name="Text 19"/>
          <p:cNvSpPr/>
          <p:nvPr/>
        </p:nvSpPr>
        <p:spPr>
          <a:xfrm>
            <a:off x="804672" y="4206240"/>
            <a:ext cx="3438144" cy="475488"/>
          </a:xfrm>
          <a:prstGeom prst="rect">
            <a:avLst/>
          </a:prstGeom>
          <a:noFill/>
          <a:ln/>
        </p:spPr>
        <p:txBody>
          <a:bodyPr wrap="square" rtlCol="0" anchor="ctr"/>
          <a:lstStyle/>
          <a:p>
            <a:pPr indent="0" marL="0">
              <a:buNone/>
            </a:pPr>
            <a:r>
              <a:rPr lang="en-US" sz="950" dirty="0">
                <a:solidFill>
                  <a:srgbClr val="DDDDDD"/>
                </a:solidFill>
                <a:latin typeface="Calibri" pitchFamily="34" charset="0"/>
                <a:ea typeface="Calibri" pitchFamily="34" charset="-122"/>
                <a:cs typeface="Calibri" pitchFamily="34" charset="-120"/>
              </a:rPr>
              <a:t>es cambiar la llave principal de la caja fuerte, y re-cifrar todos los objetos guardados con la nueva llave.</a:t>
            </a:r>
            <a:endParaRPr lang="en-US" sz="950" dirty="0"/>
          </a:p>
        </p:txBody>
      </p:sp>
      <p:sp>
        <p:nvSpPr>
          <p:cNvPr id="22" name="Shape 20"/>
          <p:cNvSpPr/>
          <p:nvPr/>
        </p:nvSpPr>
        <p:spPr>
          <a:xfrm>
            <a:off x="4663440" y="1005840"/>
            <a:ext cx="4206240" cy="385876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23" name="Shape 21"/>
          <p:cNvSpPr/>
          <p:nvPr/>
        </p:nvSpPr>
        <p:spPr>
          <a:xfrm>
            <a:off x="4663440" y="1005840"/>
            <a:ext cx="4206240" cy="384048"/>
          </a:xfrm>
          <a:prstGeom prst="rect">
            <a:avLst/>
          </a:prstGeom>
          <a:solidFill>
            <a:srgbClr val="111111"/>
          </a:solidFill>
          <a:ln/>
        </p:spPr>
      </p:sp>
      <p:sp>
        <p:nvSpPr>
          <p:cNvPr id="24" name="Text 22"/>
          <p:cNvSpPr/>
          <p:nvPr/>
        </p:nvSpPr>
        <p:spPr>
          <a:xfrm>
            <a:off x="4791456" y="1060704"/>
            <a:ext cx="3950208"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¿Qué protegen en la práctica?</a:t>
            </a:r>
            <a:endParaRPr lang="en-US" sz="1200" dirty="0"/>
          </a:p>
        </p:txBody>
      </p:sp>
      <p:sp>
        <p:nvSpPr>
          <p:cNvPr id="25" name="Shape 23"/>
          <p:cNvSpPr/>
          <p:nvPr/>
        </p:nvSpPr>
        <p:spPr>
          <a:xfrm>
            <a:off x="4773168" y="1499616"/>
            <a:ext cx="3986784" cy="694944"/>
          </a:xfrm>
          <a:prstGeom prst="rect">
            <a:avLst/>
          </a:prstGeom>
          <a:solidFill>
            <a:srgbClr val="F5F5F5"/>
          </a:solidFill>
          <a:ln/>
        </p:spPr>
      </p:sp>
      <p:sp>
        <p:nvSpPr>
          <p:cNvPr id="26" name="Text 24"/>
          <p:cNvSpPr/>
          <p:nvPr/>
        </p:nvSpPr>
        <p:spPr>
          <a:xfrm>
            <a:off x="4809744" y="1591056"/>
            <a:ext cx="457200" cy="45720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7" name="Text 25"/>
          <p:cNvSpPr/>
          <p:nvPr/>
        </p:nvSpPr>
        <p:spPr>
          <a:xfrm>
            <a:off x="5321808" y="1554480"/>
            <a:ext cx="3346704" cy="219456"/>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Transacciones con tarjeta</a:t>
            </a:r>
            <a:endParaRPr lang="en-US" sz="1050" dirty="0"/>
          </a:p>
        </p:txBody>
      </p:sp>
      <p:sp>
        <p:nvSpPr>
          <p:cNvPr id="28" name="Text 26"/>
          <p:cNvSpPr/>
          <p:nvPr/>
        </p:nvSpPr>
        <p:spPr>
          <a:xfrm>
            <a:off x="5321808" y="1792224"/>
            <a:ext cx="3346704" cy="38404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Cada compra o retiro genera operaciones criptográficas protegidas por claves derivadas de la MK.</a:t>
            </a:r>
            <a:endParaRPr lang="en-US" sz="900" dirty="0"/>
          </a:p>
        </p:txBody>
      </p:sp>
      <p:sp>
        <p:nvSpPr>
          <p:cNvPr id="29" name="Shape 27"/>
          <p:cNvSpPr/>
          <p:nvPr/>
        </p:nvSpPr>
        <p:spPr>
          <a:xfrm>
            <a:off x="4773168" y="2304288"/>
            <a:ext cx="3986784" cy="694944"/>
          </a:xfrm>
          <a:prstGeom prst="rect">
            <a:avLst/>
          </a:prstGeom>
          <a:solidFill>
            <a:srgbClr val="F5F5F5"/>
          </a:solidFill>
          <a:ln/>
        </p:spPr>
      </p:sp>
      <p:sp>
        <p:nvSpPr>
          <p:cNvPr id="30" name="Text 28"/>
          <p:cNvSpPr/>
          <p:nvPr/>
        </p:nvSpPr>
        <p:spPr>
          <a:xfrm>
            <a:off x="4809744" y="2395728"/>
            <a:ext cx="457200" cy="45720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1" name="Text 29"/>
          <p:cNvSpPr/>
          <p:nvPr/>
        </p:nvSpPr>
        <p:spPr>
          <a:xfrm>
            <a:off x="5321808" y="2359152"/>
            <a:ext cx="3346704" cy="219456"/>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PINs de los clientes</a:t>
            </a:r>
            <a:endParaRPr lang="en-US" sz="1050" dirty="0"/>
          </a:p>
        </p:txBody>
      </p:sp>
      <p:sp>
        <p:nvSpPr>
          <p:cNvPr id="32" name="Text 30"/>
          <p:cNvSpPr/>
          <p:nvPr/>
        </p:nvSpPr>
        <p:spPr>
          <a:xfrm>
            <a:off x="5321808" y="2596896"/>
            <a:ext cx="3346704" cy="38404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El PIN se cifra desde el terminal hasta el procesador. Las claves de cifrado están protegidas por la MK.</a:t>
            </a:r>
            <a:endParaRPr lang="en-US" sz="900" dirty="0"/>
          </a:p>
        </p:txBody>
      </p:sp>
      <p:sp>
        <p:nvSpPr>
          <p:cNvPr id="33" name="Shape 31"/>
          <p:cNvSpPr/>
          <p:nvPr/>
        </p:nvSpPr>
        <p:spPr>
          <a:xfrm>
            <a:off x="4773168" y="3108960"/>
            <a:ext cx="3986784" cy="694944"/>
          </a:xfrm>
          <a:prstGeom prst="rect">
            <a:avLst/>
          </a:prstGeom>
          <a:solidFill>
            <a:srgbClr val="F5F5F5"/>
          </a:solidFill>
          <a:ln/>
        </p:spPr>
      </p:sp>
      <p:sp>
        <p:nvSpPr>
          <p:cNvPr id="34" name="Text 32"/>
          <p:cNvSpPr/>
          <p:nvPr/>
        </p:nvSpPr>
        <p:spPr>
          <a:xfrm>
            <a:off x="4809744" y="3200400"/>
            <a:ext cx="457200" cy="45720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5" name="Text 33"/>
          <p:cNvSpPr/>
          <p:nvPr/>
        </p:nvSpPr>
        <p:spPr>
          <a:xfrm>
            <a:off x="5321808" y="3163824"/>
            <a:ext cx="3346704" cy="219456"/>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Autorizaciones de pago</a:t>
            </a:r>
            <a:endParaRPr lang="en-US" sz="1050" dirty="0"/>
          </a:p>
        </p:txBody>
      </p:sp>
      <p:sp>
        <p:nvSpPr>
          <p:cNvPr id="36" name="Text 34"/>
          <p:cNvSpPr/>
          <p:nvPr/>
        </p:nvSpPr>
        <p:spPr>
          <a:xfrm>
            <a:off x="5321808" y="3401568"/>
            <a:ext cx="3346704" cy="38404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Los mensajes entre el banco y Visa/Mastercard van firmados criptográficamente con claves bajo la MK.</a:t>
            </a:r>
            <a:endParaRPr lang="en-US" sz="900" dirty="0"/>
          </a:p>
        </p:txBody>
      </p:sp>
      <p:sp>
        <p:nvSpPr>
          <p:cNvPr id="37" name="Shape 35"/>
          <p:cNvSpPr/>
          <p:nvPr/>
        </p:nvSpPr>
        <p:spPr>
          <a:xfrm>
            <a:off x="4773168" y="3913632"/>
            <a:ext cx="3986784" cy="694944"/>
          </a:xfrm>
          <a:prstGeom prst="rect">
            <a:avLst/>
          </a:prstGeom>
          <a:solidFill>
            <a:srgbClr val="F5F5F5"/>
          </a:solidFill>
          <a:ln/>
        </p:spPr>
      </p:sp>
      <p:sp>
        <p:nvSpPr>
          <p:cNvPr id="38" name="Text 36"/>
          <p:cNvSpPr/>
          <p:nvPr/>
        </p:nvSpPr>
        <p:spPr>
          <a:xfrm>
            <a:off x="4809744" y="4005072"/>
            <a:ext cx="457200" cy="457200"/>
          </a:xfrm>
          <a:prstGeom prst="rect">
            <a:avLst/>
          </a:prstGeom>
          <a:noFill/>
          <a:ln/>
        </p:spPr>
        <p:txBody>
          <a:bodyPr wrap="square" rtlCol="0" anchor="ctr"/>
          <a:lstStyle/>
          <a:p>
            <a:pPr algn="ct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9" name="Text 37"/>
          <p:cNvSpPr/>
          <p:nvPr/>
        </p:nvSpPr>
        <p:spPr>
          <a:xfrm>
            <a:off x="5321808" y="3968496"/>
            <a:ext cx="3346704" cy="219456"/>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Integridad del sistema</a:t>
            </a:r>
            <a:endParaRPr lang="en-US" sz="1050" dirty="0"/>
          </a:p>
        </p:txBody>
      </p:sp>
      <p:sp>
        <p:nvSpPr>
          <p:cNvPr id="40" name="Text 38"/>
          <p:cNvSpPr/>
          <p:nvPr/>
        </p:nvSpPr>
        <p:spPr>
          <a:xfrm>
            <a:off x="5321808" y="4206240"/>
            <a:ext cx="3346704" cy="384048"/>
          </a:xfrm>
          <a:prstGeom prst="rect">
            <a:avLst/>
          </a:prstGeom>
          <a:noFill/>
          <a:ln/>
        </p:spPr>
        <p:txBody>
          <a:bodyPr wrap="square" rtlCol="0" anchor="ctr"/>
          <a:lstStyle/>
          <a:p>
            <a:pPr indent="0" marL="0">
              <a:buNone/>
            </a:pPr>
            <a:r>
              <a:rPr lang="en-US" sz="900" dirty="0">
                <a:solidFill>
                  <a:srgbClr val="666666"/>
                </a:solidFill>
                <a:latin typeface="Calibri" pitchFamily="34" charset="0"/>
                <a:ea typeface="Calibri" pitchFamily="34" charset="-122"/>
                <a:cs typeface="Calibri" pitchFamily="34" charset="-120"/>
              </a:rPr>
              <a:t>Sin la MK correcta, el HSM no puede procesar ninguna operación — cero transacciones.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ALCANCE DEL PROYECTO</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Dos frentes de migración coordinados — uno ya probado, uno nuevo que requiere desarrollo específico.</a:t>
            </a:r>
            <a:endParaRPr lang="en-US" sz="1050" dirty="0"/>
          </a:p>
        </p:txBody>
      </p:sp>
      <p:sp>
        <p:nvSpPr>
          <p:cNvPr id="7" name="Shape 5"/>
          <p:cNvSpPr/>
          <p:nvPr/>
        </p:nvSpPr>
        <p:spPr>
          <a:xfrm>
            <a:off x="274320" y="987552"/>
            <a:ext cx="8595360" cy="475488"/>
          </a:xfrm>
          <a:prstGeom prst="rect">
            <a:avLst/>
          </a:prstGeom>
          <a:solidFill>
            <a:srgbClr val="2A2A2A"/>
          </a:solidFill>
          <a:ln/>
        </p:spPr>
      </p:sp>
      <p:sp>
        <p:nvSpPr>
          <p:cNvPr id="8" name="Text 6"/>
          <p:cNvSpPr/>
          <p:nvPr/>
        </p:nvSpPr>
        <p:spPr>
          <a:xfrm>
            <a:off x="402336" y="1042416"/>
            <a:ext cx="8339328" cy="329184"/>
          </a:xfrm>
          <a:prstGeom prst="rect">
            <a:avLst/>
          </a:prstGeom>
          <a:noFill/>
          <a:ln/>
        </p:spPr>
        <p:txBody>
          <a:bodyPr wrap="square" rtlCol="0" anchor="ctr"/>
          <a:lstStyle/>
          <a:p>
            <a:pPr indent="0" marL="0">
              <a:buNone/>
            </a:pPr>
            <a:r>
              <a:rPr lang="en-US" sz="1050" dirty="0">
                <a:solidFill>
                  <a:srgbClr val="DDDDDD"/>
                </a:solidFill>
                <a:latin typeface="Calibri" pitchFamily="34" charset="0"/>
                <a:ea typeface="Calibri" pitchFamily="34" charset="-122"/>
                <a:cs typeface="Calibri" pitchFamily="34" charset="-120"/>
              </a:rPr>
              <a:t>El banco opera dos plataformas HSM independientes. Ambas deben migrarse de forma coordinada para garantizar la continuidad operativa.</a:t>
            </a:r>
            <a:endParaRPr lang="en-US" sz="1050" dirty="0"/>
          </a:p>
        </p:txBody>
      </p:sp>
      <p:sp>
        <p:nvSpPr>
          <p:cNvPr id="9" name="Shape 7"/>
          <p:cNvSpPr/>
          <p:nvPr/>
        </p:nvSpPr>
        <p:spPr>
          <a:xfrm>
            <a:off x="274320" y="1591056"/>
            <a:ext cx="4160520" cy="331012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10" name="Shape 8"/>
          <p:cNvSpPr/>
          <p:nvPr/>
        </p:nvSpPr>
        <p:spPr>
          <a:xfrm>
            <a:off x="274320" y="1591056"/>
            <a:ext cx="4160520" cy="475488"/>
          </a:xfrm>
          <a:prstGeom prst="rect">
            <a:avLst/>
          </a:prstGeom>
          <a:solidFill>
            <a:srgbClr val="CC0000"/>
          </a:solidFill>
          <a:ln/>
        </p:spPr>
      </p:sp>
      <p:sp>
        <p:nvSpPr>
          <p:cNvPr id="11" name="Text 9"/>
          <p:cNvSpPr/>
          <p:nvPr/>
        </p:nvSpPr>
        <p:spPr>
          <a:xfrm>
            <a:off x="402336" y="1645920"/>
            <a:ext cx="3913632"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FRENTE 1 — Thales payShield 10K</a:t>
            </a:r>
            <a:endParaRPr lang="en-US" sz="1200" dirty="0"/>
          </a:p>
        </p:txBody>
      </p:sp>
      <p:sp>
        <p:nvSpPr>
          <p:cNvPr id="12" name="Shape 10"/>
          <p:cNvSpPr/>
          <p:nvPr/>
        </p:nvSpPr>
        <p:spPr>
          <a:xfrm>
            <a:off x="274320" y="2066544"/>
            <a:ext cx="4160520" cy="292608"/>
          </a:xfrm>
          <a:prstGeom prst="rect">
            <a:avLst/>
          </a:prstGeom>
          <a:solidFill>
            <a:srgbClr val="CC0000">
              <a:alpha val="20000"/>
            </a:srgbClr>
          </a:solidFill>
          <a:ln/>
        </p:spPr>
      </p:sp>
      <p:sp>
        <p:nvSpPr>
          <p:cNvPr id="13" name="Text 11"/>
          <p:cNvSpPr/>
          <p:nvPr/>
        </p:nvSpPr>
        <p:spPr>
          <a:xfrm>
            <a:off x="402336" y="2093976"/>
            <a:ext cx="3913632" cy="237744"/>
          </a:xfrm>
          <a:prstGeom prst="rect">
            <a:avLst/>
          </a:prstGeom>
          <a:noFill/>
          <a:ln/>
        </p:spPr>
        <p:txBody>
          <a:bodyPr wrap="square" rtlCol="0" anchor="ctr"/>
          <a:lstStyle/>
          <a:p>
            <a:pPr indent="0" marL="0">
              <a:buNone/>
            </a:pPr>
            <a:r>
              <a:rPr lang="en-US" sz="1000" b="1" dirty="0">
                <a:solidFill>
                  <a:srgbClr val="990000"/>
                </a:solidFill>
                <a:latin typeface="Calibri" pitchFamily="34" charset="0"/>
                <a:ea typeface="Calibri" pitchFamily="34" charset="-122"/>
                <a:cs typeface="Calibri" pitchFamily="34" charset="-120"/>
              </a:rPr>
              <a:t>🔄  NUEVO — Requiere desarrollo e implementación</a:t>
            </a:r>
            <a:endParaRPr lang="en-US" sz="1000" dirty="0"/>
          </a:p>
        </p:txBody>
      </p:sp>
      <p:sp>
        <p:nvSpPr>
          <p:cNvPr id="14" name="Text 12"/>
          <p:cNvSpPr/>
          <p:nvPr/>
        </p:nvSpPr>
        <p:spPr>
          <a:xfrm>
            <a:off x="402336" y="2432304"/>
            <a:ext cx="1371600" cy="475488"/>
          </a:xfrm>
          <a:prstGeom prst="rect">
            <a:avLst/>
          </a:prstGeom>
          <a:noFill/>
          <a:ln/>
        </p:spPr>
        <p:txBody>
          <a:bodyPr wrap="square" rtlCol="0" anchor="ctr"/>
          <a:lstStyle/>
          <a:p>
            <a:pPr indent="0" marL="0">
              <a:buNone/>
            </a:pPr>
            <a:r>
              <a:rPr lang="en-US" sz="1000" b="1" dirty="0">
                <a:solidFill>
                  <a:srgbClr val="CC0000"/>
                </a:solidFill>
                <a:latin typeface="Calibri" pitchFamily="34" charset="0"/>
                <a:ea typeface="Calibri" pitchFamily="34" charset="-122"/>
                <a:cs typeface="Calibri" pitchFamily="34" charset="-120"/>
              </a:rPr>
              <a:t>¿Qué es?:</a:t>
            </a:r>
            <a:endParaRPr lang="en-US" sz="1000" dirty="0"/>
          </a:p>
        </p:txBody>
      </p:sp>
      <p:sp>
        <p:nvSpPr>
          <p:cNvPr id="15" name="Text 13"/>
          <p:cNvSpPr/>
          <p:nvPr/>
        </p:nvSpPr>
        <p:spPr>
          <a:xfrm>
            <a:off x="1792224" y="2432304"/>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HSM externo conectado vía red. Procesa las transacciones de tarjeta del banco.</a:t>
            </a:r>
            <a:endParaRPr lang="en-US" sz="1000" dirty="0"/>
          </a:p>
        </p:txBody>
      </p:sp>
      <p:sp>
        <p:nvSpPr>
          <p:cNvPr id="16" name="Text 14"/>
          <p:cNvSpPr/>
          <p:nvPr/>
        </p:nvSpPr>
        <p:spPr>
          <a:xfrm>
            <a:off x="402336" y="3017520"/>
            <a:ext cx="1371600" cy="475488"/>
          </a:xfrm>
          <a:prstGeom prst="rect">
            <a:avLst/>
          </a:prstGeom>
          <a:noFill/>
          <a:ln/>
        </p:spPr>
        <p:txBody>
          <a:bodyPr wrap="square" rtlCol="0" anchor="ctr"/>
          <a:lstStyle/>
          <a:p>
            <a:pPr indent="0" marL="0">
              <a:buNone/>
            </a:pPr>
            <a:r>
              <a:rPr lang="en-US" sz="1000" b="1" dirty="0">
                <a:solidFill>
                  <a:srgbClr val="CC0000"/>
                </a:solidFill>
                <a:latin typeface="Calibri" pitchFamily="34" charset="0"/>
                <a:ea typeface="Calibri" pitchFamily="34" charset="-122"/>
                <a:cs typeface="Calibri" pitchFamily="34" charset="-120"/>
              </a:rPr>
              <a:t>¿Qué se migra?:</a:t>
            </a:r>
            <a:endParaRPr lang="en-US" sz="1000" dirty="0"/>
          </a:p>
        </p:txBody>
      </p:sp>
      <p:sp>
        <p:nvSpPr>
          <p:cNvPr id="17" name="Text 15"/>
          <p:cNvSpPr/>
          <p:nvPr/>
        </p:nvSpPr>
        <p:spPr>
          <a:xfrm>
            <a:off x="1792224" y="3017520"/>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La clave maestra LMK que protege todas las claves operativas almacenadas en base de datos.</a:t>
            </a:r>
            <a:endParaRPr lang="en-US" sz="1000" dirty="0"/>
          </a:p>
        </p:txBody>
      </p:sp>
      <p:sp>
        <p:nvSpPr>
          <p:cNvPr id="18" name="Text 16"/>
          <p:cNvSpPr/>
          <p:nvPr/>
        </p:nvSpPr>
        <p:spPr>
          <a:xfrm>
            <a:off x="402336" y="3602736"/>
            <a:ext cx="1371600" cy="475488"/>
          </a:xfrm>
          <a:prstGeom prst="rect">
            <a:avLst/>
          </a:prstGeom>
          <a:noFill/>
          <a:ln/>
        </p:spPr>
        <p:txBody>
          <a:bodyPr wrap="square" rtlCol="0" anchor="ctr"/>
          <a:lstStyle/>
          <a:p>
            <a:pPr indent="0" marL="0">
              <a:buNone/>
            </a:pPr>
            <a:r>
              <a:rPr lang="en-US" sz="1000" b="1" dirty="0">
                <a:solidFill>
                  <a:srgbClr val="CC0000"/>
                </a:solidFill>
                <a:latin typeface="Calibri" pitchFamily="34" charset="0"/>
                <a:ea typeface="Calibri" pitchFamily="34" charset="-122"/>
                <a:cs typeface="Calibri" pitchFamily="34" charset="-120"/>
              </a:rPr>
              <a:t>¿Qué hay que hacer?:</a:t>
            </a:r>
            <a:endParaRPr lang="en-US" sz="1000" dirty="0"/>
          </a:p>
        </p:txBody>
      </p:sp>
      <p:sp>
        <p:nvSpPr>
          <p:cNvPr id="19" name="Text 17"/>
          <p:cNvSpPr/>
          <p:nvPr/>
        </p:nvSpPr>
        <p:spPr>
          <a:xfrm>
            <a:off x="1792224" y="3602736"/>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Desarrollar un utilitario que automatice la re-cifración de claves, similar al que existe en IBM.</a:t>
            </a:r>
            <a:endParaRPr lang="en-US" sz="1000" dirty="0"/>
          </a:p>
        </p:txBody>
      </p:sp>
      <p:sp>
        <p:nvSpPr>
          <p:cNvPr id="20" name="Text 18"/>
          <p:cNvSpPr/>
          <p:nvPr/>
        </p:nvSpPr>
        <p:spPr>
          <a:xfrm>
            <a:off x="402336" y="4187952"/>
            <a:ext cx="1371600" cy="475488"/>
          </a:xfrm>
          <a:prstGeom prst="rect">
            <a:avLst/>
          </a:prstGeom>
          <a:noFill/>
          <a:ln/>
        </p:spPr>
        <p:txBody>
          <a:bodyPr wrap="square" rtlCol="0" anchor="ctr"/>
          <a:lstStyle/>
          <a:p>
            <a:pPr indent="0" marL="0">
              <a:buNone/>
            </a:pPr>
            <a:r>
              <a:rPr lang="en-US" sz="1000" b="1" dirty="0">
                <a:solidFill>
                  <a:srgbClr val="CC0000"/>
                </a:solidFill>
                <a:latin typeface="Calibri" pitchFamily="34" charset="0"/>
                <a:ea typeface="Calibri" pitchFamily="34" charset="-122"/>
                <a:cs typeface="Calibri" pitchFamily="34" charset="-120"/>
              </a:rPr>
              <a:t>Resultado esperado:</a:t>
            </a:r>
            <a:endParaRPr lang="en-US" sz="1000" dirty="0"/>
          </a:p>
        </p:txBody>
      </p:sp>
      <p:sp>
        <p:nvSpPr>
          <p:cNvPr id="21" name="Text 19"/>
          <p:cNvSpPr/>
          <p:nvPr/>
        </p:nvSpPr>
        <p:spPr>
          <a:xfrm>
            <a:off x="1792224" y="4187952"/>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Claves migradas al estándar Key Block (TR-31), cumpliendo PCI HSM v3.</a:t>
            </a:r>
            <a:endParaRPr lang="en-US" sz="1000" dirty="0"/>
          </a:p>
        </p:txBody>
      </p:sp>
      <p:sp>
        <p:nvSpPr>
          <p:cNvPr id="22" name="Shape 20"/>
          <p:cNvSpPr/>
          <p:nvPr/>
        </p:nvSpPr>
        <p:spPr>
          <a:xfrm>
            <a:off x="4709160" y="1591056"/>
            <a:ext cx="4160520" cy="331012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23" name="Shape 21"/>
          <p:cNvSpPr/>
          <p:nvPr/>
        </p:nvSpPr>
        <p:spPr>
          <a:xfrm>
            <a:off x="4709160" y="1591056"/>
            <a:ext cx="4160520" cy="475488"/>
          </a:xfrm>
          <a:prstGeom prst="rect">
            <a:avLst/>
          </a:prstGeom>
          <a:solidFill>
            <a:srgbClr val="111111"/>
          </a:solidFill>
          <a:ln/>
        </p:spPr>
      </p:sp>
      <p:sp>
        <p:nvSpPr>
          <p:cNvPr id="24" name="Text 22"/>
          <p:cNvSpPr/>
          <p:nvPr/>
        </p:nvSpPr>
        <p:spPr>
          <a:xfrm>
            <a:off x="4837176" y="1645920"/>
            <a:ext cx="3913632"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FRENTE 2 — IBM Coprocessor 4767</a:t>
            </a:r>
            <a:endParaRPr lang="en-US" sz="1200" dirty="0"/>
          </a:p>
        </p:txBody>
      </p:sp>
      <p:sp>
        <p:nvSpPr>
          <p:cNvPr id="25" name="Shape 23"/>
          <p:cNvSpPr/>
          <p:nvPr/>
        </p:nvSpPr>
        <p:spPr>
          <a:xfrm>
            <a:off x="4709160" y="2066544"/>
            <a:ext cx="4160520" cy="292608"/>
          </a:xfrm>
          <a:prstGeom prst="rect">
            <a:avLst/>
          </a:prstGeom>
          <a:solidFill>
            <a:srgbClr val="2E7D32">
              <a:alpha val="70000"/>
            </a:srgbClr>
          </a:solidFill>
          <a:ln/>
        </p:spPr>
      </p:sp>
      <p:sp>
        <p:nvSpPr>
          <p:cNvPr id="26" name="Text 24"/>
          <p:cNvSpPr/>
          <p:nvPr/>
        </p:nvSpPr>
        <p:spPr>
          <a:xfrm>
            <a:off x="4837176" y="2093976"/>
            <a:ext cx="3913632" cy="237744"/>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  YA VALIDADO — Proceso ejecutado anteriormente</a:t>
            </a:r>
            <a:endParaRPr lang="en-US" sz="1000" dirty="0"/>
          </a:p>
        </p:txBody>
      </p:sp>
      <p:sp>
        <p:nvSpPr>
          <p:cNvPr id="27" name="Text 25"/>
          <p:cNvSpPr/>
          <p:nvPr/>
        </p:nvSpPr>
        <p:spPr>
          <a:xfrm>
            <a:off x="4837176" y="2432304"/>
            <a:ext cx="1371600" cy="475488"/>
          </a:xfrm>
          <a:prstGeom prst="rect">
            <a:avLst/>
          </a:prstGeom>
          <a:noFill/>
          <a:ln/>
        </p:spPr>
        <p:txBody>
          <a:bodyPr wrap="square"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¿Qué es?:</a:t>
            </a:r>
            <a:endParaRPr lang="en-US" sz="1000" dirty="0"/>
          </a:p>
        </p:txBody>
      </p:sp>
      <p:sp>
        <p:nvSpPr>
          <p:cNvPr id="28" name="Text 26"/>
          <p:cNvSpPr/>
          <p:nvPr/>
        </p:nvSpPr>
        <p:spPr>
          <a:xfrm>
            <a:off x="6236208" y="2432304"/>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Coprocessor criptográfico integrado físicamente en el servidor IBM del banco.</a:t>
            </a:r>
            <a:endParaRPr lang="en-US" sz="1000" dirty="0"/>
          </a:p>
        </p:txBody>
      </p:sp>
      <p:sp>
        <p:nvSpPr>
          <p:cNvPr id="29" name="Text 27"/>
          <p:cNvSpPr/>
          <p:nvPr/>
        </p:nvSpPr>
        <p:spPr>
          <a:xfrm>
            <a:off x="4837176" y="3017520"/>
            <a:ext cx="1371600" cy="475488"/>
          </a:xfrm>
          <a:prstGeom prst="rect">
            <a:avLst/>
          </a:prstGeom>
          <a:noFill/>
          <a:ln/>
        </p:spPr>
        <p:txBody>
          <a:bodyPr wrap="square"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¿Qué se migra?:</a:t>
            </a:r>
            <a:endParaRPr lang="en-US" sz="1000" dirty="0"/>
          </a:p>
        </p:txBody>
      </p:sp>
      <p:sp>
        <p:nvSpPr>
          <p:cNvPr id="30" name="Text 28"/>
          <p:cNvSpPr/>
          <p:nvPr/>
        </p:nvSpPr>
        <p:spPr>
          <a:xfrm>
            <a:off x="6236208" y="3017520"/>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La clave maestra MK que protege los keystores de claves (DES, PKA, AES).</a:t>
            </a:r>
            <a:endParaRPr lang="en-US" sz="1000" dirty="0"/>
          </a:p>
        </p:txBody>
      </p:sp>
      <p:sp>
        <p:nvSpPr>
          <p:cNvPr id="31" name="Text 29"/>
          <p:cNvSpPr/>
          <p:nvPr/>
        </p:nvSpPr>
        <p:spPr>
          <a:xfrm>
            <a:off x="4837176" y="3602736"/>
            <a:ext cx="1371600" cy="475488"/>
          </a:xfrm>
          <a:prstGeom prst="rect">
            <a:avLst/>
          </a:prstGeom>
          <a:noFill/>
          <a:ln/>
        </p:spPr>
        <p:txBody>
          <a:bodyPr wrap="square"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¿Qué hay que hacer?:</a:t>
            </a:r>
            <a:endParaRPr lang="en-US" sz="1000" dirty="0"/>
          </a:p>
        </p:txBody>
      </p:sp>
      <p:sp>
        <p:nvSpPr>
          <p:cNvPr id="32" name="Text 30"/>
          <p:cNvSpPr/>
          <p:nvPr/>
        </p:nvSpPr>
        <p:spPr>
          <a:xfrm>
            <a:off x="6236208" y="3602736"/>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Ejecutar nuevamente el utilitario BLASPROD (menú IBM i) siguiendo el ciclo ya documentado.</a:t>
            </a:r>
            <a:endParaRPr lang="en-US" sz="1000" dirty="0"/>
          </a:p>
        </p:txBody>
      </p:sp>
      <p:sp>
        <p:nvSpPr>
          <p:cNvPr id="33" name="Text 31"/>
          <p:cNvSpPr/>
          <p:nvPr/>
        </p:nvSpPr>
        <p:spPr>
          <a:xfrm>
            <a:off x="4837176" y="4187952"/>
            <a:ext cx="1371600" cy="475488"/>
          </a:xfrm>
          <a:prstGeom prst="rect">
            <a:avLst/>
          </a:prstGeom>
          <a:noFill/>
          <a:ln/>
        </p:spPr>
        <p:txBody>
          <a:bodyPr wrap="square" rtlCol="0" anchor="ctr"/>
          <a:lstStyle/>
          <a:p>
            <a:pPr indent="0" marL="0">
              <a:buNone/>
            </a:pPr>
            <a:r>
              <a:rPr lang="en-US" sz="1000" b="1" dirty="0">
                <a:solidFill>
                  <a:srgbClr val="111111"/>
                </a:solidFill>
                <a:latin typeface="Calibri" pitchFamily="34" charset="0"/>
                <a:ea typeface="Calibri" pitchFamily="34" charset="-122"/>
                <a:cs typeface="Calibri" pitchFamily="34" charset="-120"/>
              </a:rPr>
              <a:t>Resultado esperado:</a:t>
            </a:r>
            <a:endParaRPr lang="en-US" sz="1000" dirty="0"/>
          </a:p>
        </p:txBody>
      </p:sp>
      <p:sp>
        <p:nvSpPr>
          <p:cNvPr id="34" name="Text 32"/>
          <p:cNvSpPr/>
          <p:nvPr/>
        </p:nvSpPr>
        <p:spPr>
          <a:xfrm>
            <a:off x="6236208" y="4187952"/>
            <a:ext cx="2523744" cy="475488"/>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Claves re-cifradas bajo la nueva MK. Proceso verificado y probado en ejecuciones anteriores.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 NUEVO DESARROLLO: UTILITARIO DE MIGRACIÓN THALES</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El componente central del proyecto — un proceso automatizado equivalente al que ya funciona en el entorno IBM.</a:t>
            </a:r>
            <a:endParaRPr lang="en-US" sz="1050" dirty="0"/>
          </a:p>
        </p:txBody>
      </p:sp>
      <p:sp>
        <p:nvSpPr>
          <p:cNvPr id="7" name="Shape 5"/>
          <p:cNvSpPr/>
          <p:nvPr/>
        </p:nvSpPr>
        <p:spPr>
          <a:xfrm>
            <a:off x="274320" y="987552"/>
            <a:ext cx="3931920" cy="39502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8" name="Shape 6"/>
          <p:cNvSpPr/>
          <p:nvPr/>
        </p:nvSpPr>
        <p:spPr>
          <a:xfrm>
            <a:off x="274320" y="987552"/>
            <a:ext cx="3931920" cy="420624"/>
          </a:xfrm>
          <a:prstGeom prst="rect">
            <a:avLst/>
          </a:prstGeom>
          <a:solidFill>
            <a:srgbClr val="111111"/>
          </a:solidFill>
          <a:ln/>
        </p:spPr>
      </p:sp>
      <p:sp>
        <p:nvSpPr>
          <p:cNvPr id="9" name="Text 7"/>
          <p:cNvSpPr/>
          <p:nvPr/>
        </p:nvSpPr>
        <p:spPr>
          <a:xfrm>
            <a:off x="402336" y="1042416"/>
            <a:ext cx="3675888"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IBM — Proceso existente (referencia)</a:t>
            </a:r>
            <a:endParaRPr lang="en-US" sz="1150" dirty="0"/>
          </a:p>
        </p:txBody>
      </p:sp>
      <p:sp>
        <p:nvSpPr>
          <p:cNvPr id="10" name="Shape 8"/>
          <p:cNvSpPr/>
          <p:nvPr/>
        </p:nvSpPr>
        <p:spPr>
          <a:xfrm>
            <a:off x="274320" y="1408176"/>
            <a:ext cx="3931920" cy="256032"/>
          </a:xfrm>
          <a:prstGeom prst="rect">
            <a:avLst/>
          </a:prstGeom>
          <a:solidFill>
            <a:srgbClr val="2E7D32">
              <a:alpha val="70000"/>
            </a:srgbClr>
          </a:solidFill>
          <a:ln/>
        </p:spPr>
      </p:sp>
      <p:sp>
        <p:nvSpPr>
          <p:cNvPr id="11" name="Text 9"/>
          <p:cNvSpPr/>
          <p:nvPr/>
        </p:nvSpPr>
        <p:spPr>
          <a:xfrm>
            <a:off x="402336" y="1435608"/>
            <a:ext cx="3675888" cy="201168"/>
          </a:xfrm>
          <a:prstGeom prst="rect">
            <a:avLst/>
          </a:prstGeom>
          <a:noFill/>
          <a:ln/>
        </p:spPr>
        <p:txBody>
          <a:bodyPr wrap="square" rtlCol="0" anchor="ctr"/>
          <a:lstStyle/>
          <a:p>
            <a:pPr indent="0" marL="0">
              <a:buNone/>
            </a:pPr>
            <a:r>
              <a:rPr lang="en-US" sz="950" b="1" dirty="0">
                <a:solidFill>
                  <a:srgbClr val="2E7D32"/>
                </a:solidFill>
                <a:latin typeface="Calibri" pitchFamily="34" charset="0"/>
                <a:ea typeface="Calibri" pitchFamily="34" charset="-122"/>
                <a:cs typeface="Calibri" pitchFamily="34" charset="-120"/>
              </a:rPr>
              <a:t>Utilitario BLASPROD — menú IBM i (AS/400)</a:t>
            </a:r>
            <a:endParaRPr lang="en-US" sz="950" dirty="0"/>
          </a:p>
        </p:txBody>
      </p:sp>
      <p:sp>
        <p:nvSpPr>
          <p:cNvPr id="12" name="Shape 10"/>
          <p:cNvSpPr/>
          <p:nvPr/>
        </p:nvSpPr>
        <p:spPr>
          <a:xfrm>
            <a:off x="402336" y="1773936"/>
            <a:ext cx="237744" cy="237744"/>
          </a:xfrm>
          <a:prstGeom prst="ellipse">
            <a:avLst/>
          </a:prstGeom>
          <a:solidFill>
            <a:srgbClr val="111111"/>
          </a:solidFill>
          <a:ln/>
        </p:spPr>
      </p:sp>
      <p:sp>
        <p:nvSpPr>
          <p:cNvPr id="13" name="Text 11"/>
          <p:cNvSpPr/>
          <p:nvPr/>
        </p:nvSpPr>
        <p:spPr>
          <a:xfrm>
            <a:off x="402336" y="1773936"/>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Text 12"/>
          <p:cNvSpPr/>
          <p:nvPr/>
        </p:nvSpPr>
        <p:spPr>
          <a:xfrm>
            <a:off x="713232" y="1773936"/>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Limpiar registros de clave antigua</a:t>
            </a:r>
            <a:endParaRPr lang="en-US" sz="1000" dirty="0"/>
          </a:p>
        </p:txBody>
      </p:sp>
      <p:sp>
        <p:nvSpPr>
          <p:cNvPr id="15" name="Shape 13"/>
          <p:cNvSpPr/>
          <p:nvPr/>
        </p:nvSpPr>
        <p:spPr>
          <a:xfrm>
            <a:off x="402336" y="2249424"/>
            <a:ext cx="237744" cy="237744"/>
          </a:xfrm>
          <a:prstGeom prst="ellipse">
            <a:avLst/>
          </a:prstGeom>
          <a:solidFill>
            <a:srgbClr val="111111"/>
          </a:solidFill>
          <a:ln/>
        </p:spPr>
      </p:sp>
      <p:sp>
        <p:nvSpPr>
          <p:cNvPr id="16" name="Text 14"/>
          <p:cNvSpPr/>
          <p:nvPr/>
        </p:nvSpPr>
        <p:spPr>
          <a:xfrm>
            <a:off x="402336" y="2249424"/>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713232" y="2249424"/>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Cargar partes de la nueva clave maestra (proceso dividido entre custodios)</a:t>
            </a:r>
            <a:endParaRPr lang="en-US" sz="1000" dirty="0"/>
          </a:p>
        </p:txBody>
      </p:sp>
      <p:sp>
        <p:nvSpPr>
          <p:cNvPr id="18" name="Shape 16"/>
          <p:cNvSpPr/>
          <p:nvPr/>
        </p:nvSpPr>
        <p:spPr>
          <a:xfrm>
            <a:off x="402336" y="2724912"/>
            <a:ext cx="237744" cy="237744"/>
          </a:xfrm>
          <a:prstGeom prst="ellipse">
            <a:avLst/>
          </a:prstGeom>
          <a:solidFill>
            <a:srgbClr val="111111"/>
          </a:solidFill>
          <a:ln/>
        </p:spPr>
      </p:sp>
      <p:sp>
        <p:nvSpPr>
          <p:cNvPr id="19" name="Text 17"/>
          <p:cNvSpPr/>
          <p:nvPr/>
        </p:nvSpPr>
        <p:spPr>
          <a:xfrm>
            <a:off x="402336" y="2724912"/>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713232" y="2724912"/>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Ejecutar SET: nueva clave pasa a ser la activa</a:t>
            </a:r>
            <a:endParaRPr lang="en-US" sz="1000" dirty="0"/>
          </a:p>
        </p:txBody>
      </p:sp>
      <p:sp>
        <p:nvSpPr>
          <p:cNvPr id="21" name="Shape 19"/>
          <p:cNvSpPr/>
          <p:nvPr/>
        </p:nvSpPr>
        <p:spPr>
          <a:xfrm>
            <a:off x="402336" y="3200400"/>
            <a:ext cx="237744" cy="237744"/>
          </a:xfrm>
          <a:prstGeom prst="ellipse">
            <a:avLst/>
          </a:prstGeom>
          <a:solidFill>
            <a:srgbClr val="111111"/>
          </a:solidFill>
          <a:ln/>
        </p:spPr>
      </p:sp>
      <p:sp>
        <p:nvSpPr>
          <p:cNvPr id="22" name="Text 20"/>
          <p:cNvSpPr/>
          <p:nvPr/>
        </p:nvSpPr>
        <p:spPr>
          <a:xfrm>
            <a:off x="402336" y="3200400"/>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21"/>
          <p:cNvSpPr/>
          <p:nvPr/>
        </p:nvSpPr>
        <p:spPr>
          <a:xfrm>
            <a:off x="713232" y="3200400"/>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Re-cifrar todos los keystores automáticamente</a:t>
            </a:r>
            <a:endParaRPr lang="en-US" sz="1000" dirty="0"/>
          </a:p>
        </p:txBody>
      </p:sp>
      <p:sp>
        <p:nvSpPr>
          <p:cNvPr id="24" name="Shape 22"/>
          <p:cNvSpPr/>
          <p:nvPr/>
        </p:nvSpPr>
        <p:spPr>
          <a:xfrm>
            <a:off x="402336" y="3675888"/>
            <a:ext cx="237744" cy="237744"/>
          </a:xfrm>
          <a:prstGeom prst="ellipse">
            <a:avLst/>
          </a:prstGeom>
          <a:solidFill>
            <a:srgbClr val="111111"/>
          </a:solidFill>
          <a:ln/>
        </p:spPr>
      </p:sp>
      <p:sp>
        <p:nvSpPr>
          <p:cNvPr id="25" name="Text 23"/>
          <p:cNvSpPr/>
          <p:nvPr/>
        </p:nvSpPr>
        <p:spPr>
          <a:xfrm>
            <a:off x="402336" y="3675888"/>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6" name="Text 24"/>
          <p:cNvSpPr/>
          <p:nvPr/>
        </p:nvSpPr>
        <p:spPr>
          <a:xfrm>
            <a:off x="713232" y="3675888"/>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Validar que todas las claves estén correctas (KCV)</a:t>
            </a:r>
            <a:endParaRPr lang="en-US" sz="1000" dirty="0"/>
          </a:p>
        </p:txBody>
      </p:sp>
      <p:sp>
        <p:nvSpPr>
          <p:cNvPr id="27" name="Shape 25"/>
          <p:cNvSpPr/>
          <p:nvPr/>
        </p:nvSpPr>
        <p:spPr>
          <a:xfrm>
            <a:off x="402336" y="4297680"/>
            <a:ext cx="3675888" cy="512064"/>
          </a:xfrm>
          <a:prstGeom prst="rect">
            <a:avLst/>
          </a:prstGeom>
          <a:solidFill>
            <a:srgbClr val="E8F5E9"/>
          </a:solidFill>
          <a:ln/>
        </p:spPr>
      </p:sp>
      <p:sp>
        <p:nvSpPr>
          <p:cNvPr id="28" name="Text 26"/>
          <p:cNvSpPr/>
          <p:nvPr/>
        </p:nvSpPr>
        <p:spPr>
          <a:xfrm>
            <a:off x="493776" y="4334256"/>
            <a:ext cx="3493008" cy="420624"/>
          </a:xfrm>
          <a:prstGeom prst="rect">
            <a:avLst/>
          </a:prstGeom>
          <a:noFill/>
          <a:ln/>
        </p:spPr>
        <p:txBody>
          <a:bodyPr wrap="square" rtlCol="0" anchor="ctr"/>
          <a:lstStyle/>
          <a:p>
            <a:pPr indent="0" marL="0">
              <a:buNone/>
            </a:pPr>
            <a:r>
              <a:rPr lang="en-US" sz="1000" b="1" dirty="0">
                <a:solidFill>
                  <a:srgbClr val="2E7D32"/>
                </a:solidFill>
                <a:latin typeface="Calibri" pitchFamily="34" charset="0"/>
                <a:ea typeface="Calibri" pitchFamily="34" charset="-122"/>
                <a:cs typeface="Calibri" pitchFamily="34" charset="-120"/>
              </a:rPr>
              <a:t>Este proceso ya existe, ya fue probado y ya fue ejecutado con éxito en el banco.</a:t>
            </a:r>
            <a:endParaRPr lang="en-US" sz="1000" dirty="0"/>
          </a:p>
        </p:txBody>
      </p:sp>
      <p:sp>
        <p:nvSpPr>
          <p:cNvPr id="29" name="Text 27"/>
          <p:cNvSpPr/>
          <p:nvPr/>
        </p:nvSpPr>
        <p:spPr>
          <a:xfrm>
            <a:off x="4251960" y="2468880"/>
            <a:ext cx="640080" cy="548640"/>
          </a:xfrm>
          <a:prstGeom prst="rect">
            <a:avLst/>
          </a:prstGeom>
          <a:noFill/>
          <a:ln/>
        </p:spPr>
        <p:txBody>
          <a:bodyPr wrap="square" rtlCol="0" anchor="ctr"/>
          <a:lstStyle/>
          <a:p>
            <a:pPr algn="ctr" indent="0" marL="0">
              <a:buNone/>
            </a:pPr>
            <a:r>
              <a:rPr lang="en-US" sz="2600" dirty="0">
                <a:solidFill>
                  <a:srgbClr val="CC0000"/>
                </a:solidFill>
                <a:latin typeface="Calibri" pitchFamily="34" charset="0"/>
                <a:ea typeface="Calibri" pitchFamily="34" charset="-122"/>
                <a:cs typeface="Calibri" pitchFamily="34" charset="-120"/>
              </a:rPr>
              <a:t>➜</a:t>
            </a:r>
            <a:endParaRPr lang="en-US" sz="2600" dirty="0"/>
          </a:p>
        </p:txBody>
      </p:sp>
      <p:sp>
        <p:nvSpPr>
          <p:cNvPr id="30" name="Text 28"/>
          <p:cNvSpPr/>
          <p:nvPr/>
        </p:nvSpPr>
        <p:spPr>
          <a:xfrm>
            <a:off x="4242816" y="3035808"/>
            <a:ext cx="658368" cy="530352"/>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se</a:t>
            </a:r>
            <a:endParaRPr lang="en-US" sz="900" dirty="0"/>
          </a:p>
          <a:p>
            <a:pPr algn="ctr" indent="0" marL="0">
              <a:buNone/>
            </a:pPr>
            <a:r>
              <a:rPr lang="en-US" sz="900" dirty="0">
                <a:solidFill>
                  <a:srgbClr val="666666"/>
                </a:solidFill>
                <a:latin typeface="Calibri" pitchFamily="34" charset="0"/>
                <a:ea typeface="Calibri" pitchFamily="34" charset="-122"/>
                <a:cs typeface="Calibri" pitchFamily="34" charset="-120"/>
              </a:rPr>
              <a:t>replica</a:t>
            </a:r>
            <a:endParaRPr lang="en-US" sz="900" dirty="0"/>
          </a:p>
          <a:p>
            <a:pPr algn="ctr" indent="0" marL="0">
              <a:buNone/>
            </a:pPr>
            <a:r>
              <a:rPr lang="en-US" sz="900" dirty="0">
                <a:solidFill>
                  <a:srgbClr val="666666"/>
                </a:solidFill>
                <a:latin typeface="Calibri" pitchFamily="34" charset="0"/>
                <a:ea typeface="Calibri" pitchFamily="34" charset="-122"/>
                <a:cs typeface="Calibri" pitchFamily="34" charset="-120"/>
              </a:rPr>
              <a:t>en</a:t>
            </a:r>
            <a:endParaRPr lang="en-US" sz="900" dirty="0"/>
          </a:p>
        </p:txBody>
      </p:sp>
      <p:sp>
        <p:nvSpPr>
          <p:cNvPr id="31" name="Shape 29"/>
          <p:cNvSpPr/>
          <p:nvPr/>
        </p:nvSpPr>
        <p:spPr>
          <a:xfrm>
            <a:off x="4937760" y="987552"/>
            <a:ext cx="3931920" cy="39502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32" name="Shape 30"/>
          <p:cNvSpPr/>
          <p:nvPr/>
        </p:nvSpPr>
        <p:spPr>
          <a:xfrm>
            <a:off x="4937760" y="987552"/>
            <a:ext cx="3931920" cy="420624"/>
          </a:xfrm>
          <a:prstGeom prst="rect">
            <a:avLst/>
          </a:prstGeom>
          <a:solidFill>
            <a:srgbClr val="CC0000"/>
          </a:solidFill>
          <a:ln/>
        </p:spPr>
      </p:sp>
      <p:sp>
        <p:nvSpPr>
          <p:cNvPr id="33" name="Text 31"/>
          <p:cNvSpPr/>
          <p:nvPr/>
        </p:nvSpPr>
        <p:spPr>
          <a:xfrm>
            <a:off x="5065776" y="1042416"/>
            <a:ext cx="3675888"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Thales — Nuevo desarrollo requerido</a:t>
            </a:r>
            <a:endParaRPr lang="en-US" sz="1150" dirty="0"/>
          </a:p>
        </p:txBody>
      </p:sp>
      <p:sp>
        <p:nvSpPr>
          <p:cNvPr id="34" name="Shape 32"/>
          <p:cNvSpPr/>
          <p:nvPr/>
        </p:nvSpPr>
        <p:spPr>
          <a:xfrm>
            <a:off x="4937760" y="1408176"/>
            <a:ext cx="3931920" cy="256032"/>
          </a:xfrm>
          <a:prstGeom prst="rect">
            <a:avLst/>
          </a:prstGeom>
          <a:solidFill>
            <a:srgbClr val="CC0000">
              <a:alpha val="20000"/>
            </a:srgbClr>
          </a:solidFill>
          <a:ln/>
        </p:spPr>
      </p:sp>
      <p:sp>
        <p:nvSpPr>
          <p:cNvPr id="35" name="Text 33"/>
          <p:cNvSpPr/>
          <p:nvPr/>
        </p:nvSpPr>
        <p:spPr>
          <a:xfrm>
            <a:off x="5065776" y="1435608"/>
            <a:ext cx="3675888" cy="201168"/>
          </a:xfrm>
          <a:prstGeom prst="rect">
            <a:avLst/>
          </a:prstGeom>
          <a:noFill/>
          <a:ln/>
        </p:spPr>
        <p:txBody>
          <a:bodyPr wrap="square" rtlCol="0" anchor="ctr"/>
          <a:lstStyle/>
          <a:p>
            <a:pPr indent="0" marL="0">
              <a:buNone/>
            </a:pPr>
            <a:r>
              <a:rPr lang="en-US" sz="950" b="1" dirty="0">
                <a:solidFill>
                  <a:srgbClr val="990000"/>
                </a:solidFill>
                <a:latin typeface="Calibri" pitchFamily="34" charset="0"/>
                <a:ea typeface="Calibri" pitchFamily="34" charset="-122"/>
                <a:cs typeface="Calibri" pitchFamily="34" charset="-120"/>
              </a:rPr>
              <a:t>Utilitario — servidor conectado via red al HSM Thales</a:t>
            </a:r>
            <a:endParaRPr lang="en-US" sz="950" dirty="0"/>
          </a:p>
        </p:txBody>
      </p:sp>
      <p:sp>
        <p:nvSpPr>
          <p:cNvPr id="36" name="Shape 34"/>
          <p:cNvSpPr/>
          <p:nvPr/>
        </p:nvSpPr>
        <p:spPr>
          <a:xfrm>
            <a:off x="5065776" y="1773936"/>
            <a:ext cx="237744" cy="237744"/>
          </a:xfrm>
          <a:prstGeom prst="ellipse">
            <a:avLst/>
          </a:prstGeom>
          <a:solidFill>
            <a:srgbClr val="CC0000"/>
          </a:solidFill>
          <a:ln/>
        </p:spPr>
      </p:sp>
      <p:sp>
        <p:nvSpPr>
          <p:cNvPr id="37" name="Text 35"/>
          <p:cNvSpPr/>
          <p:nvPr/>
        </p:nvSpPr>
        <p:spPr>
          <a:xfrm>
            <a:off x="5065776" y="1773936"/>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8" name="Text 36"/>
          <p:cNvSpPr/>
          <p:nvPr/>
        </p:nvSpPr>
        <p:spPr>
          <a:xfrm>
            <a:off x="5376672" y="1773936"/>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Cargar nueva clave maestra en el HSM (consola física, Oficial de Seguridad)</a:t>
            </a:r>
            <a:endParaRPr lang="en-US" sz="1000" dirty="0"/>
          </a:p>
        </p:txBody>
      </p:sp>
      <p:sp>
        <p:nvSpPr>
          <p:cNvPr id="39" name="Shape 37"/>
          <p:cNvSpPr/>
          <p:nvPr/>
        </p:nvSpPr>
        <p:spPr>
          <a:xfrm>
            <a:off x="5065776" y="2249424"/>
            <a:ext cx="237744" cy="237744"/>
          </a:xfrm>
          <a:prstGeom prst="ellipse">
            <a:avLst/>
          </a:prstGeom>
          <a:solidFill>
            <a:srgbClr val="CC0000"/>
          </a:solidFill>
          <a:ln/>
        </p:spPr>
      </p:sp>
      <p:sp>
        <p:nvSpPr>
          <p:cNvPr id="40" name="Text 38"/>
          <p:cNvSpPr/>
          <p:nvPr/>
        </p:nvSpPr>
        <p:spPr>
          <a:xfrm>
            <a:off x="5065776" y="2249424"/>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41" name="Text 39"/>
          <p:cNvSpPr/>
          <p:nvPr/>
        </p:nvSpPr>
        <p:spPr>
          <a:xfrm>
            <a:off x="5376672" y="2249424"/>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Consultar inventario de claves operativas en base de datos</a:t>
            </a:r>
            <a:endParaRPr lang="en-US" sz="1000" dirty="0"/>
          </a:p>
        </p:txBody>
      </p:sp>
      <p:sp>
        <p:nvSpPr>
          <p:cNvPr id="42" name="Shape 40"/>
          <p:cNvSpPr/>
          <p:nvPr/>
        </p:nvSpPr>
        <p:spPr>
          <a:xfrm>
            <a:off x="5065776" y="2724912"/>
            <a:ext cx="237744" cy="237744"/>
          </a:xfrm>
          <a:prstGeom prst="ellipse">
            <a:avLst/>
          </a:prstGeom>
          <a:solidFill>
            <a:srgbClr val="CC0000"/>
          </a:solidFill>
          <a:ln/>
        </p:spPr>
      </p:sp>
      <p:sp>
        <p:nvSpPr>
          <p:cNvPr id="43" name="Text 41"/>
          <p:cNvSpPr/>
          <p:nvPr/>
        </p:nvSpPr>
        <p:spPr>
          <a:xfrm>
            <a:off x="5065776" y="2724912"/>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44" name="Text 42"/>
          <p:cNvSpPr/>
          <p:nvPr/>
        </p:nvSpPr>
        <p:spPr>
          <a:xfrm>
            <a:off x="5376672" y="2724912"/>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Re-cifrar cada clave automáticamente usando el HSM</a:t>
            </a:r>
            <a:endParaRPr lang="en-US" sz="1000" dirty="0"/>
          </a:p>
        </p:txBody>
      </p:sp>
      <p:sp>
        <p:nvSpPr>
          <p:cNvPr id="45" name="Shape 43"/>
          <p:cNvSpPr/>
          <p:nvPr/>
        </p:nvSpPr>
        <p:spPr>
          <a:xfrm>
            <a:off x="5065776" y="3200400"/>
            <a:ext cx="237744" cy="237744"/>
          </a:xfrm>
          <a:prstGeom prst="ellipse">
            <a:avLst/>
          </a:prstGeom>
          <a:solidFill>
            <a:srgbClr val="CC0000"/>
          </a:solidFill>
          <a:ln/>
        </p:spPr>
      </p:sp>
      <p:sp>
        <p:nvSpPr>
          <p:cNvPr id="46" name="Text 44"/>
          <p:cNvSpPr/>
          <p:nvPr/>
        </p:nvSpPr>
        <p:spPr>
          <a:xfrm>
            <a:off x="5065776" y="3200400"/>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47" name="Text 45"/>
          <p:cNvSpPr/>
          <p:nvPr/>
        </p:nvSpPr>
        <p:spPr>
          <a:xfrm>
            <a:off x="5376672" y="3200400"/>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Verificar integridad de cada clave (KCV) antes de actualizar BD</a:t>
            </a:r>
            <a:endParaRPr lang="en-US" sz="1000" dirty="0"/>
          </a:p>
        </p:txBody>
      </p:sp>
      <p:sp>
        <p:nvSpPr>
          <p:cNvPr id="48" name="Shape 46"/>
          <p:cNvSpPr/>
          <p:nvPr/>
        </p:nvSpPr>
        <p:spPr>
          <a:xfrm>
            <a:off x="5065776" y="3675888"/>
            <a:ext cx="237744" cy="237744"/>
          </a:xfrm>
          <a:prstGeom prst="ellipse">
            <a:avLst/>
          </a:prstGeom>
          <a:solidFill>
            <a:srgbClr val="CC0000"/>
          </a:solidFill>
          <a:ln/>
        </p:spPr>
      </p:sp>
      <p:sp>
        <p:nvSpPr>
          <p:cNvPr id="49" name="Text 47"/>
          <p:cNvSpPr/>
          <p:nvPr/>
        </p:nvSpPr>
        <p:spPr>
          <a:xfrm>
            <a:off x="5065776" y="3675888"/>
            <a:ext cx="237744" cy="237744"/>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50" name="Text 48"/>
          <p:cNvSpPr/>
          <p:nvPr/>
        </p:nvSpPr>
        <p:spPr>
          <a:xfrm>
            <a:off x="5376672" y="3675888"/>
            <a:ext cx="3383280" cy="402336"/>
          </a:xfrm>
          <a:prstGeom prst="rect">
            <a:avLst/>
          </a:prstGeom>
          <a:noFill/>
          <a:ln/>
        </p:spPr>
        <p:txBody>
          <a:bodyPr wrap="square" rtlCol="0" anchor="ctr"/>
          <a:lstStyle/>
          <a:p>
            <a:pPr indent="0" marL="0">
              <a:buNone/>
            </a:pPr>
            <a:r>
              <a:rPr lang="en-US" sz="1000" dirty="0">
                <a:solidFill>
                  <a:srgbClr val="111111"/>
                </a:solidFill>
                <a:latin typeface="Calibri" pitchFamily="34" charset="0"/>
                <a:ea typeface="Calibri" pitchFamily="34" charset="-122"/>
                <a:cs typeface="Calibri" pitchFamily="34" charset="-120"/>
              </a:rPr>
              <a:t>Actualizar base de datos solo si todas las verificaciones son exitosas</a:t>
            </a:r>
            <a:endParaRPr lang="en-US" sz="1000" dirty="0"/>
          </a:p>
        </p:txBody>
      </p:sp>
      <p:sp>
        <p:nvSpPr>
          <p:cNvPr id="51" name="Shape 49"/>
          <p:cNvSpPr/>
          <p:nvPr/>
        </p:nvSpPr>
        <p:spPr>
          <a:xfrm>
            <a:off x="5065776" y="4297680"/>
            <a:ext cx="3675888" cy="512064"/>
          </a:xfrm>
          <a:prstGeom prst="rect">
            <a:avLst/>
          </a:prstGeom>
          <a:solidFill>
            <a:srgbClr val="CC0000">
              <a:alpha val="12000"/>
            </a:srgbClr>
          </a:solidFill>
          <a:ln/>
        </p:spPr>
      </p:sp>
      <p:sp>
        <p:nvSpPr>
          <p:cNvPr id="52" name="Text 50"/>
          <p:cNvSpPr/>
          <p:nvPr/>
        </p:nvSpPr>
        <p:spPr>
          <a:xfrm>
            <a:off x="5157216" y="4334256"/>
            <a:ext cx="3493008" cy="420624"/>
          </a:xfrm>
          <a:prstGeom prst="rect">
            <a:avLst/>
          </a:prstGeom>
          <a:noFill/>
          <a:ln/>
        </p:spPr>
        <p:txBody>
          <a:bodyPr wrap="square" rtlCol="0" anchor="ctr"/>
          <a:lstStyle/>
          <a:p>
            <a:pPr indent="0" marL="0">
              <a:buNone/>
            </a:pPr>
            <a:r>
              <a:rPr lang="en-US" sz="1000" b="1" dirty="0">
                <a:solidFill>
                  <a:srgbClr val="990000"/>
                </a:solidFill>
                <a:latin typeface="Calibri" pitchFamily="34" charset="0"/>
                <a:ea typeface="Calibri" pitchFamily="34" charset="-122"/>
                <a:cs typeface="Calibri" pitchFamily="34" charset="-120"/>
              </a:rPr>
              <a:t>Este es el componente central del proyecto que requiere desarrollo.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¿CÓMO FUNCIONA LA MIGRACIÓN? — VISIÓN SIMPLIFICADA</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Sin tecnicismos: el proceso de migrar claves es equivalente a cambiar la contraseña maestra de una caja fuerte con miles de objetos dentro.</a:t>
            </a:r>
            <a:endParaRPr lang="en-US" sz="1050" dirty="0"/>
          </a:p>
        </p:txBody>
      </p:sp>
      <p:sp>
        <p:nvSpPr>
          <p:cNvPr id="7" name="Shape 5"/>
          <p:cNvSpPr/>
          <p:nvPr/>
        </p:nvSpPr>
        <p:spPr>
          <a:xfrm>
            <a:off x="274320" y="987552"/>
            <a:ext cx="8595360" cy="512064"/>
          </a:xfrm>
          <a:prstGeom prst="rect">
            <a:avLst/>
          </a:prstGeom>
          <a:solidFill>
            <a:srgbClr val="2A2A2A"/>
          </a:solidFill>
          <a:ln/>
        </p:spPr>
      </p:sp>
      <p:sp>
        <p:nvSpPr>
          <p:cNvPr id="8" name="Text 6"/>
          <p:cNvSpPr/>
          <p:nvPr/>
        </p:nvSpPr>
        <p:spPr>
          <a:xfrm>
            <a:off x="402336" y="1033272"/>
            <a:ext cx="8339328" cy="402336"/>
          </a:xfrm>
          <a:prstGeom prst="rect">
            <a:avLst/>
          </a:prstGeom>
          <a:noFill/>
          <a:ln/>
        </p:spPr>
        <p:txBody>
          <a:bodyPr wrap="square" rtlCol="0" anchor="ctr"/>
          <a:lstStyle/>
          <a:p>
            <a:pPr indent="0" marL="0">
              <a:buNone/>
            </a:pPr>
            <a:r>
              <a:rPr lang="en-US" sz="1000" i="1" dirty="0">
                <a:solidFill>
                  <a:srgbClr val="DDDDDD"/>
                </a:solidFill>
                <a:latin typeface="Calibri" pitchFamily="34" charset="0"/>
                <a:ea typeface="Calibri" pitchFamily="34" charset="-122"/>
                <a:cs typeface="Calibri" pitchFamily="34" charset="-120"/>
              </a:rPr>
              <a:t>Analogía: imagina una caja fuerte con miles de cajas pequeñas adentro — cada caja está cerrada con un candado derivado de la llave maestra. Migrar = cambiar la llave maestra Y reemplazar todos los candados internos.</a:t>
            </a:r>
            <a:endParaRPr lang="en-US" sz="1000" dirty="0"/>
          </a:p>
        </p:txBody>
      </p:sp>
      <p:sp>
        <p:nvSpPr>
          <p:cNvPr id="9" name="Shape 7"/>
          <p:cNvSpPr/>
          <p:nvPr/>
        </p:nvSpPr>
        <p:spPr>
          <a:xfrm>
            <a:off x="758952" y="1609344"/>
            <a:ext cx="603504" cy="603504"/>
          </a:xfrm>
          <a:prstGeom prst="ellipse">
            <a:avLst/>
          </a:prstGeom>
          <a:solidFill>
            <a:srgbClr val="CC0000"/>
          </a:solidFill>
          <a:ln/>
        </p:spPr>
      </p:sp>
      <p:sp>
        <p:nvSpPr>
          <p:cNvPr id="10" name="Text 8"/>
          <p:cNvSpPr/>
          <p:nvPr/>
        </p:nvSpPr>
        <p:spPr>
          <a:xfrm>
            <a:off x="758952" y="1627632"/>
            <a:ext cx="603504"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Shape 9"/>
          <p:cNvSpPr/>
          <p:nvPr/>
        </p:nvSpPr>
        <p:spPr>
          <a:xfrm>
            <a:off x="256032" y="2304288"/>
            <a:ext cx="1627632" cy="25786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12" name="Shape 10"/>
          <p:cNvSpPr/>
          <p:nvPr/>
        </p:nvSpPr>
        <p:spPr>
          <a:xfrm>
            <a:off x="256032" y="2304288"/>
            <a:ext cx="1627632" cy="457200"/>
          </a:xfrm>
          <a:prstGeom prst="rect">
            <a:avLst/>
          </a:prstGeom>
          <a:solidFill>
            <a:srgbClr val="CC0000"/>
          </a:solidFill>
          <a:ln/>
        </p:spPr>
      </p:sp>
      <p:sp>
        <p:nvSpPr>
          <p:cNvPr id="13" name="Text 11"/>
          <p:cNvSpPr/>
          <p:nvPr/>
        </p:nvSpPr>
        <p:spPr>
          <a:xfrm>
            <a:off x="301752" y="2340864"/>
            <a:ext cx="365760" cy="365760"/>
          </a:xfrm>
          <a:prstGeom prst="rect">
            <a:avLst/>
          </a:prstGeom>
          <a:noFill/>
          <a:ln/>
        </p:spPr>
        <p:txBody>
          <a:bodyPr wrap="square"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329184" y="2359152"/>
            <a:ext cx="1481328" cy="38404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Cargar nueva</a:t>
            </a:r>
            <a:endParaRPr lang="en-US" sz="1000" dirty="0"/>
          </a:p>
          <a:p>
            <a:pPr algn="r" indent="0" marL="0">
              <a:buNone/>
            </a:pPr>
            <a:r>
              <a:rPr lang="en-US" sz="1000" b="1" dirty="0">
                <a:solidFill>
                  <a:srgbClr val="FFFFFF"/>
                </a:solidFill>
                <a:latin typeface="Calibri" pitchFamily="34" charset="0"/>
                <a:ea typeface="Calibri" pitchFamily="34" charset="-122"/>
                <a:cs typeface="Calibri" pitchFamily="34" charset="-120"/>
              </a:rPr>
              <a:t>llave maestra</a:t>
            </a:r>
            <a:endParaRPr lang="en-US" sz="1000" dirty="0"/>
          </a:p>
        </p:txBody>
      </p:sp>
      <p:sp>
        <p:nvSpPr>
          <p:cNvPr id="15" name="Text 13"/>
          <p:cNvSpPr/>
          <p:nvPr/>
        </p:nvSpPr>
        <p:spPr>
          <a:xfrm>
            <a:off x="347472" y="2834640"/>
            <a:ext cx="1444752" cy="1993392"/>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El equipo de seguridad carga la nueva LMK en el HSM usando tarjetas criptográficas (split knowledge — ningún custodio tiene la llave completa).</a:t>
            </a:r>
            <a:endParaRPr lang="en-US" sz="950" dirty="0"/>
          </a:p>
        </p:txBody>
      </p:sp>
      <p:sp>
        <p:nvSpPr>
          <p:cNvPr id="16" name="Text 14"/>
          <p:cNvSpPr/>
          <p:nvPr/>
        </p:nvSpPr>
        <p:spPr>
          <a:xfrm>
            <a:off x="1901952" y="3401568"/>
            <a:ext cx="182880" cy="256032"/>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2487168" y="1609344"/>
            <a:ext cx="603504" cy="603504"/>
          </a:xfrm>
          <a:prstGeom prst="ellipse">
            <a:avLst/>
          </a:prstGeom>
          <a:solidFill>
            <a:srgbClr val="333333"/>
          </a:solidFill>
          <a:ln/>
        </p:spPr>
      </p:sp>
      <p:sp>
        <p:nvSpPr>
          <p:cNvPr id="18" name="Text 16"/>
          <p:cNvSpPr/>
          <p:nvPr/>
        </p:nvSpPr>
        <p:spPr>
          <a:xfrm>
            <a:off x="2487168" y="1627632"/>
            <a:ext cx="603504"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9" name="Shape 17"/>
          <p:cNvSpPr/>
          <p:nvPr/>
        </p:nvSpPr>
        <p:spPr>
          <a:xfrm>
            <a:off x="1984248" y="2304288"/>
            <a:ext cx="1627632" cy="25786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20" name="Shape 18"/>
          <p:cNvSpPr/>
          <p:nvPr/>
        </p:nvSpPr>
        <p:spPr>
          <a:xfrm>
            <a:off x="1984248" y="2304288"/>
            <a:ext cx="1627632" cy="457200"/>
          </a:xfrm>
          <a:prstGeom prst="rect">
            <a:avLst/>
          </a:prstGeom>
          <a:solidFill>
            <a:srgbClr val="333333"/>
          </a:solidFill>
          <a:ln/>
        </p:spPr>
      </p:sp>
      <p:sp>
        <p:nvSpPr>
          <p:cNvPr id="21" name="Text 19"/>
          <p:cNvSpPr/>
          <p:nvPr/>
        </p:nvSpPr>
        <p:spPr>
          <a:xfrm>
            <a:off x="2029968" y="2340864"/>
            <a:ext cx="365760" cy="365760"/>
          </a:xfrm>
          <a:prstGeom prst="rect">
            <a:avLst/>
          </a:prstGeom>
          <a:noFill/>
          <a:ln/>
        </p:spPr>
        <p:txBody>
          <a:bodyPr wrap="square"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2057400" y="2359152"/>
            <a:ext cx="1481328" cy="38404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Inventario de</a:t>
            </a:r>
            <a:endParaRPr lang="en-US" sz="1000" dirty="0"/>
          </a:p>
          <a:p>
            <a:pPr algn="r" indent="0" marL="0">
              <a:buNone/>
            </a:pPr>
            <a:r>
              <a:rPr lang="en-US" sz="1000" b="1" dirty="0">
                <a:solidFill>
                  <a:srgbClr val="FFFFFF"/>
                </a:solidFill>
                <a:latin typeface="Calibri" pitchFamily="34" charset="0"/>
                <a:ea typeface="Calibri" pitchFamily="34" charset="-122"/>
                <a:cs typeface="Calibri" pitchFamily="34" charset="-120"/>
              </a:rPr>
              <a:t>claves</a:t>
            </a:r>
            <a:endParaRPr lang="en-US" sz="1000" dirty="0"/>
          </a:p>
        </p:txBody>
      </p:sp>
      <p:sp>
        <p:nvSpPr>
          <p:cNvPr id="23" name="Text 21"/>
          <p:cNvSpPr/>
          <p:nvPr/>
        </p:nvSpPr>
        <p:spPr>
          <a:xfrm>
            <a:off x="2075688" y="2834640"/>
            <a:ext cx="1444752" cy="1993392"/>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El utilitario consulta la base de datos y obtiene la lista completa de claves operativas que deben ser re-cifradas bajo la nueva llave.</a:t>
            </a:r>
            <a:endParaRPr lang="en-US" sz="950" dirty="0"/>
          </a:p>
        </p:txBody>
      </p:sp>
      <p:sp>
        <p:nvSpPr>
          <p:cNvPr id="24" name="Text 22"/>
          <p:cNvSpPr/>
          <p:nvPr/>
        </p:nvSpPr>
        <p:spPr>
          <a:xfrm>
            <a:off x="3630168" y="3401568"/>
            <a:ext cx="182880" cy="256032"/>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4215384" y="1609344"/>
            <a:ext cx="603504" cy="603504"/>
          </a:xfrm>
          <a:prstGeom prst="ellipse">
            <a:avLst/>
          </a:prstGeom>
          <a:solidFill>
            <a:srgbClr val="111111"/>
          </a:solidFill>
          <a:ln/>
        </p:spPr>
      </p:sp>
      <p:sp>
        <p:nvSpPr>
          <p:cNvPr id="26" name="Text 24"/>
          <p:cNvSpPr/>
          <p:nvPr/>
        </p:nvSpPr>
        <p:spPr>
          <a:xfrm>
            <a:off x="4215384" y="1627632"/>
            <a:ext cx="603504"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7" name="Shape 25"/>
          <p:cNvSpPr/>
          <p:nvPr/>
        </p:nvSpPr>
        <p:spPr>
          <a:xfrm>
            <a:off x="3712464" y="2304288"/>
            <a:ext cx="1627632" cy="25786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28" name="Shape 26"/>
          <p:cNvSpPr/>
          <p:nvPr/>
        </p:nvSpPr>
        <p:spPr>
          <a:xfrm>
            <a:off x="3712464" y="2304288"/>
            <a:ext cx="1627632" cy="457200"/>
          </a:xfrm>
          <a:prstGeom prst="rect">
            <a:avLst/>
          </a:prstGeom>
          <a:solidFill>
            <a:srgbClr val="111111"/>
          </a:solidFill>
          <a:ln/>
        </p:spPr>
      </p:sp>
      <p:sp>
        <p:nvSpPr>
          <p:cNvPr id="29" name="Text 27"/>
          <p:cNvSpPr/>
          <p:nvPr/>
        </p:nvSpPr>
        <p:spPr>
          <a:xfrm>
            <a:off x="3758184" y="2340864"/>
            <a:ext cx="365760" cy="365760"/>
          </a:xfrm>
          <a:prstGeom prst="rect">
            <a:avLst/>
          </a:prstGeom>
          <a:noFill/>
          <a:ln/>
        </p:spPr>
        <p:txBody>
          <a:bodyPr wrap="square"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0" name="Text 28"/>
          <p:cNvSpPr/>
          <p:nvPr/>
        </p:nvSpPr>
        <p:spPr>
          <a:xfrm>
            <a:off x="3785616" y="2359152"/>
            <a:ext cx="1481328" cy="38404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Re-cifrado</a:t>
            </a:r>
            <a:endParaRPr lang="en-US" sz="1000" dirty="0"/>
          </a:p>
          <a:p>
            <a:pPr algn="r" indent="0" marL="0">
              <a:buNone/>
            </a:pPr>
            <a:r>
              <a:rPr lang="en-US" sz="1000" b="1" dirty="0">
                <a:solidFill>
                  <a:srgbClr val="FFFFFF"/>
                </a:solidFill>
                <a:latin typeface="Calibri" pitchFamily="34" charset="0"/>
                <a:ea typeface="Calibri" pitchFamily="34" charset="-122"/>
                <a:cs typeface="Calibri" pitchFamily="34" charset="-120"/>
              </a:rPr>
              <a:t>automático</a:t>
            </a:r>
            <a:endParaRPr lang="en-US" sz="1000" dirty="0"/>
          </a:p>
        </p:txBody>
      </p:sp>
      <p:sp>
        <p:nvSpPr>
          <p:cNvPr id="31" name="Text 29"/>
          <p:cNvSpPr/>
          <p:nvPr/>
        </p:nvSpPr>
        <p:spPr>
          <a:xfrm>
            <a:off x="3803904" y="2834640"/>
            <a:ext cx="1444752" cy="1993392"/>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Clave por clave, el utilitario le pide al HSM que descifre con la llave antigua y vuelva a cifrar con la nueva. El proceso es automático.</a:t>
            </a:r>
            <a:endParaRPr lang="en-US" sz="950" dirty="0"/>
          </a:p>
        </p:txBody>
      </p:sp>
      <p:sp>
        <p:nvSpPr>
          <p:cNvPr id="32" name="Text 30"/>
          <p:cNvSpPr/>
          <p:nvPr/>
        </p:nvSpPr>
        <p:spPr>
          <a:xfrm>
            <a:off x="5358384" y="3401568"/>
            <a:ext cx="182880" cy="256032"/>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43600" y="1609344"/>
            <a:ext cx="603504" cy="603504"/>
          </a:xfrm>
          <a:prstGeom prst="ellipse">
            <a:avLst/>
          </a:prstGeom>
          <a:solidFill>
            <a:srgbClr val="43A047"/>
          </a:solidFill>
          <a:ln/>
        </p:spPr>
      </p:sp>
      <p:sp>
        <p:nvSpPr>
          <p:cNvPr id="34" name="Text 32"/>
          <p:cNvSpPr/>
          <p:nvPr/>
        </p:nvSpPr>
        <p:spPr>
          <a:xfrm>
            <a:off x="5943600" y="1627632"/>
            <a:ext cx="603504"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5" name="Shape 33"/>
          <p:cNvSpPr/>
          <p:nvPr/>
        </p:nvSpPr>
        <p:spPr>
          <a:xfrm>
            <a:off x="5440680" y="2304288"/>
            <a:ext cx="1627632" cy="25786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36" name="Shape 34"/>
          <p:cNvSpPr/>
          <p:nvPr/>
        </p:nvSpPr>
        <p:spPr>
          <a:xfrm>
            <a:off x="5440680" y="2304288"/>
            <a:ext cx="1627632" cy="457200"/>
          </a:xfrm>
          <a:prstGeom prst="rect">
            <a:avLst/>
          </a:prstGeom>
          <a:solidFill>
            <a:srgbClr val="43A047"/>
          </a:solidFill>
          <a:ln/>
        </p:spPr>
      </p:sp>
      <p:sp>
        <p:nvSpPr>
          <p:cNvPr id="37" name="Text 35"/>
          <p:cNvSpPr/>
          <p:nvPr/>
        </p:nvSpPr>
        <p:spPr>
          <a:xfrm>
            <a:off x="5486400" y="2340864"/>
            <a:ext cx="365760" cy="365760"/>
          </a:xfrm>
          <a:prstGeom prst="rect">
            <a:avLst/>
          </a:prstGeom>
          <a:noFill/>
          <a:ln/>
        </p:spPr>
        <p:txBody>
          <a:bodyPr wrap="square"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6"/>
          <p:cNvSpPr/>
          <p:nvPr/>
        </p:nvSpPr>
        <p:spPr>
          <a:xfrm>
            <a:off x="5513832" y="2359152"/>
            <a:ext cx="1481328" cy="38404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Verificación</a:t>
            </a:r>
            <a:endParaRPr lang="en-US" sz="1000" dirty="0"/>
          </a:p>
          <a:p>
            <a:pPr algn="r" indent="0" marL="0">
              <a:buNone/>
            </a:pPr>
            <a:r>
              <a:rPr lang="en-US" sz="1000" b="1" dirty="0">
                <a:solidFill>
                  <a:srgbClr val="FFFFFF"/>
                </a:solidFill>
                <a:latin typeface="Calibri" pitchFamily="34" charset="0"/>
                <a:ea typeface="Calibri" pitchFamily="34" charset="-122"/>
                <a:cs typeface="Calibri" pitchFamily="34" charset="-120"/>
              </a:rPr>
              <a:t>de integridad</a:t>
            </a:r>
            <a:endParaRPr lang="en-US" sz="1000" dirty="0"/>
          </a:p>
        </p:txBody>
      </p:sp>
      <p:sp>
        <p:nvSpPr>
          <p:cNvPr id="39" name="Text 37"/>
          <p:cNvSpPr/>
          <p:nvPr/>
        </p:nvSpPr>
        <p:spPr>
          <a:xfrm>
            <a:off x="5532120" y="2834640"/>
            <a:ext cx="1444752" cy="1993392"/>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Por cada clave, se verifica que el KCV (huella digital de la clave) es idéntico antes y después. Si hay alguna diferencia, se detiene el proceso.</a:t>
            </a:r>
            <a:endParaRPr lang="en-US" sz="950" dirty="0"/>
          </a:p>
        </p:txBody>
      </p:sp>
      <p:sp>
        <p:nvSpPr>
          <p:cNvPr id="40" name="Text 38"/>
          <p:cNvSpPr/>
          <p:nvPr/>
        </p:nvSpPr>
        <p:spPr>
          <a:xfrm>
            <a:off x="7086600" y="3401568"/>
            <a:ext cx="182880" cy="256032"/>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t>
            </a:r>
            <a:endParaRPr lang="en-US" sz="1200" dirty="0"/>
          </a:p>
        </p:txBody>
      </p:sp>
      <p:sp>
        <p:nvSpPr>
          <p:cNvPr id="41" name="Shape 39"/>
          <p:cNvSpPr/>
          <p:nvPr/>
        </p:nvSpPr>
        <p:spPr>
          <a:xfrm>
            <a:off x="7671816" y="1609344"/>
            <a:ext cx="603504" cy="603504"/>
          </a:xfrm>
          <a:prstGeom prst="ellipse">
            <a:avLst/>
          </a:prstGeom>
          <a:solidFill>
            <a:srgbClr val="333333"/>
          </a:solidFill>
          <a:ln/>
        </p:spPr>
      </p:sp>
      <p:sp>
        <p:nvSpPr>
          <p:cNvPr id="42" name="Text 40"/>
          <p:cNvSpPr/>
          <p:nvPr/>
        </p:nvSpPr>
        <p:spPr>
          <a:xfrm>
            <a:off x="7671816" y="1627632"/>
            <a:ext cx="603504"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3" name="Shape 41"/>
          <p:cNvSpPr/>
          <p:nvPr/>
        </p:nvSpPr>
        <p:spPr>
          <a:xfrm>
            <a:off x="7168896" y="2304288"/>
            <a:ext cx="1627632" cy="25786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44" name="Shape 42"/>
          <p:cNvSpPr/>
          <p:nvPr/>
        </p:nvSpPr>
        <p:spPr>
          <a:xfrm>
            <a:off x="7168896" y="2304288"/>
            <a:ext cx="1627632" cy="457200"/>
          </a:xfrm>
          <a:prstGeom prst="rect">
            <a:avLst/>
          </a:prstGeom>
          <a:solidFill>
            <a:srgbClr val="333333"/>
          </a:solidFill>
          <a:ln/>
        </p:spPr>
      </p:sp>
      <p:sp>
        <p:nvSpPr>
          <p:cNvPr id="45" name="Text 43"/>
          <p:cNvSpPr/>
          <p:nvPr/>
        </p:nvSpPr>
        <p:spPr>
          <a:xfrm>
            <a:off x="7214616" y="2340864"/>
            <a:ext cx="365760" cy="365760"/>
          </a:xfrm>
          <a:prstGeom prst="rect">
            <a:avLst/>
          </a:prstGeom>
          <a:noFill/>
          <a:ln/>
        </p:spPr>
        <p:txBody>
          <a:bodyPr wrap="square" rtlCol="0" anchor="ctr"/>
          <a:lstStyle/>
          <a:p>
            <a:pPr indent="0" marL="0">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6" name="Text 44"/>
          <p:cNvSpPr/>
          <p:nvPr/>
        </p:nvSpPr>
        <p:spPr>
          <a:xfrm>
            <a:off x="7242048" y="2359152"/>
            <a:ext cx="1481328" cy="384048"/>
          </a:xfrm>
          <a:prstGeom prst="rect">
            <a:avLst/>
          </a:prstGeom>
          <a:noFill/>
          <a:ln/>
        </p:spPr>
        <p:txBody>
          <a:bodyPr wrap="square" rtlCol="0" anchor="ctr"/>
          <a:lstStyle/>
          <a:p>
            <a:pPr algn="r" indent="0" marL="0">
              <a:buNone/>
            </a:pPr>
            <a:r>
              <a:rPr lang="en-US" sz="1000" b="1" dirty="0">
                <a:solidFill>
                  <a:srgbClr val="FFFFFF"/>
                </a:solidFill>
                <a:latin typeface="Calibri" pitchFamily="34" charset="0"/>
                <a:ea typeface="Calibri" pitchFamily="34" charset="-122"/>
                <a:cs typeface="Calibri" pitchFamily="34" charset="-120"/>
              </a:rPr>
              <a:t>Activación</a:t>
            </a:r>
            <a:endParaRPr lang="en-US" sz="1000" dirty="0"/>
          </a:p>
          <a:p>
            <a:pPr algn="r" indent="0" marL="0">
              <a:buNone/>
            </a:pPr>
            <a:r>
              <a:rPr lang="en-US" sz="1000" b="1" dirty="0">
                <a:solidFill>
                  <a:srgbClr val="FFFFFF"/>
                </a:solidFill>
                <a:latin typeface="Calibri" pitchFamily="34" charset="0"/>
                <a:ea typeface="Calibri" pitchFamily="34" charset="-122"/>
                <a:cs typeface="Calibri" pitchFamily="34" charset="-120"/>
              </a:rPr>
              <a:t>y certificación</a:t>
            </a:r>
            <a:endParaRPr lang="en-US" sz="1000" dirty="0"/>
          </a:p>
        </p:txBody>
      </p:sp>
      <p:sp>
        <p:nvSpPr>
          <p:cNvPr id="47" name="Text 45"/>
          <p:cNvSpPr/>
          <p:nvPr/>
        </p:nvSpPr>
        <p:spPr>
          <a:xfrm>
            <a:off x="7260336" y="2834640"/>
            <a:ext cx="1444752" cy="1993392"/>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Una vez migradas todas las claves, se activa la nueva llave maestra. Se ejecutan pruebas end-to-end para certificar que el sistema opera correctamente.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BENEFICIOS Y CUMPLIMIENTO REGULATORIO</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Este proyecto posiciona al banco en total alineación con los estándares de seguridad más exigentes del sector financiero.</a:t>
            </a:r>
            <a:endParaRPr lang="en-US" sz="1050" dirty="0"/>
          </a:p>
        </p:txBody>
      </p:sp>
      <p:sp>
        <p:nvSpPr>
          <p:cNvPr id="7" name="Shape 5"/>
          <p:cNvSpPr/>
          <p:nvPr/>
        </p:nvSpPr>
        <p:spPr>
          <a:xfrm>
            <a:off x="274320" y="1005840"/>
            <a:ext cx="4187952" cy="16642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8" name="Shape 6"/>
          <p:cNvSpPr/>
          <p:nvPr/>
        </p:nvSpPr>
        <p:spPr>
          <a:xfrm>
            <a:off x="274320" y="1005840"/>
            <a:ext cx="4187952" cy="384048"/>
          </a:xfrm>
          <a:prstGeom prst="rect">
            <a:avLst/>
          </a:prstGeom>
          <a:solidFill>
            <a:srgbClr val="CC0000"/>
          </a:solidFill>
          <a:ln/>
        </p:spPr>
      </p:sp>
      <p:sp>
        <p:nvSpPr>
          <p:cNvPr id="9" name="Text 7"/>
          <p:cNvSpPr/>
          <p:nvPr/>
        </p:nvSpPr>
        <p:spPr>
          <a:xfrm>
            <a:off x="384048" y="1069848"/>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Cumplimiento PCI HSM v3</a:t>
            </a:r>
            <a:endParaRPr lang="en-US" sz="1200" dirty="0"/>
          </a:p>
        </p:txBody>
      </p:sp>
      <p:sp>
        <p:nvSpPr>
          <p:cNvPr id="10" name="Text 8"/>
          <p:cNvSpPr/>
          <p:nvPr/>
        </p:nvSpPr>
        <p:spPr>
          <a:xfrm>
            <a:off x="384048" y="1481328"/>
            <a:ext cx="3968496" cy="1133856"/>
          </a:xfrm>
          <a:prstGeom prst="rect">
            <a:avLst/>
          </a:prstGeom>
          <a:noFill/>
          <a:ln/>
        </p:spPr>
        <p:txBody>
          <a:bodyPr wrap="square" rtlCol="0" anchor="ctr"/>
          <a:lstStyle/>
          <a:p>
            <a:pPr indent="0" marL="0">
              <a:buNone/>
            </a:pPr>
            <a:r>
              <a:rPr lang="en-US" sz="1050" dirty="0">
                <a:solidFill>
                  <a:srgbClr val="111111"/>
                </a:solidFill>
                <a:latin typeface="Calibri" pitchFamily="34" charset="0"/>
                <a:ea typeface="Calibri" pitchFamily="34" charset="-122"/>
                <a:cs typeface="Calibri" pitchFamily="34" charset="-120"/>
              </a:rPr>
              <a:t>El estándar PCI HSM v3 exige el uso de Key Block (TR-31) para la protección de claves. La migración elimina el riesgo de incumplimiento y las sanciones asociadas de marcas de tarjetas.</a:t>
            </a:r>
            <a:endParaRPr lang="en-US" sz="1050" dirty="0"/>
          </a:p>
        </p:txBody>
      </p:sp>
      <p:sp>
        <p:nvSpPr>
          <p:cNvPr id="11" name="Shape 9"/>
          <p:cNvSpPr/>
          <p:nvPr/>
        </p:nvSpPr>
        <p:spPr>
          <a:xfrm>
            <a:off x="4645152" y="1005840"/>
            <a:ext cx="4187952" cy="16642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12" name="Shape 10"/>
          <p:cNvSpPr/>
          <p:nvPr/>
        </p:nvSpPr>
        <p:spPr>
          <a:xfrm>
            <a:off x="4645152" y="1005840"/>
            <a:ext cx="4187952" cy="384048"/>
          </a:xfrm>
          <a:prstGeom prst="rect">
            <a:avLst/>
          </a:prstGeom>
          <a:solidFill>
            <a:srgbClr val="111111"/>
          </a:solidFill>
          <a:ln/>
        </p:spPr>
      </p:sp>
      <p:sp>
        <p:nvSpPr>
          <p:cNvPr id="13" name="Text 11"/>
          <p:cNvSpPr/>
          <p:nvPr/>
        </p:nvSpPr>
        <p:spPr>
          <a:xfrm>
            <a:off x="4754880" y="1069848"/>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Alineación con Marcas</a:t>
            </a:r>
            <a:endParaRPr lang="en-US" sz="1200" dirty="0"/>
          </a:p>
        </p:txBody>
      </p:sp>
      <p:sp>
        <p:nvSpPr>
          <p:cNvPr id="14" name="Text 12"/>
          <p:cNvSpPr/>
          <p:nvPr/>
        </p:nvSpPr>
        <p:spPr>
          <a:xfrm>
            <a:off x="4754880" y="1481328"/>
            <a:ext cx="3968496" cy="1133856"/>
          </a:xfrm>
          <a:prstGeom prst="rect">
            <a:avLst/>
          </a:prstGeom>
          <a:noFill/>
          <a:ln/>
        </p:spPr>
        <p:txBody>
          <a:bodyPr wrap="square" rtlCol="0" anchor="ctr"/>
          <a:lstStyle/>
          <a:p>
            <a:pPr indent="0" marL="0">
              <a:buNone/>
            </a:pPr>
            <a:r>
              <a:rPr lang="en-US" sz="1050" dirty="0">
                <a:solidFill>
                  <a:srgbClr val="111111"/>
                </a:solidFill>
                <a:latin typeface="Calibri" pitchFamily="34" charset="0"/>
                <a:ea typeface="Calibri" pitchFamily="34" charset="-122"/>
                <a:cs typeface="Calibri" pitchFamily="34" charset="-120"/>
              </a:rPr>
              <a:t>Visa, Mastercard y las principales marcas exigen renovar las claves maestras cada 2 años. Este proyecto establece el proceso y la infraestructura para cumplir ese ciclo de forma sistemática.</a:t>
            </a:r>
            <a:endParaRPr lang="en-US" sz="1050" dirty="0"/>
          </a:p>
        </p:txBody>
      </p:sp>
      <p:sp>
        <p:nvSpPr>
          <p:cNvPr id="15" name="Shape 13"/>
          <p:cNvSpPr/>
          <p:nvPr/>
        </p:nvSpPr>
        <p:spPr>
          <a:xfrm>
            <a:off x="274320" y="2834640"/>
            <a:ext cx="4187952" cy="16642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16" name="Shape 14"/>
          <p:cNvSpPr/>
          <p:nvPr/>
        </p:nvSpPr>
        <p:spPr>
          <a:xfrm>
            <a:off x="274320" y="2834640"/>
            <a:ext cx="4187952" cy="384048"/>
          </a:xfrm>
          <a:prstGeom prst="rect">
            <a:avLst/>
          </a:prstGeom>
          <a:solidFill>
            <a:srgbClr val="333333"/>
          </a:solidFill>
          <a:ln/>
        </p:spPr>
      </p:sp>
      <p:sp>
        <p:nvSpPr>
          <p:cNvPr id="17" name="Text 15"/>
          <p:cNvSpPr/>
          <p:nvPr/>
        </p:nvSpPr>
        <p:spPr>
          <a:xfrm>
            <a:off x="384048" y="2898648"/>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Mayor Seguridad Criptográfica</a:t>
            </a:r>
            <a:endParaRPr lang="en-US" sz="1200" dirty="0"/>
          </a:p>
        </p:txBody>
      </p:sp>
      <p:sp>
        <p:nvSpPr>
          <p:cNvPr id="18" name="Text 16"/>
          <p:cNvSpPr/>
          <p:nvPr/>
        </p:nvSpPr>
        <p:spPr>
          <a:xfrm>
            <a:off x="384048" y="3310128"/>
            <a:ext cx="3968496" cy="1133856"/>
          </a:xfrm>
          <a:prstGeom prst="rect">
            <a:avLst/>
          </a:prstGeom>
          <a:noFill/>
          <a:ln/>
        </p:spPr>
        <p:txBody>
          <a:bodyPr wrap="square" rtlCol="0" anchor="ctr"/>
          <a:lstStyle/>
          <a:p>
            <a:pPr indent="0" marL="0">
              <a:buNone/>
            </a:pPr>
            <a:r>
              <a:rPr lang="en-US" sz="1050" dirty="0">
                <a:solidFill>
                  <a:srgbClr val="111111"/>
                </a:solidFill>
                <a:latin typeface="Calibri" pitchFamily="34" charset="0"/>
                <a:ea typeface="Calibri" pitchFamily="34" charset="-122"/>
                <a:cs typeface="Calibri" pitchFamily="34" charset="-120"/>
              </a:rPr>
              <a:t>Key Block incorpora metadatos de uso que impiden usar una clave fuera de su propósito original. AES-256 ofrece una resistencia criptográfica muy superior al DES/3DES Variant.</a:t>
            </a:r>
            <a:endParaRPr lang="en-US" sz="1050" dirty="0"/>
          </a:p>
        </p:txBody>
      </p:sp>
      <p:sp>
        <p:nvSpPr>
          <p:cNvPr id="19" name="Shape 17"/>
          <p:cNvSpPr/>
          <p:nvPr/>
        </p:nvSpPr>
        <p:spPr>
          <a:xfrm>
            <a:off x="4645152" y="2834640"/>
            <a:ext cx="4187952" cy="1664208"/>
          </a:xfrm>
          <a:prstGeom prst="rect">
            <a:avLst/>
          </a:prstGeom>
          <a:solidFill>
            <a:srgbClr val="FFFFFF"/>
          </a:solidFill>
          <a:ln/>
          <a:effectLst>
            <a:outerShdw sx="100000" sy="100000" kx="0" ky="0" algn="bl" rotWithShape="0" blurRad="76200" dist="25400" dir="8100000">
              <a:srgbClr val="000000">
                <a:alpha val="30000"/>
              </a:srgbClr>
            </a:outerShdw>
          </a:effectLst>
        </p:spPr>
      </p:sp>
      <p:sp>
        <p:nvSpPr>
          <p:cNvPr id="20" name="Shape 18"/>
          <p:cNvSpPr/>
          <p:nvPr/>
        </p:nvSpPr>
        <p:spPr>
          <a:xfrm>
            <a:off x="4645152" y="2834640"/>
            <a:ext cx="4187952" cy="384048"/>
          </a:xfrm>
          <a:prstGeom prst="rect">
            <a:avLst/>
          </a:prstGeom>
          <a:solidFill>
            <a:srgbClr val="2A2A2A"/>
          </a:solidFill>
          <a:ln/>
        </p:spPr>
      </p:sp>
      <p:sp>
        <p:nvSpPr>
          <p:cNvPr id="21" name="Text 19"/>
          <p:cNvSpPr/>
          <p:nvPr/>
        </p:nvSpPr>
        <p:spPr>
          <a:xfrm>
            <a:off x="4754880" y="2898648"/>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Proceso Repetible y Automático</a:t>
            </a:r>
            <a:endParaRPr lang="en-US" sz="1200" dirty="0"/>
          </a:p>
        </p:txBody>
      </p:sp>
      <p:sp>
        <p:nvSpPr>
          <p:cNvPr id="22" name="Text 20"/>
          <p:cNvSpPr/>
          <p:nvPr/>
        </p:nvSpPr>
        <p:spPr>
          <a:xfrm>
            <a:off x="4754880" y="3310128"/>
            <a:ext cx="3968496" cy="1133856"/>
          </a:xfrm>
          <a:prstGeom prst="rect">
            <a:avLst/>
          </a:prstGeom>
          <a:noFill/>
          <a:ln/>
        </p:spPr>
        <p:txBody>
          <a:bodyPr wrap="square" rtlCol="0" anchor="ctr"/>
          <a:lstStyle/>
          <a:p>
            <a:pPr indent="0" marL="0">
              <a:buNone/>
            </a:pPr>
            <a:r>
              <a:rPr lang="en-US" sz="1050" dirty="0">
                <a:solidFill>
                  <a:srgbClr val="111111"/>
                </a:solidFill>
                <a:latin typeface="Calibri" pitchFamily="34" charset="0"/>
                <a:ea typeface="Calibri" pitchFamily="34" charset="-122"/>
                <a:cs typeface="Calibri" pitchFamily="34" charset="-120"/>
              </a:rPr>
              <a:t>Al igual que el utilitario IBM ya probado, el nuevo proceso Thales quedará documentado y automatizado — listo para ejecutarse nuevamente en cada ciclo de renovación sin necesidad de re-desarrollo.</a:t>
            </a:r>
            <a:endParaRPr lang="en-US" sz="1050" dirty="0"/>
          </a:p>
        </p:txBody>
      </p:sp>
      <p:sp>
        <p:nvSpPr>
          <p:cNvPr id="23" name="Shape 21"/>
          <p:cNvSpPr/>
          <p:nvPr/>
        </p:nvSpPr>
        <p:spPr>
          <a:xfrm>
            <a:off x="274320" y="4727448"/>
            <a:ext cx="8595360" cy="310896"/>
          </a:xfrm>
          <a:prstGeom prst="rect">
            <a:avLst/>
          </a:prstGeom>
          <a:solidFill>
            <a:srgbClr val="2A2A2A"/>
          </a:solidFill>
          <a:ln/>
        </p:spPr>
      </p:sp>
      <p:sp>
        <p:nvSpPr>
          <p:cNvPr id="24" name="Text 22"/>
          <p:cNvSpPr/>
          <p:nvPr/>
        </p:nvSpPr>
        <p:spPr>
          <a:xfrm>
            <a:off x="402336" y="4754880"/>
            <a:ext cx="8339328" cy="256032"/>
          </a:xfrm>
          <a:prstGeom prst="rect">
            <a:avLst/>
          </a:prstGeom>
          <a:noFill/>
          <a:ln/>
        </p:spPr>
        <p:txBody>
          <a:bodyPr wrap="square" rtlCol="0" anchor="ctr"/>
          <a:lstStyle/>
          <a:p>
            <a:pPr indent="0" marL="0">
              <a:buNone/>
            </a:pPr>
            <a:r>
              <a:rPr lang="en-US" sz="1000" i="1" dirty="0">
                <a:solidFill>
                  <a:srgbClr val="DDDDDD"/>
                </a:solidFill>
                <a:latin typeface="Calibri" pitchFamily="34" charset="0"/>
                <a:ea typeface="Calibri" pitchFamily="34" charset="-122"/>
                <a:cs typeface="Calibri" pitchFamily="34" charset="-120"/>
              </a:rPr>
              <a:t>Una sola vez no es suficiente — el proceso queda institucionalizado para ejecutarse cada 2 años, conforme a las exigencias de las marcas de tarjetas.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RIESGOS Y CONTROLES</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Todo proceso de migración criptográfica tiene riesgos que se mitigan con controles rigurosos ya previstos en el diseño del proyecto.</a:t>
            </a:r>
            <a:endParaRPr lang="en-US" sz="1050" dirty="0"/>
          </a:p>
        </p:txBody>
      </p:sp>
      <p:sp>
        <p:nvSpPr>
          <p:cNvPr id="7" name="Shape 5"/>
          <p:cNvSpPr/>
          <p:nvPr/>
        </p:nvSpPr>
        <p:spPr>
          <a:xfrm>
            <a:off x="274320" y="1005840"/>
            <a:ext cx="4114800" cy="329184"/>
          </a:xfrm>
          <a:prstGeom prst="rect">
            <a:avLst/>
          </a:prstGeom>
          <a:solidFill>
            <a:srgbClr val="111111"/>
          </a:solidFill>
          <a:ln/>
        </p:spPr>
      </p:sp>
      <p:sp>
        <p:nvSpPr>
          <p:cNvPr id="8" name="Text 6"/>
          <p:cNvSpPr/>
          <p:nvPr/>
        </p:nvSpPr>
        <p:spPr>
          <a:xfrm>
            <a:off x="347472" y="1033272"/>
            <a:ext cx="3968496"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Riesgo</a:t>
            </a:r>
            <a:endParaRPr lang="en-US" sz="1000" dirty="0"/>
          </a:p>
        </p:txBody>
      </p:sp>
      <p:sp>
        <p:nvSpPr>
          <p:cNvPr id="9" name="Shape 7"/>
          <p:cNvSpPr/>
          <p:nvPr/>
        </p:nvSpPr>
        <p:spPr>
          <a:xfrm>
            <a:off x="4425696" y="1005840"/>
            <a:ext cx="1005840" cy="329184"/>
          </a:xfrm>
          <a:prstGeom prst="rect">
            <a:avLst/>
          </a:prstGeom>
          <a:solidFill>
            <a:srgbClr val="111111"/>
          </a:solidFill>
          <a:ln/>
        </p:spPr>
      </p:sp>
      <p:sp>
        <p:nvSpPr>
          <p:cNvPr id="10" name="Text 8"/>
          <p:cNvSpPr/>
          <p:nvPr/>
        </p:nvSpPr>
        <p:spPr>
          <a:xfrm>
            <a:off x="4498848" y="1033272"/>
            <a:ext cx="859536"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Impacto</a:t>
            </a:r>
            <a:endParaRPr lang="en-US" sz="1000" dirty="0"/>
          </a:p>
        </p:txBody>
      </p:sp>
      <p:sp>
        <p:nvSpPr>
          <p:cNvPr id="11" name="Shape 9"/>
          <p:cNvSpPr/>
          <p:nvPr/>
        </p:nvSpPr>
        <p:spPr>
          <a:xfrm>
            <a:off x="5468112" y="1005840"/>
            <a:ext cx="3547872" cy="329184"/>
          </a:xfrm>
          <a:prstGeom prst="rect">
            <a:avLst/>
          </a:prstGeom>
          <a:solidFill>
            <a:srgbClr val="111111"/>
          </a:solidFill>
          <a:ln/>
        </p:spPr>
      </p:sp>
      <p:sp>
        <p:nvSpPr>
          <p:cNvPr id="12" name="Text 10"/>
          <p:cNvSpPr/>
          <p:nvPr/>
        </p:nvSpPr>
        <p:spPr>
          <a:xfrm>
            <a:off x="5541264" y="1033272"/>
            <a:ext cx="3401568"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Control / Mitigación</a:t>
            </a:r>
            <a:endParaRPr lang="en-US" sz="1000" dirty="0"/>
          </a:p>
        </p:txBody>
      </p:sp>
      <p:sp>
        <p:nvSpPr>
          <p:cNvPr id="13" name="Shape 11"/>
          <p:cNvSpPr/>
          <p:nvPr/>
        </p:nvSpPr>
        <p:spPr>
          <a:xfrm>
            <a:off x="274320" y="1335024"/>
            <a:ext cx="4114800" cy="603504"/>
          </a:xfrm>
          <a:prstGeom prst="rect">
            <a:avLst/>
          </a:prstGeom>
          <a:solidFill>
            <a:srgbClr val="FFFFFF"/>
          </a:solidFill>
          <a:ln w="3810">
            <a:solidFill>
              <a:srgbClr val="DDDDDD"/>
            </a:solidFill>
            <a:prstDash val="solid"/>
          </a:ln>
        </p:spPr>
      </p:sp>
      <p:sp>
        <p:nvSpPr>
          <p:cNvPr id="14" name="Text 12"/>
          <p:cNvSpPr/>
          <p:nvPr/>
        </p:nvSpPr>
        <p:spPr>
          <a:xfrm>
            <a:off x="365760" y="1426464"/>
            <a:ext cx="3931920" cy="420624"/>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Pérdida o corrupción de claves</a:t>
            </a:r>
            <a:endParaRPr lang="en-US" sz="1050" dirty="0"/>
          </a:p>
        </p:txBody>
      </p:sp>
      <p:sp>
        <p:nvSpPr>
          <p:cNvPr id="15" name="Shape 13"/>
          <p:cNvSpPr/>
          <p:nvPr/>
        </p:nvSpPr>
        <p:spPr>
          <a:xfrm>
            <a:off x="4425696" y="1335024"/>
            <a:ext cx="1005840" cy="603504"/>
          </a:xfrm>
          <a:prstGeom prst="rect">
            <a:avLst/>
          </a:prstGeom>
          <a:solidFill>
            <a:srgbClr val="FFFFFF"/>
          </a:solidFill>
          <a:ln w="3810">
            <a:solidFill>
              <a:srgbClr val="DDDDDD"/>
            </a:solidFill>
            <a:prstDash val="solid"/>
          </a:ln>
        </p:spPr>
      </p:sp>
      <p:sp>
        <p:nvSpPr>
          <p:cNvPr id="16" name="Shape 14"/>
          <p:cNvSpPr/>
          <p:nvPr/>
        </p:nvSpPr>
        <p:spPr>
          <a:xfrm>
            <a:off x="4535424" y="1481328"/>
            <a:ext cx="804672" cy="310896"/>
          </a:xfrm>
          <a:prstGeom prst="rect">
            <a:avLst/>
          </a:prstGeom>
          <a:solidFill>
            <a:srgbClr val="CC0000"/>
          </a:solidFill>
          <a:ln/>
        </p:spPr>
      </p:sp>
      <p:sp>
        <p:nvSpPr>
          <p:cNvPr id="17" name="Text 15"/>
          <p:cNvSpPr/>
          <p:nvPr/>
        </p:nvSpPr>
        <p:spPr>
          <a:xfrm>
            <a:off x="4535424" y="1481328"/>
            <a:ext cx="804672"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Alto</a:t>
            </a:r>
            <a:endParaRPr lang="en-US" sz="900" dirty="0"/>
          </a:p>
        </p:txBody>
      </p:sp>
      <p:sp>
        <p:nvSpPr>
          <p:cNvPr id="18" name="Shape 16"/>
          <p:cNvSpPr/>
          <p:nvPr/>
        </p:nvSpPr>
        <p:spPr>
          <a:xfrm>
            <a:off x="5468112" y="1335024"/>
            <a:ext cx="3547872" cy="603504"/>
          </a:xfrm>
          <a:prstGeom prst="rect">
            <a:avLst/>
          </a:prstGeom>
          <a:solidFill>
            <a:srgbClr val="FFFFFF"/>
          </a:solidFill>
          <a:ln w="3810">
            <a:solidFill>
              <a:srgbClr val="DDDDDD"/>
            </a:solidFill>
            <a:prstDash val="solid"/>
          </a:ln>
        </p:spPr>
      </p:sp>
      <p:sp>
        <p:nvSpPr>
          <p:cNvPr id="19" name="Text 17"/>
          <p:cNvSpPr/>
          <p:nvPr/>
        </p:nvSpPr>
        <p:spPr>
          <a:xfrm>
            <a:off x="5559552" y="1389888"/>
            <a:ext cx="3364992" cy="512064"/>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Verificación de integridad KCV por cada clave migrada. La base de datos solo se actualiza si el KCV es idéntico antes y después de la migración.</a:t>
            </a:r>
            <a:endParaRPr lang="en-US" sz="950" dirty="0"/>
          </a:p>
        </p:txBody>
      </p:sp>
      <p:sp>
        <p:nvSpPr>
          <p:cNvPr id="20" name="Shape 18"/>
          <p:cNvSpPr/>
          <p:nvPr/>
        </p:nvSpPr>
        <p:spPr>
          <a:xfrm>
            <a:off x="274320" y="1993392"/>
            <a:ext cx="4114800" cy="603504"/>
          </a:xfrm>
          <a:prstGeom prst="rect">
            <a:avLst/>
          </a:prstGeom>
          <a:solidFill>
            <a:srgbClr val="F5F5F5"/>
          </a:solidFill>
          <a:ln w="3810">
            <a:solidFill>
              <a:srgbClr val="DDDDDD"/>
            </a:solidFill>
            <a:prstDash val="solid"/>
          </a:ln>
        </p:spPr>
      </p:sp>
      <p:sp>
        <p:nvSpPr>
          <p:cNvPr id="21" name="Text 19"/>
          <p:cNvSpPr/>
          <p:nvPr/>
        </p:nvSpPr>
        <p:spPr>
          <a:xfrm>
            <a:off x="365760" y="2084832"/>
            <a:ext cx="3931920" cy="420624"/>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Interrupción de transacciones</a:t>
            </a:r>
            <a:endParaRPr lang="en-US" sz="1050" dirty="0"/>
          </a:p>
        </p:txBody>
      </p:sp>
      <p:sp>
        <p:nvSpPr>
          <p:cNvPr id="22" name="Shape 20"/>
          <p:cNvSpPr/>
          <p:nvPr/>
        </p:nvSpPr>
        <p:spPr>
          <a:xfrm>
            <a:off x="4425696" y="1993392"/>
            <a:ext cx="1005840" cy="603504"/>
          </a:xfrm>
          <a:prstGeom prst="rect">
            <a:avLst/>
          </a:prstGeom>
          <a:solidFill>
            <a:srgbClr val="F5F5F5"/>
          </a:solidFill>
          <a:ln w="3810">
            <a:solidFill>
              <a:srgbClr val="DDDDDD"/>
            </a:solidFill>
            <a:prstDash val="solid"/>
          </a:ln>
        </p:spPr>
      </p:sp>
      <p:sp>
        <p:nvSpPr>
          <p:cNvPr id="23" name="Shape 21"/>
          <p:cNvSpPr/>
          <p:nvPr/>
        </p:nvSpPr>
        <p:spPr>
          <a:xfrm>
            <a:off x="4535424" y="2139696"/>
            <a:ext cx="804672" cy="310896"/>
          </a:xfrm>
          <a:prstGeom prst="rect">
            <a:avLst/>
          </a:prstGeom>
          <a:solidFill>
            <a:srgbClr val="B8860B"/>
          </a:solidFill>
          <a:ln/>
        </p:spPr>
      </p:sp>
      <p:sp>
        <p:nvSpPr>
          <p:cNvPr id="24" name="Text 22"/>
          <p:cNvSpPr/>
          <p:nvPr/>
        </p:nvSpPr>
        <p:spPr>
          <a:xfrm>
            <a:off x="4535424" y="2139696"/>
            <a:ext cx="804672"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Medio</a:t>
            </a:r>
            <a:endParaRPr lang="en-US" sz="900" dirty="0"/>
          </a:p>
        </p:txBody>
      </p:sp>
      <p:sp>
        <p:nvSpPr>
          <p:cNvPr id="25" name="Shape 23"/>
          <p:cNvSpPr/>
          <p:nvPr/>
        </p:nvSpPr>
        <p:spPr>
          <a:xfrm>
            <a:off x="5468112" y="1993392"/>
            <a:ext cx="3547872" cy="603504"/>
          </a:xfrm>
          <a:prstGeom prst="rect">
            <a:avLst/>
          </a:prstGeom>
          <a:solidFill>
            <a:srgbClr val="F5F5F5"/>
          </a:solidFill>
          <a:ln w="3810">
            <a:solidFill>
              <a:srgbClr val="DDDDDD"/>
            </a:solidFill>
            <a:prstDash val="solid"/>
          </a:ln>
        </p:spPr>
      </p:sp>
      <p:sp>
        <p:nvSpPr>
          <p:cNvPr id="26" name="Text 24"/>
          <p:cNvSpPr/>
          <p:nvPr/>
        </p:nvSpPr>
        <p:spPr>
          <a:xfrm>
            <a:off x="5559552" y="2048256"/>
            <a:ext cx="3364992" cy="512064"/>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La estrategia de migración permite mantener el HSM Thales operativo durante el proceso (nueva LMK en KCS, LMK antigua sigue en producción). Solo se requiere una ventana de corte breve al final.</a:t>
            </a:r>
            <a:endParaRPr lang="en-US" sz="950" dirty="0"/>
          </a:p>
        </p:txBody>
      </p:sp>
      <p:sp>
        <p:nvSpPr>
          <p:cNvPr id="27" name="Shape 25"/>
          <p:cNvSpPr/>
          <p:nvPr/>
        </p:nvSpPr>
        <p:spPr>
          <a:xfrm>
            <a:off x="274320" y="2651760"/>
            <a:ext cx="4114800" cy="603504"/>
          </a:xfrm>
          <a:prstGeom prst="rect">
            <a:avLst/>
          </a:prstGeom>
          <a:solidFill>
            <a:srgbClr val="FFFFFF"/>
          </a:solidFill>
          <a:ln w="3810">
            <a:solidFill>
              <a:srgbClr val="DDDDDD"/>
            </a:solidFill>
            <a:prstDash val="solid"/>
          </a:ln>
        </p:spPr>
      </p:sp>
      <p:sp>
        <p:nvSpPr>
          <p:cNvPr id="28" name="Text 26"/>
          <p:cNvSpPr/>
          <p:nvPr/>
        </p:nvSpPr>
        <p:spPr>
          <a:xfrm>
            <a:off x="365760" y="2743200"/>
            <a:ext cx="3931920" cy="420624"/>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Claves no migradas al activar</a:t>
            </a:r>
            <a:endParaRPr lang="en-US" sz="1050" dirty="0"/>
          </a:p>
        </p:txBody>
      </p:sp>
      <p:sp>
        <p:nvSpPr>
          <p:cNvPr id="29" name="Shape 27"/>
          <p:cNvSpPr/>
          <p:nvPr/>
        </p:nvSpPr>
        <p:spPr>
          <a:xfrm>
            <a:off x="4425696" y="2651760"/>
            <a:ext cx="1005840" cy="603504"/>
          </a:xfrm>
          <a:prstGeom prst="rect">
            <a:avLst/>
          </a:prstGeom>
          <a:solidFill>
            <a:srgbClr val="FFFFFF"/>
          </a:solidFill>
          <a:ln w="3810">
            <a:solidFill>
              <a:srgbClr val="DDDDDD"/>
            </a:solidFill>
            <a:prstDash val="solid"/>
          </a:ln>
        </p:spPr>
      </p:sp>
      <p:sp>
        <p:nvSpPr>
          <p:cNvPr id="30" name="Shape 28"/>
          <p:cNvSpPr/>
          <p:nvPr/>
        </p:nvSpPr>
        <p:spPr>
          <a:xfrm>
            <a:off x="4535424" y="2798064"/>
            <a:ext cx="804672" cy="310896"/>
          </a:xfrm>
          <a:prstGeom prst="rect">
            <a:avLst/>
          </a:prstGeom>
          <a:solidFill>
            <a:srgbClr val="CC0000"/>
          </a:solidFill>
          <a:ln/>
        </p:spPr>
      </p:sp>
      <p:sp>
        <p:nvSpPr>
          <p:cNvPr id="31" name="Text 29"/>
          <p:cNvSpPr/>
          <p:nvPr/>
        </p:nvSpPr>
        <p:spPr>
          <a:xfrm>
            <a:off x="4535424" y="2798064"/>
            <a:ext cx="804672"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Alto</a:t>
            </a:r>
            <a:endParaRPr lang="en-US" sz="900" dirty="0"/>
          </a:p>
        </p:txBody>
      </p:sp>
      <p:sp>
        <p:nvSpPr>
          <p:cNvPr id="32" name="Shape 30"/>
          <p:cNvSpPr/>
          <p:nvPr/>
        </p:nvSpPr>
        <p:spPr>
          <a:xfrm>
            <a:off x="5468112" y="2651760"/>
            <a:ext cx="3547872" cy="603504"/>
          </a:xfrm>
          <a:prstGeom prst="rect">
            <a:avLst/>
          </a:prstGeom>
          <a:solidFill>
            <a:srgbClr val="FFFFFF"/>
          </a:solidFill>
          <a:ln w="3810">
            <a:solidFill>
              <a:srgbClr val="DDDDDD"/>
            </a:solidFill>
            <a:prstDash val="solid"/>
          </a:ln>
        </p:spPr>
      </p:sp>
      <p:sp>
        <p:nvSpPr>
          <p:cNvPr id="33" name="Text 31"/>
          <p:cNvSpPr/>
          <p:nvPr/>
        </p:nvSpPr>
        <p:spPr>
          <a:xfrm>
            <a:off x="5559552" y="2706624"/>
            <a:ext cx="3364992" cy="512064"/>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El utilitario valida el 100% de las claves antes del switch final. Si alguna clave no fue migrada, el sistema no activa la nueva llave maestra.</a:t>
            </a:r>
            <a:endParaRPr lang="en-US" sz="950" dirty="0"/>
          </a:p>
        </p:txBody>
      </p:sp>
      <p:sp>
        <p:nvSpPr>
          <p:cNvPr id="34" name="Shape 32"/>
          <p:cNvSpPr/>
          <p:nvPr/>
        </p:nvSpPr>
        <p:spPr>
          <a:xfrm>
            <a:off x="274320" y="3310128"/>
            <a:ext cx="4114800" cy="603504"/>
          </a:xfrm>
          <a:prstGeom prst="rect">
            <a:avLst/>
          </a:prstGeom>
          <a:solidFill>
            <a:srgbClr val="F5F5F5"/>
          </a:solidFill>
          <a:ln w="3810">
            <a:solidFill>
              <a:srgbClr val="DDDDDD"/>
            </a:solidFill>
            <a:prstDash val="solid"/>
          </a:ln>
        </p:spPr>
      </p:sp>
      <p:sp>
        <p:nvSpPr>
          <p:cNvPr id="35" name="Text 33"/>
          <p:cNvSpPr/>
          <p:nvPr/>
        </p:nvSpPr>
        <p:spPr>
          <a:xfrm>
            <a:off x="365760" y="3401568"/>
            <a:ext cx="3931920" cy="420624"/>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Irreversibilidad del proceso</a:t>
            </a:r>
            <a:endParaRPr lang="en-US" sz="1050" dirty="0"/>
          </a:p>
        </p:txBody>
      </p:sp>
      <p:sp>
        <p:nvSpPr>
          <p:cNvPr id="36" name="Shape 34"/>
          <p:cNvSpPr/>
          <p:nvPr/>
        </p:nvSpPr>
        <p:spPr>
          <a:xfrm>
            <a:off x="4425696" y="3310128"/>
            <a:ext cx="1005840" cy="603504"/>
          </a:xfrm>
          <a:prstGeom prst="rect">
            <a:avLst/>
          </a:prstGeom>
          <a:solidFill>
            <a:srgbClr val="F5F5F5"/>
          </a:solidFill>
          <a:ln w="3810">
            <a:solidFill>
              <a:srgbClr val="DDDDDD"/>
            </a:solidFill>
            <a:prstDash val="solid"/>
          </a:ln>
        </p:spPr>
      </p:sp>
      <p:sp>
        <p:nvSpPr>
          <p:cNvPr id="37" name="Shape 35"/>
          <p:cNvSpPr/>
          <p:nvPr/>
        </p:nvSpPr>
        <p:spPr>
          <a:xfrm>
            <a:off x="4535424" y="3456432"/>
            <a:ext cx="804672" cy="310896"/>
          </a:xfrm>
          <a:prstGeom prst="rect">
            <a:avLst/>
          </a:prstGeom>
          <a:solidFill>
            <a:srgbClr val="CC0000"/>
          </a:solidFill>
          <a:ln/>
        </p:spPr>
      </p:sp>
      <p:sp>
        <p:nvSpPr>
          <p:cNvPr id="38" name="Text 36"/>
          <p:cNvSpPr/>
          <p:nvPr/>
        </p:nvSpPr>
        <p:spPr>
          <a:xfrm>
            <a:off x="4535424" y="3456432"/>
            <a:ext cx="804672"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Alto</a:t>
            </a:r>
            <a:endParaRPr lang="en-US" sz="900" dirty="0"/>
          </a:p>
        </p:txBody>
      </p:sp>
      <p:sp>
        <p:nvSpPr>
          <p:cNvPr id="39" name="Shape 37"/>
          <p:cNvSpPr/>
          <p:nvPr/>
        </p:nvSpPr>
        <p:spPr>
          <a:xfrm>
            <a:off x="5468112" y="3310128"/>
            <a:ext cx="3547872" cy="603504"/>
          </a:xfrm>
          <a:prstGeom prst="rect">
            <a:avLst/>
          </a:prstGeom>
          <a:solidFill>
            <a:srgbClr val="F5F5F5"/>
          </a:solidFill>
          <a:ln w="3810">
            <a:solidFill>
              <a:srgbClr val="DDDDDD"/>
            </a:solidFill>
            <a:prstDash val="solid"/>
          </a:ln>
        </p:spPr>
      </p:sp>
      <p:sp>
        <p:nvSpPr>
          <p:cNvPr id="40" name="Text 38"/>
          <p:cNvSpPr/>
          <p:nvPr/>
        </p:nvSpPr>
        <p:spPr>
          <a:xfrm>
            <a:off x="5559552" y="3364992"/>
            <a:ext cx="3364992" cy="512064"/>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El entorno de QA/test del HSM permite ensayar la migración completa antes de ejecutarla en producción. La ejecución en producción va precedida de una validación exitosa en el entorno de prueba.</a:t>
            </a:r>
            <a:endParaRPr lang="en-US" sz="950" dirty="0"/>
          </a:p>
        </p:txBody>
      </p:sp>
      <p:sp>
        <p:nvSpPr>
          <p:cNvPr id="41" name="Shape 39"/>
          <p:cNvSpPr/>
          <p:nvPr/>
        </p:nvSpPr>
        <p:spPr>
          <a:xfrm>
            <a:off x="274320" y="3968496"/>
            <a:ext cx="4114800" cy="603504"/>
          </a:xfrm>
          <a:prstGeom prst="rect">
            <a:avLst/>
          </a:prstGeom>
          <a:solidFill>
            <a:srgbClr val="FFFFFF"/>
          </a:solidFill>
          <a:ln w="3810">
            <a:solidFill>
              <a:srgbClr val="DDDDDD"/>
            </a:solidFill>
            <a:prstDash val="solid"/>
          </a:ln>
        </p:spPr>
      </p:sp>
      <p:sp>
        <p:nvSpPr>
          <p:cNvPr id="42" name="Text 40"/>
          <p:cNvSpPr/>
          <p:nvPr/>
        </p:nvSpPr>
        <p:spPr>
          <a:xfrm>
            <a:off x="365760" y="4059936"/>
            <a:ext cx="3931920" cy="420624"/>
          </a:xfrm>
          <a:prstGeom prst="rect">
            <a:avLst/>
          </a:prstGeom>
          <a:noFill/>
          <a:ln/>
        </p:spPr>
        <p:txBody>
          <a:bodyPr wrap="square" rtlCol="0" anchor="ctr"/>
          <a:lstStyle/>
          <a:p>
            <a:pPr indent="0" marL="0">
              <a:buNone/>
            </a:pPr>
            <a:r>
              <a:rPr lang="en-US" sz="1050" b="1" dirty="0">
                <a:solidFill>
                  <a:srgbClr val="111111"/>
                </a:solidFill>
                <a:latin typeface="Calibri" pitchFamily="34" charset="0"/>
                <a:ea typeface="Calibri" pitchFamily="34" charset="-122"/>
                <a:cs typeface="Calibri" pitchFamily="34" charset="-120"/>
              </a:rPr>
              <a:t>Autorización no controlada</a:t>
            </a:r>
            <a:endParaRPr lang="en-US" sz="1050" dirty="0"/>
          </a:p>
        </p:txBody>
      </p:sp>
      <p:sp>
        <p:nvSpPr>
          <p:cNvPr id="43" name="Shape 41"/>
          <p:cNvSpPr/>
          <p:nvPr/>
        </p:nvSpPr>
        <p:spPr>
          <a:xfrm>
            <a:off x="4425696" y="3968496"/>
            <a:ext cx="1005840" cy="603504"/>
          </a:xfrm>
          <a:prstGeom prst="rect">
            <a:avLst/>
          </a:prstGeom>
          <a:solidFill>
            <a:srgbClr val="FFFFFF"/>
          </a:solidFill>
          <a:ln w="3810">
            <a:solidFill>
              <a:srgbClr val="DDDDDD"/>
            </a:solidFill>
            <a:prstDash val="solid"/>
          </a:ln>
        </p:spPr>
      </p:sp>
      <p:sp>
        <p:nvSpPr>
          <p:cNvPr id="44" name="Shape 42"/>
          <p:cNvSpPr/>
          <p:nvPr/>
        </p:nvSpPr>
        <p:spPr>
          <a:xfrm>
            <a:off x="4535424" y="4114800"/>
            <a:ext cx="804672" cy="310896"/>
          </a:xfrm>
          <a:prstGeom prst="rect">
            <a:avLst/>
          </a:prstGeom>
          <a:solidFill>
            <a:srgbClr val="43A047"/>
          </a:solidFill>
          <a:ln/>
        </p:spPr>
      </p:sp>
      <p:sp>
        <p:nvSpPr>
          <p:cNvPr id="45" name="Text 43"/>
          <p:cNvSpPr/>
          <p:nvPr/>
        </p:nvSpPr>
        <p:spPr>
          <a:xfrm>
            <a:off x="4535424" y="4114800"/>
            <a:ext cx="804672"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Bajo</a:t>
            </a:r>
            <a:endParaRPr lang="en-US" sz="900" dirty="0"/>
          </a:p>
        </p:txBody>
      </p:sp>
      <p:sp>
        <p:nvSpPr>
          <p:cNvPr id="46" name="Shape 44"/>
          <p:cNvSpPr/>
          <p:nvPr/>
        </p:nvSpPr>
        <p:spPr>
          <a:xfrm>
            <a:off x="5468112" y="3968496"/>
            <a:ext cx="3547872" cy="603504"/>
          </a:xfrm>
          <a:prstGeom prst="rect">
            <a:avLst/>
          </a:prstGeom>
          <a:solidFill>
            <a:srgbClr val="FFFFFF"/>
          </a:solidFill>
          <a:ln w="3810">
            <a:solidFill>
              <a:srgbClr val="DDDDDD"/>
            </a:solidFill>
            <a:prstDash val="solid"/>
          </a:ln>
        </p:spPr>
      </p:sp>
      <p:sp>
        <p:nvSpPr>
          <p:cNvPr id="47" name="Text 45"/>
          <p:cNvSpPr/>
          <p:nvPr/>
        </p:nvSpPr>
        <p:spPr>
          <a:xfrm>
            <a:off x="5559552" y="4023360"/>
            <a:ext cx="3364992" cy="512064"/>
          </a:xfrm>
          <a:prstGeom prst="rect">
            <a:avLst/>
          </a:prstGeom>
          <a:noFill/>
          <a:ln/>
        </p:spPr>
        <p:txBody>
          <a:bodyPr wrap="square" rtlCol="0" anchor="ctr"/>
          <a:lstStyle/>
          <a:p>
            <a:pPr indent="0" marL="0">
              <a:buNone/>
            </a:pPr>
            <a:r>
              <a:rPr lang="en-US" sz="950" dirty="0">
                <a:solidFill>
                  <a:srgbClr val="111111"/>
                </a:solidFill>
                <a:latin typeface="Calibri" pitchFamily="34" charset="0"/>
                <a:ea typeface="Calibri" pitchFamily="34" charset="-122"/>
                <a:cs typeface="Calibri" pitchFamily="34" charset="-120"/>
              </a:rPr>
              <a:t>La carga de la nueva clave maestra requiere estado Secure-Authorized en el HSM y el uso físico de tarjetas criptográficas de múltiples Oficiales de Seguridad (split knowledge).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C1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11111"/>
          </a:solidFill>
          <a:ln/>
        </p:spPr>
      </p:sp>
      <p:sp>
        <p:nvSpPr>
          <p:cNvPr id="3" name="Shape 1"/>
          <p:cNvSpPr/>
          <p:nvPr/>
        </p:nvSpPr>
        <p:spPr>
          <a:xfrm>
            <a:off x="0" y="0"/>
            <a:ext cx="201168" cy="5143500"/>
          </a:xfrm>
          <a:prstGeom prst="rect">
            <a:avLst/>
          </a:prstGeom>
          <a:solidFill>
            <a:srgbClr val="CC0000"/>
          </a:solidFill>
          <a:ln/>
        </p:spPr>
      </p:sp>
      <p:sp>
        <p:nvSpPr>
          <p:cNvPr id="4" name="Shape 2"/>
          <p:cNvSpPr/>
          <p:nvPr/>
        </p:nvSpPr>
        <p:spPr>
          <a:xfrm>
            <a:off x="201168" y="621792"/>
            <a:ext cx="8942832" cy="36576"/>
          </a:xfrm>
          <a:prstGeom prst="rect">
            <a:avLst/>
          </a:prstGeom>
          <a:solidFill>
            <a:srgbClr val="CC0000"/>
          </a:solidFill>
          <a:ln/>
        </p:spPr>
      </p:sp>
      <p:sp>
        <p:nvSpPr>
          <p:cNvPr id="5" name="Text 3"/>
          <p:cNvSpPr/>
          <p:nvPr/>
        </p:nvSpPr>
        <p:spPr>
          <a:xfrm>
            <a:off x="347472" y="91440"/>
            <a:ext cx="850392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HOJA DE RUTA — PRÓXIMOS PASOS</a:t>
            </a:r>
            <a:endParaRPr lang="en-US" sz="1700" dirty="0"/>
          </a:p>
        </p:txBody>
      </p:sp>
      <p:sp>
        <p:nvSpPr>
          <p:cNvPr id="6" name="Text 4"/>
          <p:cNvSpPr/>
          <p:nvPr/>
        </p:nvSpPr>
        <p:spPr>
          <a:xfrm>
            <a:off x="347472" y="694944"/>
            <a:ext cx="8503920" cy="256032"/>
          </a:xfrm>
          <a:prstGeom prst="rect">
            <a:avLst/>
          </a:prstGeom>
          <a:noFill/>
          <a:ln/>
        </p:spPr>
        <p:txBody>
          <a:bodyPr wrap="square" rtlCol="0" anchor="ctr"/>
          <a:lstStyle/>
          <a:p>
            <a:pPr indent="0" marL="0">
              <a:buNone/>
            </a:pPr>
            <a:r>
              <a:rPr lang="en-US" sz="1050" dirty="0">
                <a:solidFill>
                  <a:srgbClr val="AAAAAA"/>
                </a:solidFill>
                <a:latin typeface="Calibri" pitchFamily="34" charset="0"/>
                <a:ea typeface="Calibri" pitchFamily="34" charset="-122"/>
                <a:cs typeface="Calibri" pitchFamily="34" charset="-120"/>
              </a:rPr>
              <a:t>Secuencia lógica del proyecto — de menor a mayor riesgo, con validación previa a cada paso crítico.</a:t>
            </a:r>
            <a:endParaRPr lang="en-US" sz="1050" dirty="0"/>
          </a:p>
        </p:txBody>
      </p:sp>
      <p:sp>
        <p:nvSpPr>
          <p:cNvPr id="7" name="Shape 5"/>
          <p:cNvSpPr/>
          <p:nvPr/>
        </p:nvSpPr>
        <p:spPr>
          <a:xfrm>
            <a:off x="256032" y="1005840"/>
            <a:ext cx="2057400" cy="3913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8" name="Shape 6"/>
          <p:cNvSpPr/>
          <p:nvPr/>
        </p:nvSpPr>
        <p:spPr>
          <a:xfrm>
            <a:off x="256032" y="1005840"/>
            <a:ext cx="2057400" cy="512064"/>
          </a:xfrm>
          <a:prstGeom prst="rect">
            <a:avLst/>
          </a:prstGeom>
          <a:solidFill>
            <a:srgbClr val="111111"/>
          </a:solidFill>
          <a:ln/>
        </p:spPr>
      </p:sp>
      <p:sp>
        <p:nvSpPr>
          <p:cNvPr id="9" name="Text 7"/>
          <p:cNvSpPr/>
          <p:nvPr/>
        </p:nvSpPr>
        <p:spPr>
          <a:xfrm>
            <a:off x="347472" y="1051560"/>
            <a:ext cx="411480" cy="384048"/>
          </a:xfrm>
          <a:prstGeom prst="rect">
            <a:avLst/>
          </a:prstGeom>
          <a:noFill/>
          <a:ln/>
        </p:spPr>
        <p:txBody>
          <a:bodyPr wrap="square" rtlCol="0" anchor="ctr"/>
          <a:lstStyle/>
          <a:p>
            <a:pPr indent="0" marL="0">
              <a:buNone/>
            </a:pPr>
            <a:r>
              <a:rPr lang="en-US" sz="1800" b="1" dirty="0">
                <a:solidFill>
                  <a:srgbClr val="E30000"/>
                </a:solidFill>
                <a:latin typeface="Calibri" pitchFamily="34" charset="0"/>
                <a:ea typeface="Calibri" pitchFamily="34" charset="-122"/>
                <a:cs typeface="Calibri" pitchFamily="34" charset="-120"/>
              </a:rPr>
              <a:t>01</a:t>
            </a:r>
            <a:endParaRPr lang="en-US" sz="1800" dirty="0"/>
          </a:p>
        </p:txBody>
      </p:sp>
      <p:sp>
        <p:nvSpPr>
          <p:cNvPr id="10" name="Text 8"/>
          <p:cNvSpPr/>
          <p:nvPr/>
        </p:nvSpPr>
        <p:spPr>
          <a:xfrm>
            <a:off x="768096" y="1078992"/>
            <a:ext cx="1444752" cy="3840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Diseño y Desarrollo</a:t>
            </a:r>
            <a:endParaRPr lang="en-US" sz="1100" dirty="0"/>
          </a:p>
        </p:txBody>
      </p:sp>
      <p:sp>
        <p:nvSpPr>
          <p:cNvPr id="11" name="Shape 9"/>
          <p:cNvSpPr/>
          <p:nvPr/>
        </p:nvSpPr>
        <p:spPr>
          <a:xfrm>
            <a:off x="347472" y="1591056"/>
            <a:ext cx="1874520" cy="237744"/>
          </a:xfrm>
          <a:prstGeom prst="rect">
            <a:avLst/>
          </a:prstGeom>
          <a:solidFill>
            <a:srgbClr val="333333"/>
          </a:solidFill>
          <a:ln/>
        </p:spPr>
      </p:sp>
      <p:sp>
        <p:nvSpPr>
          <p:cNvPr id="12" name="Text 10"/>
          <p:cNvSpPr/>
          <p:nvPr/>
        </p:nvSpPr>
        <p:spPr>
          <a:xfrm>
            <a:off x="347472" y="1600200"/>
            <a:ext cx="187452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Por iniciar</a:t>
            </a:r>
            <a:endParaRPr lang="en-US" sz="850" dirty="0"/>
          </a:p>
        </p:txBody>
      </p:sp>
      <p:sp>
        <p:nvSpPr>
          <p:cNvPr id="13" name="Text 11"/>
          <p:cNvSpPr/>
          <p:nvPr/>
        </p:nvSpPr>
        <p:spPr>
          <a:xfrm>
            <a:off x="347472" y="1901952"/>
            <a:ext cx="1874520" cy="1115568"/>
          </a:xfrm>
          <a:prstGeom prst="rect">
            <a:avLst/>
          </a:prstGeom>
          <a:noFill/>
          <a:ln/>
        </p:spPr>
        <p:txBody>
          <a:bodyPr wrap="square" rtlCol="0" anchor="ctr"/>
          <a:lstStyle/>
          <a:p>
            <a:pPr indent="0" marL="0">
              <a:buNone/>
            </a:pPr>
            <a:r>
              <a:rPr lang="en-US" sz="900" dirty="0">
                <a:solidFill>
                  <a:srgbClr val="DDDDDD"/>
                </a:solidFill>
                <a:latin typeface="Calibri" pitchFamily="34" charset="0"/>
                <a:ea typeface="Calibri" pitchFamily="34" charset="-122"/>
                <a:cs typeface="Calibri" pitchFamily="34" charset="-120"/>
              </a:rPr>
              <a:t>Desarrollar el utilitario de migración para el entorno Thales, equivalente al proceso BLASPROD de IBM. Incluye diseño, codificación y pruebas unitarias.</a:t>
            </a:r>
            <a:endParaRPr lang="en-US" sz="900" dirty="0"/>
          </a:p>
        </p:txBody>
      </p:sp>
      <p:sp>
        <p:nvSpPr>
          <p:cNvPr id="14" name="Shape 12"/>
          <p:cNvSpPr/>
          <p:nvPr/>
        </p:nvSpPr>
        <p:spPr>
          <a:xfrm>
            <a:off x="347472" y="3090672"/>
            <a:ext cx="1874520" cy="438912"/>
          </a:xfrm>
          <a:prstGeom prst="rect">
            <a:avLst/>
          </a:prstGeom>
          <a:solidFill>
            <a:srgbClr val="333333"/>
          </a:solidFill>
          <a:ln/>
        </p:spPr>
      </p:sp>
      <p:sp>
        <p:nvSpPr>
          <p:cNvPr id="15" name="Shape 13"/>
          <p:cNvSpPr/>
          <p:nvPr/>
        </p:nvSpPr>
        <p:spPr>
          <a:xfrm>
            <a:off x="347472" y="3090672"/>
            <a:ext cx="54864" cy="438912"/>
          </a:xfrm>
          <a:prstGeom prst="rect">
            <a:avLst/>
          </a:prstGeom>
          <a:solidFill>
            <a:srgbClr val="666666"/>
          </a:solidFill>
          <a:ln/>
        </p:spPr>
      </p:sp>
      <p:sp>
        <p:nvSpPr>
          <p:cNvPr id="16" name="Text 14"/>
          <p:cNvSpPr/>
          <p:nvPr/>
        </p:nvSpPr>
        <p:spPr>
          <a:xfrm>
            <a:off x="457200" y="3145536"/>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Especificación de requisitos del utilitario</a:t>
            </a:r>
            <a:endParaRPr lang="en-US" sz="850" dirty="0"/>
          </a:p>
        </p:txBody>
      </p:sp>
      <p:sp>
        <p:nvSpPr>
          <p:cNvPr id="17" name="Shape 15"/>
          <p:cNvSpPr/>
          <p:nvPr/>
        </p:nvSpPr>
        <p:spPr>
          <a:xfrm>
            <a:off x="347472" y="3602736"/>
            <a:ext cx="1874520" cy="438912"/>
          </a:xfrm>
          <a:prstGeom prst="rect">
            <a:avLst/>
          </a:prstGeom>
          <a:solidFill>
            <a:srgbClr val="333333"/>
          </a:solidFill>
          <a:ln/>
        </p:spPr>
      </p:sp>
      <p:sp>
        <p:nvSpPr>
          <p:cNvPr id="18" name="Shape 16"/>
          <p:cNvSpPr/>
          <p:nvPr/>
        </p:nvSpPr>
        <p:spPr>
          <a:xfrm>
            <a:off x="347472" y="3602736"/>
            <a:ext cx="54864" cy="438912"/>
          </a:xfrm>
          <a:prstGeom prst="rect">
            <a:avLst/>
          </a:prstGeom>
          <a:solidFill>
            <a:srgbClr val="666666"/>
          </a:solidFill>
          <a:ln/>
        </p:spPr>
      </p:sp>
      <p:sp>
        <p:nvSpPr>
          <p:cNvPr id="19" name="Text 17"/>
          <p:cNvSpPr/>
          <p:nvPr/>
        </p:nvSpPr>
        <p:spPr>
          <a:xfrm>
            <a:off x="457200" y="3657600"/>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Desarrollo del proceso de re-cifrado automático</a:t>
            </a:r>
            <a:endParaRPr lang="en-US" sz="850" dirty="0"/>
          </a:p>
        </p:txBody>
      </p:sp>
      <p:sp>
        <p:nvSpPr>
          <p:cNvPr id="20" name="Shape 18"/>
          <p:cNvSpPr/>
          <p:nvPr/>
        </p:nvSpPr>
        <p:spPr>
          <a:xfrm>
            <a:off x="347472" y="4114800"/>
            <a:ext cx="1874520" cy="438912"/>
          </a:xfrm>
          <a:prstGeom prst="rect">
            <a:avLst/>
          </a:prstGeom>
          <a:solidFill>
            <a:srgbClr val="333333"/>
          </a:solidFill>
          <a:ln/>
        </p:spPr>
      </p:sp>
      <p:sp>
        <p:nvSpPr>
          <p:cNvPr id="21" name="Shape 19"/>
          <p:cNvSpPr/>
          <p:nvPr/>
        </p:nvSpPr>
        <p:spPr>
          <a:xfrm>
            <a:off x="347472" y="4114800"/>
            <a:ext cx="54864" cy="438912"/>
          </a:xfrm>
          <a:prstGeom prst="rect">
            <a:avLst/>
          </a:prstGeom>
          <a:solidFill>
            <a:srgbClr val="666666"/>
          </a:solidFill>
          <a:ln/>
        </p:spPr>
      </p:sp>
      <p:sp>
        <p:nvSpPr>
          <p:cNvPr id="22" name="Text 20"/>
          <p:cNvSpPr/>
          <p:nvPr/>
        </p:nvSpPr>
        <p:spPr>
          <a:xfrm>
            <a:off x="457200" y="4169664"/>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Pruebas de integración con HSM Thales en entorno de desarrollo</a:t>
            </a:r>
            <a:endParaRPr lang="en-US" sz="850" dirty="0"/>
          </a:p>
        </p:txBody>
      </p:sp>
      <p:sp>
        <p:nvSpPr>
          <p:cNvPr id="23" name="Text 21"/>
          <p:cNvSpPr/>
          <p:nvPr/>
        </p:nvSpPr>
        <p:spPr>
          <a:xfrm>
            <a:off x="2331720" y="2468880"/>
            <a:ext cx="182880" cy="274320"/>
          </a:xfrm>
          <a:prstGeom prst="rect">
            <a:avLst/>
          </a:prstGeom>
          <a:noFill/>
          <a:ln/>
        </p:spPr>
        <p:txBody>
          <a:bodyPr wrap="square" rtlCol="0" anchor="ctr"/>
          <a:lstStyle/>
          <a:p>
            <a:pPr algn="ctr" indent="0" marL="0">
              <a:buNone/>
            </a:pPr>
            <a:r>
              <a:rPr lang="en-US" sz="1400" dirty="0">
                <a:solidFill>
                  <a:srgbClr val="CC000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2450592" y="1005840"/>
            <a:ext cx="2057400" cy="3913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25" name="Shape 23"/>
          <p:cNvSpPr/>
          <p:nvPr/>
        </p:nvSpPr>
        <p:spPr>
          <a:xfrm>
            <a:off x="2450592" y="1005840"/>
            <a:ext cx="2057400" cy="512064"/>
          </a:xfrm>
          <a:prstGeom prst="rect">
            <a:avLst/>
          </a:prstGeom>
          <a:solidFill>
            <a:srgbClr val="111111"/>
          </a:solidFill>
          <a:ln/>
        </p:spPr>
      </p:sp>
      <p:sp>
        <p:nvSpPr>
          <p:cNvPr id="26" name="Text 24"/>
          <p:cNvSpPr/>
          <p:nvPr/>
        </p:nvSpPr>
        <p:spPr>
          <a:xfrm>
            <a:off x="2542032" y="1051560"/>
            <a:ext cx="411480" cy="384048"/>
          </a:xfrm>
          <a:prstGeom prst="rect">
            <a:avLst/>
          </a:prstGeom>
          <a:noFill/>
          <a:ln/>
        </p:spPr>
        <p:txBody>
          <a:bodyPr wrap="square" rtlCol="0" anchor="ctr"/>
          <a:lstStyle/>
          <a:p>
            <a:pPr indent="0" marL="0">
              <a:buNone/>
            </a:pPr>
            <a:r>
              <a:rPr lang="en-US" sz="1800" b="1" dirty="0">
                <a:solidFill>
                  <a:srgbClr val="E30000"/>
                </a:solidFill>
                <a:latin typeface="Calibri" pitchFamily="34" charset="0"/>
                <a:ea typeface="Calibri" pitchFamily="34" charset="-122"/>
                <a:cs typeface="Calibri" pitchFamily="34" charset="-120"/>
              </a:rPr>
              <a:t>02</a:t>
            </a:r>
            <a:endParaRPr lang="en-US" sz="1800" dirty="0"/>
          </a:p>
        </p:txBody>
      </p:sp>
      <p:sp>
        <p:nvSpPr>
          <p:cNvPr id="27" name="Text 25"/>
          <p:cNvSpPr/>
          <p:nvPr/>
        </p:nvSpPr>
        <p:spPr>
          <a:xfrm>
            <a:off x="2962656" y="1078992"/>
            <a:ext cx="1444752" cy="3840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Validación en QA</a:t>
            </a:r>
            <a:endParaRPr lang="en-US" sz="1100" dirty="0"/>
          </a:p>
        </p:txBody>
      </p:sp>
      <p:sp>
        <p:nvSpPr>
          <p:cNvPr id="28" name="Shape 26"/>
          <p:cNvSpPr/>
          <p:nvPr/>
        </p:nvSpPr>
        <p:spPr>
          <a:xfrm>
            <a:off x="2542032" y="1591056"/>
            <a:ext cx="1874520" cy="237744"/>
          </a:xfrm>
          <a:prstGeom prst="rect">
            <a:avLst/>
          </a:prstGeom>
          <a:solidFill>
            <a:srgbClr val="333333"/>
          </a:solidFill>
          <a:ln/>
        </p:spPr>
      </p:sp>
      <p:sp>
        <p:nvSpPr>
          <p:cNvPr id="29" name="Text 27"/>
          <p:cNvSpPr/>
          <p:nvPr/>
        </p:nvSpPr>
        <p:spPr>
          <a:xfrm>
            <a:off x="2542032" y="1600200"/>
            <a:ext cx="187452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Pendiente</a:t>
            </a:r>
            <a:endParaRPr lang="en-US" sz="850" dirty="0"/>
          </a:p>
        </p:txBody>
      </p:sp>
      <p:sp>
        <p:nvSpPr>
          <p:cNvPr id="30" name="Text 28"/>
          <p:cNvSpPr/>
          <p:nvPr/>
        </p:nvSpPr>
        <p:spPr>
          <a:xfrm>
            <a:off x="2542032" y="1901952"/>
            <a:ext cx="1874520" cy="1115568"/>
          </a:xfrm>
          <a:prstGeom prst="rect">
            <a:avLst/>
          </a:prstGeom>
          <a:noFill/>
          <a:ln/>
        </p:spPr>
        <p:txBody>
          <a:bodyPr wrap="square" rtlCol="0" anchor="ctr"/>
          <a:lstStyle/>
          <a:p>
            <a:pPr indent="0" marL="0">
              <a:buNone/>
            </a:pPr>
            <a:r>
              <a:rPr lang="en-US" sz="900" dirty="0">
                <a:solidFill>
                  <a:srgbClr val="DDDDDD"/>
                </a:solidFill>
                <a:latin typeface="Calibri" pitchFamily="34" charset="0"/>
                <a:ea typeface="Calibri" pitchFamily="34" charset="-122"/>
                <a:cs typeface="Calibri" pitchFamily="34" charset="-120"/>
              </a:rPr>
              <a:t>Ejecutar la migración completa en el HSM de prueba (QA) con un subconjunto representativo de claves. Certificar el proceso antes de producción.</a:t>
            </a:r>
            <a:endParaRPr lang="en-US" sz="900" dirty="0"/>
          </a:p>
        </p:txBody>
      </p:sp>
      <p:sp>
        <p:nvSpPr>
          <p:cNvPr id="31" name="Shape 29"/>
          <p:cNvSpPr/>
          <p:nvPr/>
        </p:nvSpPr>
        <p:spPr>
          <a:xfrm>
            <a:off x="2542032" y="3090672"/>
            <a:ext cx="1874520" cy="438912"/>
          </a:xfrm>
          <a:prstGeom prst="rect">
            <a:avLst/>
          </a:prstGeom>
          <a:solidFill>
            <a:srgbClr val="333333"/>
          </a:solidFill>
          <a:ln/>
        </p:spPr>
      </p:sp>
      <p:sp>
        <p:nvSpPr>
          <p:cNvPr id="32" name="Shape 30"/>
          <p:cNvSpPr/>
          <p:nvPr/>
        </p:nvSpPr>
        <p:spPr>
          <a:xfrm>
            <a:off x="2542032" y="3090672"/>
            <a:ext cx="54864" cy="438912"/>
          </a:xfrm>
          <a:prstGeom prst="rect">
            <a:avLst/>
          </a:prstGeom>
          <a:solidFill>
            <a:srgbClr val="666666"/>
          </a:solidFill>
          <a:ln/>
        </p:spPr>
      </p:sp>
      <p:sp>
        <p:nvSpPr>
          <p:cNvPr id="33" name="Text 31"/>
          <p:cNvSpPr/>
          <p:nvPr/>
        </p:nvSpPr>
        <p:spPr>
          <a:xfrm>
            <a:off x="2651760" y="3145536"/>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Migración de prueba en HSM QA/test</a:t>
            </a:r>
            <a:endParaRPr lang="en-US" sz="850" dirty="0"/>
          </a:p>
        </p:txBody>
      </p:sp>
      <p:sp>
        <p:nvSpPr>
          <p:cNvPr id="34" name="Shape 32"/>
          <p:cNvSpPr/>
          <p:nvPr/>
        </p:nvSpPr>
        <p:spPr>
          <a:xfrm>
            <a:off x="2542032" y="3602736"/>
            <a:ext cx="1874520" cy="438912"/>
          </a:xfrm>
          <a:prstGeom prst="rect">
            <a:avLst/>
          </a:prstGeom>
          <a:solidFill>
            <a:srgbClr val="333333"/>
          </a:solidFill>
          <a:ln/>
        </p:spPr>
      </p:sp>
      <p:sp>
        <p:nvSpPr>
          <p:cNvPr id="35" name="Shape 33"/>
          <p:cNvSpPr/>
          <p:nvPr/>
        </p:nvSpPr>
        <p:spPr>
          <a:xfrm>
            <a:off x="2542032" y="3602736"/>
            <a:ext cx="54864" cy="438912"/>
          </a:xfrm>
          <a:prstGeom prst="rect">
            <a:avLst/>
          </a:prstGeom>
          <a:solidFill>
            <a:srgbClr val="666666"/>
          </a:solidFill>
          <a:ln/>
        </p:spPr>
      </p:sp>
      <p:sp>
        <p:nvSpPr>
          <p:cNvPr id="36" name="Text 34"/>
          <p:cNvSpPr/>
          <p:nvPr/>
        </p:nvSpPr>
        <p:spPr>
          <a:xfrm>
            <a:off x="2651760" y="3657600"/>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Validación de KCVs e integridad</a:t>
            </a:r>
            <a:endParaRPr lang="en-US" sz="850" dirty="0"/>
          </a:p>
        </p:txBody>
      </p:sp>
      <p:sp>
        <p:nvSpPr>
          <p:cNvPr id="37" name="Shape 35"/>
          <p:cNvSpPr/>
          <p:nvPr/>
        </p:nvSpPr>
        <p:spPr>
          <a:xfrm>
            <a:off x="2542032" y="4114800"/>
            <a:ext cx="1874520" cy="438912"/>
          </a:xfrm>
          <a:prstGeom prst="rect">
            <a:avLst/>
          </a:prstGeom>
          <a:solidFill>
            <a:srgbClr val="333333"/>
          </a:solidFill>
          <a:ln/>
        </p:spPr>
      </p:sp>
      <p:sp>
        <p:nvSpPr>
          <p:cNvPr id="38" name="Shape 36"/>
          <p:cNvSpPr/>
          <p:nvPr/>
        </p:nvSpPr>
        <p:spPr>
          <a:xfrm>
            <a:off x="2542032" y="4114800"/>
            <a:ext cx="54864" cy="438912"/>
          </a:xfrm>
          <a:prstGeom prst="rect">
            <a:avLst/>
          </a:prstGeom>
          <a:solidFill>
            <a:srgbClr val="666666"/>
          </a:solidFill>
          <a:ln/>
        </p:spPr>
      </p:sp>
      <p:sp>
        <p:nvSpPr>
          <p:cNvPr id="39" name="Text 37"/>
          <p:cNvSpPr/>
          <p:nvPr/>
        </p:nvSpPr>
        <p:spPr>
          <a:xfrm>
            <a:off x="2651760" y="4169664"/>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Certificación de operaciones criptográficas</a:t>
            </a:r>
            <a:endParaRPr lang="en-US" sz="850" dirty="0"/>
          </a:p>
        </p:txBody>
      </p:sp>
      <p:sp>
        <p:nvSpPr>
          <p:cNvPr id="40" name="Text 38"/>
          <p:cNvSpPr/>
          <p:nvPr/>
        </p:nvSpPr>
        <p:spPr>
          <a:xfrm>
            <a:off x="4526280" y="2468880"/>
            <a:ext cx="182880" cy="274320"/>
          </a:xfrm>
          <a:prstGeom prst="rect">
            <a:avLst/>
          </a:prstGeom>
          <a:noFill/>
          <a:ln/>
        </p:spPr>
        <p:txBody>
          <a:bodyPr wrap="square" rtlCol="0" anchor="ctr"/>
          <a:lstStyle/>
          <a:p>
            <a:pPr algn="ctr" indent="0" marL="0">
              <a:buNone/>
            </a:pPr>
            <a:r>
              <a:rPr lang="en-US" sz="1400" dirty="0">
                <a:solidFill>
                  <a:srgbClr val="CC0000"/>
                </a:solidFill>
                <a:latin typeface="Calibri" pitchFamily="34" charset="0"/>
                <a:ea typeface="Calibri" pitchFamily="34" charset="-122"/>
                <a:cs typeface="Calibri" pitchFamily="34" charset="-120"/>
              </a:rPr>
              <a:t>▶</a:t>
            </a:r>
            <a:endParaRPr lang="en-US" sz="1400" dirty="0"/>
          </a:p>
        </p:txBody>
      </p:sp>
      <p:sp>
        <p:nvSpPr>
          <p:cNvPr id="41" name="Shape 39"/>
          <p:cNvSpPr/>
          <p:nvPr/>
        </p:nvSpPr>
        <p:spPr>
          <a:xfrm>
            <a:off x="4645152" y="1005840"/>
            <a:ext cx="2057400" cy="3913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42" name="Shape 40"/>
          <p:cNvSpPr/>
          <p:nvPr/>
        </p:nvSpPr>
        <p:spPr>
          <a:xfrm>
            <a:off x="4645152" y="1005840"/>
            <a:ext cx="2057400" cy="512064"/>
          </a:xfrm>
          <a:prstGeom prst="rect">
            <a:avLst/>
          </a:prstGeom>
          <a:solidFill>
            <a:srgbClr val="CC0000"/>
          </a:solidFill>
          <a:ln/>
        </p:spPr>
      </p:sp>
      <p:sp>
        <p:nvSpPr>
          <p:cNvPr id="43" name="Text 41"/>
          <p:cNvSpPr/>
          <p:nvPr/>
        </p:nvSpPr>
        <p:spPr>
          <a:xfrm>
            <a:off x="4736592" y="1051560"/>
            <a:ext cx="411480" cy="384048"/>
          </a:xfrm>
          <a:prstGeom prst="rect">
            <a:avLst/>
          </a:prstGeom>
          <a:noFill/>
          <a:ln/>
        </p:spPr>
        <p:txBody>
          <a:bodyPr wrap="square" rtlCol="0" anchor="ctr"/>
          <a:lstStyle/>
          <a:p>
            <a:pPr indent="0" marL="0">
              <a:buNone/>
            </a:pPr>
            <a:r>
              <a:rPr lang="en-US" sz="1800" b="1" dirty="0">
                <a:solidFill>
                  <a:srgbClr val="E30000"/>
                </a:solidFill>
                <a:latin typeface="Calibri" pitchFamily="34" charset="0"/>
                <a:ea typeface="Calibri" pitchFamily="34" charset="-122"/>
                <a:cs typeface="Calibri" pitchFamily="34" charset="-120"/>
              </a:rPr>
              <a:t>03</a:t>
            </a:r>
            <a:endParaRPr lang="en-US" sz="1800" dirty="0"/>
          </a:p>
        </p:txBody>
      </p:sp>
      <p:sp>
        <p:nvSpPr>
          <p:cNvPr id="44" name="Text 42"/>
          <p:cNvSpPr/>
          <p:nvPr/>
        </p:nvSpPr>
        <p:spPr>
          <a:xfrm>
            <a:off x="5157216" y="1078992"/>
            <a:ext cx="1444752" cy="3840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Ejecución en Producción</a:t>
            </a:r>
            <a:endParaRPr lang="en-US" sz="1100" dirty="0"/>
          </a:p>
        </p:txBody>
      </p:sp>
      <p:sp>
        <p:nvSpPr>
          <p:cNvPr id="45" name="Shape 43"/>
          <p:cNvSpPr/>
          <p:nvPr/>
        </p:nvSpPr>
        <p:spPr>
          <a:xfrm>
            <a:off x="4736592" y="1591056"/>
            <a:ext cx="1874520" cy="237744"/>
          </a:xfrm>
          <a:prstGeom prst="rect">
            <a:avLst/>
          </a:prstGeom>
          <a:solidFill>
            <a:srgbClr val="990000"/>
          </a:solidFill>
          <a:ln/>
        </p:spPr>
      </p:sp>
      <p:sp>
        <p:nvSpPr>
          <p:cNvPr id="46" name="Text 44"/>
          <p:cNvSpPr/>
          <p:nvPr/>
        </p:nvSpPr>
        <p:spPr>
          <a:xfrm>
            <a:off x="4736592" y="1600200"/>
            <a:ext cx="187452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Condicional a QA</a:t>
            </a:r>
            <a:endParaRPr lang="en-US" sz="850" dirty="0"/>
          </a:p>
        </p:txBody>
      </p:sp>
      <p:sp>
        <p:nvSpPr>
          <p:cNvPr id="47" name="Text 45"/>
          <p:cNvSpPr/>
          <p:nvPr/>
        </p:nvSpPr>
        <p:spPr>
          <a:xfrm>
            <a:off x="4736592" y="1901952"/>
            <a:ext cx="1874520" cy="1115568"/>
          </a:xfrm>
          <a:prstGeom prst="rect">
            <a:avLst/>
          </a:prstGeom>
          <a:noFill/>
          <a:ln/>
        </p:spPr>
        <p:txBody>
          <a:bodyPr wrap="square" rtlCol="0" anchor="ctr"/>
          <a:lstStyle/>
          <a:p>
            <a:pPr indent="0" marL="0">
              <a:buNone/>
            </a:pPr>
            <a:r>
              <a:rPr lang="en-US" sz="900" dirty="0">
                <a:solidFill>
                  <a:srgbClr val="DDDDDD"/>
                </a:solidFill>
                <a:latin typeface="Calibri" pitchFamily="34" charset="0"/>
                <a:ea typeface="Calibri" pitchFamily="34" charset="-122"/>
                <a:cs typeface="Calibri" pitchFamily="34" charset="-120"/>
              </a:rPr>
              <a:t>Ejecutar la migración real de ambos frentes en ventana de cambio coordinada. El proceso IBM y el proceso Thales se ejecutan de forma sincronizada.</a:t>
            </a:r>
            <a:endParaRPr lang="en-US" sz="900" dirty="0"/>
          </a:p>
        </p:txBody>
      </p:sp>
      <p:sp>
        <p:nvSpPr>
          <p:cNvPr id="48" name="Shape 46"/>
          <p:cNvSpPr/>
          <p:nvPr/>
        </p:nvSpPr>
        <p:spPr>
          <a:xfrm>
            <a:off x="4736592" y="3090672"/>
            <a:ext cx="1874520" cy="438912"/>
          </a:xfrm>
          <a:prstGeom prst="rect">
            <a:avLst/>
          </a:prstGeom>
          <a:solidFill>
            <a:srgbClr val="333333"/>
          </a:solidFill>
          <a:ln/>
        </p:spPr>
      </p:sp>
      <p:sp>
        <p:nvSpPr>
          <p:cNvPr id="49" name="Shape 47"/>
          <p:cNvSpPr/>
          <p:nvPr/>
        </p:nvSpPr>
        <p:spPr>
          <a:xfrm>
            <a:off x="4736592" y="3090672"/>
            <a:ext cx="54864" cy="438912"/>
          </a:xfrm>
          <a:prstGeom prst="rect">
            <a:avLst/>
          </a:prstGeom>
          <a:solidFill>
            <a:srgbClr val="CC0000"/>
          </a:solidFill>
          <a:ln/>
        </p:spPr>
      </p:sp>
      <p:sp>
        <p:nvSpPr>
          <p:cNvPr id="50" name="Text 48"/>
          <p:cNvSpPr/>
          <p:nvPr/>
        </p:nvSpPr>
        <p:spPr>
          <a:xfrm>
            <a:off x="4846320" y="3145536"/>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Ventana de cambio coordinada (Thales + IBM)</a:t>
            </a:r>
            <a:endParaRPr lang="en-US" sz="850" dirty="0"/>
          </a:p>
        </p:txBody>
      </p:sp>
      <p:sp>
        <p:nvSpPr>
          <p:cNvPr id="51" name="Shape 49"/>
          <p:cNvSpPr/>
          <p:nvPr/>
        </p:nvSpPr>
        <p:spPr>
          <a:xfrm>
            <a:off x="4736592" y="3602736"/>
            <a:ext cx="1874520" cy="438912"/>
          </a:xfrm>
          <a:prstGeom prst="rect">
            <a:avLst/>
          </a:prstGeom>
          <a:solidFill>
            <a:srgbClr val="333333"/>
          </a:solidFill>
          <a:ln/>
        </p:spPr>
      </p:sp>
      <p:sp>
        <p:nvSpPr>
          <p:cNvPr id="52" name="Shape 50"/>
          <p:cNvSpPr/>
          <p:nvPr/>
        </p:nvSpPr>
        <p:spPr>
          <a:xfrm>
            <a:off x="4736592" y="3602736"/>
            <a:ext cx="54864" cy="438912"/>
          </a:xfrm>
          <a:prstGeom prst="rect">
            <a:avLst/>
          </a:prstGeom>
          <a:solidFill>
            <a:srgbClr val="CC0000"/>
          </a:solidFill>
          <a:ln/>
        </p:spPr>
      </p:sp>
      <p:sp>
        <p:nvSpPr>
          <p:cNvPr id="53" name="Text 51"/>
          <p:cNvSpPr/>
          <p:nvPr/>
        </p:nvSpPr>
        <p:spPr>
          <a:xfrm>
            <a:off x="4846320" y="3657600"/>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Re-cifrado de todas las claves operativas</a:t>
            </a:r>
            <a:endParaRPr lang="en-US" sz="850" dirty="0"/>
          </a:p>
        </p:txBody>
      </p:sp>
      <p:sp>
        <p:nvSpPr>
          <p:cNvPr id="54" name="Shape 52"/>
          <p:cNvSpPr/>
          <p:nvPr/>
        </p:nvSpPr>
        <p:spPr>
          <a:xfrm>
            <a:off x="4736592" y="4114800"/>
            <a:ext cx="1874520" cy="438912"/>
          </a:xfrm>
          <a:prstGeom prst="rect">
            <a:avLst/>
          </a:prstGeom>
          <a:solidFill>
            <a:srgbClr val="333333"/>
          </a:solidFill>
          <a:ln/>
        </p:spPr>
      </p:sp>
      <p:sp>
        <p:nvSpPr>
          <p:cNvPr id="55" name="Shape 53"/>
          <p:cNvSpPr/>
          <p:nvPr/>
        </p:nvSpPr>
        <p:spPr>
          <a:xfrm>
            <a:off x="4736592" y="4114800"/>
            <a:ext cx="54864" cy="438912"/>
          </a:xfrm>
          <a:prstGeom prst="rect">
            <a:avLst/>
          </a:prstGeom>
          <a:solidFill>
            <a:srgbClr val="CC0000"/>
          </a:solidFill>
          <a:ln/>
        </p:spPr>
      </p:sp>
      <p:sp>
        <p:nvSpPr>
          <p:cNvPr id="56" name="Text 54"/>
          <p:cNvSpPr/>
          <p:nvPr/>
        </p:nvSpPr>
        <p:spPr>
          <a:xfrm>
            <a:off x="4846320" y="4169664"/>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Activación de nuevas claves maestras</a:t>
            </a:r>
            <a:endParaRPr lang="en-US" sz="850" dirty="0"/>
          </a:p>
        </p:txBody>
      </p:sp>
      <p:sp>
        <p:nvSpPr>
          <p:cNvPr id="57" name="Text 55"/>
          <p:cNvSpPr/>
          <p:nvPr/>
        </p:nvSpPr>
        <p:spPr>
          <a:xfrm>
            <a:off x="6720840" y="2468880"/>
            <a:ext cx="182880" cy="274320"/>
          </a:xfrm>
          <a:prstGeom prst="rect">
            <a:avLst/>
          </a:prstGeom>
          <a:noFill/>
          <a:ln/>
        </p:spPr>
        <p:txBody>
          <a:bodyPr wrap="square" rtlCol="0" anchor="ctr"/>
          <a:lstStyle/>
          <a:p>
            <a:pPr algn="ctr" indent="0" marL="0">
              <a:buNone/>
            </a:pPr>
            <a:r>
              <a:rPr lang="en-US" sz="1400" dirty="0">
                <a:solidFill>
                  <a:srgbClr val="CC0000"/>
                </a:solidFill>
                <a:latin typeface="Calibri" pitchFamily="34" charset="0"/>
                <a:ea typeface="Calibri" pitchFamily="34" charset="-122"/>
                <a:cs typeface="Calibri" pitchFamily="34" charset="-120"/>
              </a:rPr>
              <a:t>▶</a:t>
            </a:r>
            <a:endParaRPr lang="en-US" sz="1400" dirty="0"/>
          </a:p>
        </p:txBody>
      </p:sp>
      <p:sp>
        <p:nvSpPr>
          <p:cNvPr id="58" name="Shape 56"/>
          <p:cNvSpPr/>
          <p:nvPr/>
        </p:nvSpPr>
        <p:spPr>
          <a:xfrm>
            <a:off x="6839712" y="1005840"/>
            <a:ext cx="2057400" cy="3913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59" name="Shape 57"/>
          <p:cNvSpPr/>
          <p:nvPr/>
        </p:nvSpPr>
        <p:spPr>
          <a:xfrm>
            <a:off x="6839712" y="1005840"/>
            <a:ext cx="2057400" cy="512064"/>
          </a:xfrm>
          <a:prstGeom prst="rect">
            <a:avLst/>
          </a:prstGeom>
          <a:solidFill>
            <a:srgbClr val="111111"/>
          </a:solidFill>
          <a:ln/>
        </p:spPr>
      </p:sp>
      <p:sp>
        <p:nvSpPr>
          <p:cNvPr id="60" name="Text 58"/>
          <p:cNvSpPr/>
          <p:nvPr/>
        </p:nvSpPr>
        <p:spPr>
          <a:xfrm>
            <a:off x="6931152" y="1051560"/>
            <a:ext cx="411480" cy="384048"/>
          </a:xfrm>
          <a:prstGeom prst="rect">
            <a:avLst/>
          </a:prstGeom>
          <a:noFill/>
          <a:ln/>
        </p:spPr>
        <p:txBody>
          <a:bodyPr wrap="square" rtlCol="0" anchor="ctr"/>
          <a:lstStyle/>
          <a:p>
            <a:pPr indent="0" marL="0">
              <a:buNone/>
            </a:pPr>
            <a:r>
              <a:rPr lang="en-US" sz="1800" b="1" dirty="0">
                <a:solidFill>
                  <a:srgbClr val="E30000"/>
                </a:solidFill>
                <a:latin typeface="Calibri" pitchFamily="34" charset="0"/>
                <a:ea typeface="Calibri" pitchFamily="34" charset="-122"/>
                <a:cs typeface="Calibri" pitchFamily="34" charset="-120"/>
              </a:rPr>
              <a:t>04</a:t>
            </a:r>
            <a:endParaRPr lang="en-US" sz="1800" dirty="0"/>
          </a:p>
        </p:txBody>
      </p:sp>
      <p:sp>
        <p:nvSpPr>
          <p:cNvPr id="61" name="Text 59"/>
          <p:cNvSpPr/>
          <p:nvPr/>
        </p:nvSpPr>
        <p:spPr>
          <a:xfrm>
            <a:off x="7351776" y="1078992"/>
            <a:ext cx="1444752" cy="38404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Certificación Final</a:t>
            </a:r>
            <a:endParaRPr lang="en-US" sz="1100" dirty="0"/>
          </a:p>
        </p:txBody>
      </p:sp>
      <p:sp>
        <p:nvSpPr>
          <p:cNvPr id="62" name="Shape 60"/>
          <p:cNvSpPr/>
          <p:nvPr/>
        </p:nvSpPr>
        <p:spPr>
          <a:xfrm>
            <a:off x="6931152" y="1591056"/>
            <a:ext cx="1874520" cy="237744"/>
          </a:xfrm>
          <a:prstGeom prst="rect">
            <a:avLst/>
          </a:prstGeom>
          <a:solidFill>
            <a:srgbClr val="333333"/>
          </a:solidFill>
          <a:ln/>
        </p:spPr>
      </p:sp>
      <p:sp>
        <p:nvSpPr>
          <p:cNvPr id="63" name="Text 61"/>
          <p:cNvSpPr/>
          <p:nvPr/>
        </p:nvSpPr>
        <p:spPr>
          <a:xfrm>
            <a:off x="6931152" y="1600200"/>
            <a:ext cx="1874520" cy="21945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Post-ejecución</a:t>
            </a:r>
            <a:endParaRPr lang="en-US" sz="850" dirty="0"/>
          </a:p>
        </p:txBody>
      </p:sp>
      <p:sp>
        <p:nvSpPr>
          <p:cNvPr id="64" name="Text 62"/>
          <p:cNvSpPr/>
          <p:nvPr/>
        </p:nvSpPr>
        <p:spPr>
          <a:xfrm>
            <a:off x="6931152" y="1901952"/>
            <a:ext cx="1874520" cy="1115568"/>
          </a:xfrm>
          <a:prstGeom prst="rect">
            <a:avLst/>
          </a:prstGeom>
          <a:noFill/>
          <a:ln/>
        </p:spPr>
        <p:txBody>
          <a:bodyPr wrap="square" rtlCol="0" anchor="ctr"/>
          <a:lstStyle/>
          <a:p>
            <a:pPr indent="0" marL="0">
              <a:buNone/>
            </a:pPr>
            <a:r>
              <a:rPr lang="en-US" sz="900" dirty="0">
                <a:solidFill>
                  <a:srgbClr val="DDDDDD"/>
                </a:solidFill>
                <a:latin typeface="Calibri" pitchFamily="34" charset="0"/>
                <a:ea typeface="Calibri" pitchFamily="34" charset="-122"/>
                <a:cs typeface="Calibri" pitchFamily="34" charset="-120"/>
              </a:rPr>
              <a:t>Verificar que el 100% de las claves migraron correctamente y que el sistema procesa transacciones sin errores con las nuevas claves maestras.</a:t>
            </a:r>
            <a:endParaRPr lang="en-US" sz="900" dirty="0"/>
          </a:p>
        </p:txBody>
      </p:sp>
      <p:sp>
        <p:nvSpPr>
          <p:cNvPr id="65" name="Shape 63"/>
          <p:cNvSpPr/>
          <p:nvPr/>
        </p:nvSpPr>
        <p:spPr>
          <a:xfrm>
            <a:off x="6931152" y="3090672"/>
            <a:ext cx="1874520" cy="438912"/>
          </a:xfrm>
          <a:prstGeom prst="rect">
            <a:avLst/>
          </a:prstGeom>
          <a:solidFill>
            <a:srgbClr val="333333"/>
          </a:solidFill>
          <a:ln/>
        </p:spPr>
      </p:sp>
      <p:sp>
        <p:nvSpPr>
          <p:cNvPr id="66" name="Shape 64"/>
          <p:cNvSpPr/>
          <p:nvPr/>
        </p:nvSpPr>
        <p:spPr>
          <a:xfrm>
            <a:off x="6931152" y="3090672"/>
            <a:ext cx="54864" cy="438912"/>
          </a:xfrm>
          <a:prstGeom prst="rect">
            <a:avLst/>
          </a:prstGeom>
          <a:solidFill>
            <a:srgbClr val="666666"/>
          </a:solidFill>
          <a:ln/>
        </p:spPr>
      </p:sp>
      <p:sp>
        <p:nvSpPr>
          <p:cNvPr id="67" name="Text 65"/>
          <p:cNvSpPr/>
          <p:nvPr/>
        </p:nvSpPr>
        <p:spPr>
          <a:xfrm>
            <a:off x="7040880" y="3145536"/>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Verificación masiva de KCVs en BD</a:t>
            </a:r>
            <a:endParaRPr lang="en-US" sz="850" dirty="0"/>
          </a:p>
        </p:txBody>
      </p:sp>
      <p:sp>
        <p:nvSpPr>
          <p:cNvPr id="68" name="Shape 66"/>
          <p:cNvSpPr/>
          <p:nvPr/>
        </p:nvSpPr>
        <p:spPr>
          <a:xfrm>
            <a:off x="6931152" y="3602736"/>
            <a:ext cx="1874520" cy="438912"/>
          </a:xfrm>
          <a:prstGeom prst="rect">
            <a:avLst/>
          </a:prstGeom>
          <a:solidFill>
            <a:srgbClr val="333333"/>
          </a:solidFill>
          <a:ln/>
        </p:spPr>
      </p:sp>
      <p:sp>
        <p:nvSpPr>
          <p:cNvPr id="69" name="Shape 67"/>
          <p:cNvSpPr/>
          <p:nvPr/>
        </p:nvSpPr>
        <p:spPr>
          <a:xfrm>
            <a:off x="6931152" y="3602736"/>
            <a:ext cx="54864" cy="438912"/>
          </a:xfrm>
          <a:prstGeom prst="rect">
            <a:avLst/>
          </a:prstGeom>
          <a:solidFill>
            <a:srgbClr val="666666"/>
          </a:solidFill>
          <a:ln/>
        </p:spPr>
      </p:sp>
      <p:sp>
        <p:nvSpPr>
          <p:cNvPr id="70" name="Text 68"/>
          <p:cNvSpPr/>
          <p:nvPr/>
        </p:nvSpPr>
        <p:spPr>
          <a:xfrm>
            <a:off x="7040880" y="3657600"/>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Pruebas de ciclo de autorización end-to-end</a:t>
            </a:r>
            <a:endParaRPr lang="en-US" sz="850" dirty="0"/>
          </a:p>
        </p:txBody>
      </p:sp>
      <p:sp>
        <p:nvSpPr>
          <p:cNvPr id="71" name="Shape 69"/>
          <p:cNvSpPr/>
          <p:nvPr/>
        </p:nvSpPr>
        <p:spPr>
          <a:xfrm>
            <a:off x="6931152" y="4114800"/>
            <a:ext cx="1874520" cy="438912"/>
          </a:xfrm>
          <a:prstGeom prst="rect">
            <a:avLst/>
          </a:prstGeom>
          <a:solidFill>
            <a:srgbClr val="333333"/>
          </a:solidFill>
          <a:ln/>
        </p:spPr>
      </p:sp>
      <p:sp>
        <p:nvSpPr>
          <p:cNvPr id="72" name="Shape 70"/>
          <p:cNvSpPr/>
          <p:nvPr/>
        </p:nvSpPr>
        <p:spPr>
          <a:xfrm>
            <a:off x="6931152" y="4114800"/>
            <a:ext cx="54864" cy="438912"/>
          </a:xfrm>
          <a:prstGeom prst="rect">
            <a:avLst/>
          </a:prstGeom>
          <a:solidFill>
            <a:srgbClr val="666666"/>
          </a:solidFill>
          <a:ln/>
        </p:spPr>
      </p:sp>
      <p:sp>
        <p:nvSpPr>
          <p:cNvPr id="73" name="Text 71"/>
          <p:cNvSpPr/>
          <p:nvPr/>
        </p:nvSpPr>
        <p:spPr>
          <a:xfrm>
            <a:off x="7040880" y="4169664"/>
            <a:ext cx="1719072" cy="347472"/>
          </a:xfrm>
          <a:prstGeom prst="rect">
            <a:avLst/>
          </a:prstGeom>
          <a:noFill/>
          <a:ln/>
        </p:spPr>
        <p:txBody>
          <a:bodyPr wrap="square" rtlCol="0" anchor="ctr"/>
          <a:lstStyle/>
          <a:p>
            <a:pPr indent="0" marL="0">
              <a:buNone/>
            </a:pPr>
            <a:r>
              <a:rPr lang="en-US" sz="850" dirty="0">
                <a:solidFill>
                  <a:srgbClr val="DDDDDD"/>
                </a:solidFill>
                <a:latin typeface="Calibri" pitchFamily="34" charset="0"/>
                <a:ea typeface="Calibri" pitchFamily="34" charset="-122"/>
                <a:cs typeface="Calibri" pitchFamily="34" charset="-120"/>
              </a:rPr>
              <a:t>Auditoría y documentación del proceso</a:t>
            </a:r>
            <a:endParaRPr lang="en-US" sz="850" dirty="0"/>
          </a:p>
        </p:txBody>
      </p:sp>
      <p:sp>
        <p:nvSpPr>
          <p:cNvPr id="74" name="Shape 72"/>
          <p:cNvSpPr/>
          <p:nvPr/>
        </p:nvSpPr>
        <p:spPr>
          <a:xfrm>
            <a:off x="256032" y="4864608"/>
            <a:ext cx="8631936" cy="182880"/>
          </a:xfrm>
          <a:prstGeom prst="rect">
            <a:avLst/>
          </a:prstGeom>
          <a:solidFill>
            <a:srgbClr val="CC0000">
              <a:alpha val="60000"/>
            </a:srgbClr>
          </a:solidFill>
          <a:ln/>
        </p:spPr>
      </p:sp>
      <p:sp>
        <p:nvSpPr>
          <p:cNvPr id="75" name="Text 73"/>
          <p:cNvSpPr/>
          <p:nvPr/>
        </p:nvSpPr>
        <p:spPr>
          <a:xfrm>
            <a:off x="347472" y="4873752"/>
            <a:ext cx="8412480" cy="164592"/>
          </a:xfrm>
          <a:prstGeom prst="rect">
            <a:avLst/>
          </a:prstGeom>
          <a:noFill/>
          <a:ln/>
        </p:spPr>
        <p:txBody>
          <a:bodyPr wrap="square" rtlCol="0" anchor="ctr"/>
          <a:lstStyle/>
          <a:p>
            <a:pPr indent="0" marL="0">
              <a:buNone/>
            </a:pPr>
            <a:r>
              <a:rPr lang="en-US" sz="850" i="1" dirty="0">
                <a:solidFill>
                  <a:srgbClr val="AAAAAA"/>
                </a:solidFill>
                <a:latin typeface="Calibri" pitchFamily="34" charset="0"/>
                <a:ea typeface="Calibri" pitchFamily="34" charset="-122"/>
                <a:cs typeface="Calibri" pitchFamily="34" charset="-120"/>
              </a:rPr>
              <a:t>Ninguna fase avanza hasta completar con éxito la fase anterior. El proceso IBM puede ejecutarse en paralelo desde la fase 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C0000"/>
          </a:solidFill>
          <a:ln/>
        </p:spPr>
      </p:sp>
      <p:sp>
        <p:nvSpPr>
          <p:cNvPr id="3" name="Shape 1"/>
          <p:cNvSpPr/>
          <p:nvPr/>
        </p:nvSpPr>
        <p:spPr>
          <a:xfrm>
            <a:off x="201168" y="621792"/>
            <a:ext cx="8942832" cy="36576"/>
          </a:xfrm>
          <a:prstGeom prst="rect">
            <a:avLst/>
          </a:prstGeom>
          <a:solidFill>
            <a:srgbClr val="CC0000"/>
          </a:solidFill>
          <a:ln/>
        </p:spPr>
      </p:sp>
      <p:sp>
        <p:nvSpPr>
          <p:cNvPr id="4" name="Text 2"/>
          <p:cNvSpPr/>
          <p:nvPr/>
        </p:nvSpPr>
        <p:spPr>
          <a:xfrm>
            <a:off x="347472" y="91440"/>
            <a:ext cx="8503920" cy="475488"/>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Resumen Ejecutivo</a:t>
            </a:r>
            <a:endParaRPr lang="en-US" sz="2800" dirty="0"/>
          </a:p>
        </p:txBody>
      </p:sp>
      <p:sp>
        <p:nvSpPr>
          <p:cNvPr id="5" name="Text 3"/>
          <p:cNvSpPr/>
          <p:nvPr/>
        </p:nvSpPr>
        <p:spPr>
          <a:xfrm>
            <a:off x="347472" y="603504"/>
            <a:ext cx="8503920" cy="274320"/>
          </a:xfrm>
          <a:prstGeom prst="rect">
            <a:avLst/>
          </a:prstGeom>
          <a:noFill/>
          <a:ln/>
        </p:spPr>
        <p:txBody>
          <a:bodyPr wrap="square" rtlCol="0" anchor="ctr"/>
          <a:lstStyle/>
          <a:p>
            <a:pPr indent="0" marL="0">
              <a:buNone/>
            </a:pPr>
            <a:r>
              <a:rPr lang="en-US" sz="1300" dirty="0">
                <a:solidFill>
                  <a:srgbClr val="AAAAAA"/>
                </a:solidFill>
                <a:latin typeface="Calibri" pitchFamily="34" charset="0"/>
                <a:ea typeface="Calibri" pitchFamily="34" charset="-122"/>
                <a:cs typeface="Calibri" pitchFamily="34" charset="-120"/>
              </a:rPr>
              <a:t>Plan de Migración de Claves Criptográficas — Scotiabank</a:t>
            </a:r>
            <a:endParaRPr lang="en-US" sz="1300" dirty="0"/>
          </a:p>
        </p:txBody>
      </p:sp>
      <p:sp>
        <p:nvSpPr>
          <p:cNvPr id="6" name="Shape 4"/>
          <p:cNvSpPr/>
          <p:nvPr/>
        </p:nvSpPr>
        <p:spPr>
          <a:xfrm>
            <a:off x="274320" y="1042416"/>
            <a:ext cx="4187952" cy="1627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7" name="Shape 5"/>
          <p:cNvSpPr/>
          <p:nvPr/>
        </p:nvSpPr>
        <p:spPr>
          <a:xfrm>
            <a:off x="274320" y="1042416"/>
            <a:ext cx="4187952" cy="384048"/>
          </a:xfrm>
          <a:prstGeom prst="rect">
            <a:avLst/>
          </a:prstGeom>
          <a:solidFill>
            <a:srgbClr val="CC0000"/>
          </a:solidFill>
          <a:ln/>
        </p:spPr>
      </p:sp>
      <p:sp>
        <p:nvSpPr>
          <p:cNvPr id="8" name="Text 6"/>
          <p:cNvSpPr/>
          <p:nvPr/>
        </p:nvSpPr>
        <p:spPr>
          <a:xfrm>
            <a:off x="384048" y="1106424"/>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¿Qué es?</a:t>
            </a:r>
            <a:endParaRPr lang="en-US" sz="1200" dirty="0"/>
          </a:p>
        </p:txBody>
      </p:sp>
      <p:sp>
        <p:nvSpPr>
          <p:cNvPr id="9" name="Text 7"/>
          <p:cNvSpPr/>
          <p:nvPr/>
        </p:nvSpPr>
        <p:spPr>
          <a:xfrm>
            <a:off x="384048" y="1517904"/>
            <a:ext cx="3968496" cy="1078992"/>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Renovación de las claves maestras que protegen TODAS las operaciones criptográficas del banco — PINs, autorizaciones, verificaciones de tarjeta.</a:t>
            </a:r>
            <a:endParaRPr lang="en-US" sz="1100" dirty="0"/>
          </a:p>
        </p:txBody>
      </p:sp>
      <p:sp>
        <p:nvSpPr>
          <p:cNvPr id="10" name="Shape 8"/>
          <p:cNvSpPr/>
          <p:nvPr/>
        </p:nvSpPr>
        <p:spPr>
          <a:xfrm>
            <a:off x="4645152" y="1042416"/>
            <a:ext cx="4187952" cy="1627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11" name="Shape 9"/>
          <p:cNvSpPr/>
          <p:nvPr/>
        </p:nvSpPr>
        <p:spPr>
          <a:xfrm>
            <a:off x="4645152" y="1042416"/>
            <a:ext cx="4187952" cy="384048"/>
          </a:xfrm>
          <a:prstGeom prst="rect">
            <a:avLst/>
          </a:prstGeom>
          <a:solidFill>
            <a:srgbClr val="333333"/>
          </a:solidFill>
          <a:ln/>
        </p:spPr>
      </p:sp>
      <p:sp>
        <p:nvSpPr>
          <p:cNvPr id="12" name="Text 10"/>
          <p:cNvSpPr/>
          <p:nvPr/>
        </p:nvSpPr>
        <p:spPr>
          <a:xfrm>
            <a:off x="4754880" y="1106424"/>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¿Por qué ahora?</a:t>
            </a:r>
            <a:endParaRPr lang="en-US" sz="1200" dirty="0"/>
          </a:p>
        </p:txBody>
      </p:sp>
      <p:sp>
        <p:nvSpPr>
          <p:cNvPr id="13" name="Text 11"/>
          <p:cNvSpPr/>
          <p:nvPr/>
        </p:nvSpPr>
        <p:spPr>
          <a:xfrm>
            <a:off x="4754880" y="1517904"/>
            <a:ext cx="3968496" cy="1078992"/>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Exigencia de marcas (cada 2 años) + adopción de PCI HSM v3 (Key Block, exigido desde 2025). No migrar = riesgo regulatorio y de seguridad.</a:t>
            </a:r>
            <a:endParaRPr lang="en-US" sz="1100" dirty="0"/>
          </a:p>
        </p:txBody>
      </p:sp>
      <p:sp>
        <p:nvSpPr>
          <p:cNvPr id="14" name="Shape 12"/>
          <p:cNvSpPr/>
          <p:nvPr/>
        </p:nvSpPr>
        <p:spPr>
          <a:xfrm>
            <a:off x="274320" y="2816352"/>
            <a:ext cx="4187952" cy="1627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15" name="Shape 13"/>
          <p:cNvSpPr/>
          <p:nvPr/>
        </p:nvSpPr>
        <p:spPr>
          <a:xfrm>
            <a:off x="274320" y="2816352"/>
            <a:ext cx="4187952" cy="384048"/>
          </a:xfrm>
          <a:prstGeom prst="rect">
            <a:avLst/>
          </a:prstGeom>
          <a:solidFill>
            <a:srgbClr val="2A2A2A"/>
          </a:solidFill>
          <a:ln/>
        </p:spPr>
      </p:sp>
      <p:sp>
        <p:nvSpPr>
          <p:cNvPr id="16" name="Text 14"/>
          <p:cNvSpPr/>
          <p:nvPr/>
        </p:nvSpPr>
        <p:spPr>
          <a:xfrm>
            <a:off x="384048" y="2880360"/>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¿Qué implica?</a:t>
            </a:r>
            <a:endParaRPr lang="en-US" sz="1200" dirty="0"/>
          </a:p>
        </p:txBody>
      </p:sp>
      <p:sp>
        <p:nvSpPr>
          <p:cNvPr id="17" name="Text 15"/>
          <p:cNvSpPr/>
          <p:nvPr/>
        </p:nvSpPr>
        <p:spPr>
          <a:xfrm>
            <a:off x="384048" y="3291840"/>
            <a:ext cx="3968496" cy="1078992"/>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Desarrollar un utilitario automático para Thales (componente nuevo) y ejecutar nuevamente el proceso ya probado en IBM. Proceso de prueba previo obligatorio en QA.</a:t>
            </a:r>
            <a:endParaRPr lang="en-US" sz="1100" dirty="0"/>
          </a:p>
        </p:txBody>
      </p:sp>
      <p:sp>
        <p:nvSpPr>
          <p:cNvPr id="18" name="Shape 16"/>
          <p:cNvSpPr/>
          <p:nvPr/>
        </p:nvSpPr>
        <p:spPr>
          <a:xfrm>
            <a:off x="4645152" y="2816352"/>
            <a:ext cx="4187952" cy="1627632"/>
          </a:xfrm>
          <a:prstGeom prst="rect">
            <a:avLst/>
          </a:prstGeom>
          <a:solidFill>
            <a:srgbClr val="2A2A2A"/>
          </a:solidFill>
          <a:ln/>
          <a:effectLst>
            <a:outerShdw sx="100000" sy="100000" kx="0" ky="0" algn="bl" rotWithShape="0" blurRad="76200" dist="25400" dir="8100000">
              <a:srgbClr val="000000">
                <a:alpha val="30000"/>
              </a:srgbClr>
            </a:outerShdw>
          </a:effectLst>
        </p:spPr>
      </p:sp>
      <p:sp>
        <p:nvSpPr>
          <p:cNvPr id="19" name="Shape 17"/>
          <p:cNvSpPr/>
          <p:nvPr/>
        </p:nvSpPr>
        <p:spPr>
          <a:xfrm>
            <a:off x="4645152" y="2816352"/>
            <a:ext cx="4187952" cy="384048"/>
          </a:xfrm>
          <a:prstGeom prst="rect">
            <a:avLst/>
          </a:prstGeom>
          <a:solidFill>
            <a:srgbClr val="333333"/>
          </a:solidFill>
          <a:ln/>
        </p:spPr>
      </p:sp>
      <p:sp>
        <p:nvSpPr>
          <p:cNvPr id="20" name="Text 18"/>
          <p:cNvSpPr/>
          <p:nvPr/>
        </p:nvSpPr>
        <p:spPr>
          <a:xfrm>
            <a:off x="4754880" y="2880360"/>
            <a:ext cx="3968496"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¿Cuál es el resultado?</a:t>
            </a:r>
            <a:endParaRPr lang="en-US" sz="1200" dirty="0"/>
          </a:p>
        </p:txBody>
      </p:sp>
      <p:sp>
        <p:nvSpPr>
          <p:cNvPr id="21" name="Text 19"/>
          <p:cNvSpPr/>
          <p:nvPr/>
        </p:nvSpPr>
        <p:spPr>
          <a:xfrm>
            <a:off x="4754880" y="3291840"/>
            <a:ext cx="3968496" cy="1078992"/>
          </a:xfrm>
          <a:prstGeom prst="rect">
            <a:avLst/>
          </a:prstGeom>
          <a:noFill/>
          <a:ln/>
        </p:spPr>
        <p:txBody>
          <a:bodyPr wrap="square" rtlCol="0" anchor="ctr"/>
          <a:lstStyle/>
          <a:p>
            <a:pPr indent="0" marL="0">
              <a:buNone/>
            </a:pPr>
            <a:r>
              <a:rPr lang="en-US" sz="1100" dirty="0">
                <a:solidFill>
                  <a:srgbClr val="DDDDDD"/>
                </a:solidFill>
                <a:latin typeface="Calibri" pitchFamily="34" charset="0"/>
                <a:ea typeface="Calibri" pitchFamily="34" charset="-122"/>
                <a:cs typeface="Calibri" pitchFamily="34" charset="-120"/>
              </a:rPr>
              <a:t>Sistema en cumplimiento total con PCI HSM v3. Claves bajo estándar Key Block (TR-31). Proceso institucionalizado y repetible para futuros ciclos de renovación.</a:t>
            </a:r>
            <a:endParaRPr lang="en-US" sz="1100" dirty="0"/>
          </a:p>
        </p:txBody>
      </p:sp>
      <p:sp>
        <p:nvSpPr>
          <p:cNvPr id="22" name="Shape 20"/>
          <p:cNvSpPr/>
          <p:nvPr/>
        </p:nvSpPr>
        <p:spPr>
          <a:xfrm>
            <a:off x="274320" y="4645152"/>
            <a:ext cx="8595360" cy="384048"/>
          </a:xfrm>
          <a:prstGeom prst="rect">
            <a:avLst/>
          </a:prstGeom>
          <a:solidFill>
            <a:srgbClr val="CC0000">
              <a:alpha val="75000"/>
            </a:srgbClr>
          </a:solidFill>
          <a:ln/>
        </p:spPr>
      </p:sp>
      <p:sp>
        <p:nvSpPr>
          <p:cNvPr id="23" name="Text 21"/>
          <p:cNvSpPr/>
          <p:nvPr/>
        </p:nvSpPr>
        <p:spPr>
          <a:xfrm>
            <a:off x="402336" y="4681728"/>
            <a:ext cx="8339328" cy="310896"/>
          </a:xfrm>
          <a:prstGeom prst="rect">
            <a:avLst/>
          </a:prstGeom>
          <a:noFill/>
          <a:ln/>
        </p:spPr>
        <p:txBody>
          <a:bodyPr wrap="square" rtlCol="0" anchor="ctr"/>
          <a:lstStyle/>
          <a:p>
            <a:pPr indent="0" marL="0">
              <a:buNone/>
            </a:pPr>
            <a:r>
              <a:rPr lang="en-US" sz="1100" b="1" i="1" dirty="0">
                <a:solidFill>
                  <a:srgbClr val="FFFFFF"/>
                </a:solidFill>
                <a:latin typeface="Calibri" pitchFamily="34" charset="0"/>
                <a:ea typeface="Calibri" pitchFamily="34" charset="-122"/>
                <a:cs typeface="Calibri" pitchFamily="34" charset="-120"/>
              </a:rPr>
              <a:t>Las claves criptográficas son la raíz de toda la seguridad del banco. Mantenerlas actualizadas es una obligación — no una opción.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Migración de Claves Criptográficas — Visión Ejecutiva</dc:title>
  <dc:subject>PptxGenJS Presentation</dc:subject>
  <dc:creator>PptxGenJS</dc:creator>
  <cp:lastModifiedBy>PptxGenJS</cp:lastModifiedBy>
  <cp:revision>1</cp:revision>
  <dcterms:created xsi:type="dcterms:W3CDTF">2026-02-27T17:40:38Z</dcterms:created>
  <dcterms:modified xsi:type="dcterms:W3CDTF">2026-02-27T17:40:38Z</dcterms:modified>
</cp:coreProperties>
</file>